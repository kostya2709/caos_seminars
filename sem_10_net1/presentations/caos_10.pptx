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6" r:id="rId4"/>
    <p:sldId id="277" r:id="rId5"/>
    <p:sldId id="258" r:id="rId6"/>
    <p:sldId id="272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3" r:id="rId21"/>
    <p:sldId id="274" r:id="rId22"/>
    <p:sldId id="275" r:id="rId23"/>
  </p:sldIdLst>
  <p:sldSz cx="20104100" cy="11309350"/>
  <p:notesSz cx="20104100" cy="113093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40" d="100"/>
          <a:sy n="40" d="100"/>
        </p:scale>
        <p:origin x="672" y="-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58829" y="832090"/>
            <a:ext cx="4786441" cy="1081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76272" y="2271617"/>
            <a:ext cx="17951555" cy="7397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socket.html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book.systemsapproach.org/foundation/software.html#socket-api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67966" y="4690564"/>
            <a:ext cx="4937820" cy="91571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08496" y="5959475"/>
            <a:ext cx="3487108" cy="124713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0" b="0" spc="20" dirty="0">
                <a:latin typeface="Arial" panose="020B0604020202020204" pitchFamily="34" charset="0"/>
                <a:cs typeface="Arial" panose="020B0604020202020204" pitchFamily="34" charset="0"/>
              </a:rPr>
              <a:t>Сети</a:t>
            </a:r>
            <a:r>
              <a:rPr sz="8000" b="0" spc="-2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8000" b="0" spc="5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sz="8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79410" y="821620"/>
            <a:ext cx="493268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10" dirty="0"/>
              <a:t>Модел</a:t>
            </a:r>
            <a:r>
              <a:rPr dirty="0"/>
              <a:t>ь</a:t>
            </a:r>
            <a:r>
              <a:rPr spc="-795" dirty="0"/>
              <a:t> </a:t>
            </a:r>
            <a:r>
              <a:rPr dirty="0"/>
              <a:t>O</a:t>
            </a:r>
            <a:r>
              <a:rPr spc="-130" dirty="0"/>
              <a:t>SI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6554" y="2110180"/>
            <a:ext cx="12262691" cy="86724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07420-6594-4D02-9820-CF75FD21A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7839" y="777875"/>
            <a:ext cx="2088421" cy="1081405"/>
          </a:xfrm>
        </p:spPr>
        <p:txBody>
          <a:bodyPr/>
          <a:lstStyle/>
          <a:p>
            <a:r>
              <a:rPr lang="en-US" dirty="0"/>
              <a:t>UDP</a:t>
            </a:r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F3471B-FF78-4478-83AB-6253BD3B3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92" y="3368675"/>
            <a:ext cx="18796316" cy="407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657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CFE09-AA48-402F-968B-97A526F78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5939" y="930275"/>
            <a:ext cx="2012221" cy="1081405"/>
          </a:xfrm>
        </p:spPr>
        <p:txBody>
          <a:bodyPr/>
          <a:lstStyle/>
          <a:p>
            <a:r>
              <a:rPr lang="en-US" dirty="0"/>
              <a:t>TCP</a:t>
            </a:r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068462-7CA0-4C85-B5DB-63BDA6EC6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06" y="2454275"/>
            <a:ext cx="19312488" cy="836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462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11689" y="832090"/>
            <a:ext cx="168084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900" b="1" spc="-360" dirty="0">
                <a:latin typeface="Arial"/>
                <a:cs typeface="Arial"/>
              </a:rPr>
              <a:t>T</a:t>
            </a:r>
            <a:r>
              <a:rPr sz="6900" b="1" spc="-150" dirty="0">
                <a:latin typeface="Arial"/>
                <a:cs typeface="Arial"/>
              </a:rPr>
              <a:t>C</a:t>
            </a:r>
            <a:r>
              <a:rPr sz="6900" b="1" spc="-270" dirty="0">
                <a:latin typeface="Arial"/>
                <a:cs typeface="Arial"/>
              </a:rPr>
              <a:t>P</a:t>
            </a:r>
            <a:endParaRPr sz="69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1125" y="1613609"/>
            <a:ext cx="12921847" cy="96949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AF13A1-9439-48B8-93BD-6337816AEB4A}"/>
              </a:ext>
            </a:extLst>
          </p:cNvPr>
          <p:cNvSpPr txBox="1"/>
          <p:nvPr/>
        </p:nvSpPr>
        <p:spPr>
          <a:xfrm flipH="1">
            <a:off x="8185150" y="862541"/>
            <a:ext cx="37338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Arial" panose="020B0604020202020204" pitchFamily="34" charset="0"/>
                <a:cs typeface="Arial" panose="020B0604020202020204" pitchFamily="34" charset="0"/>
              </a:rPr>
              <a:t>Socket</a:t>
            </a:r>
            <a:endParaRPr lang="ru-RU" sz="8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B94F2E-D8C8-4C0E-B1F5-4AA03425504F}"/>
              </a:ext>
            </a:extLst>
          </p:cNvPr>
          <p:cNvSpPr txBox="1"/>
          <p:nvPr/>
        </p:nvSpPr>
        <p:spPr>
          <a:xfrm>
            <a:off x="4298950" y="4134756"/>
            <a:ext cx="11506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Socket is an endpoint for sending and receiving data across the network</a:t>
            </a:r>
            <a:endParaRPr lang="ru-RU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374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01107" y="832090"/>
            <a:ext cx="270192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45" dirty="0"/>
              <a:t>s</a:t>
            </a:r>
            <a:r>
              <a:rPr spc="-375" dirty="0"/>
              <a:t>o</a:t>
            </a:r>
            <a:r>
              <a:rPr spc="-45" dirty="0"/>
              <a:t>c</a:t>
            </a:r>
            <a:r>
              <a:rPr spc="-370" dirty="0"/>
              <a:t>k</a:t>
            </a:r>
            <a:r>
              <a:rPr spc="15" dirty="0"/>
              <a:t>e</a:t>
            </a:r>
            <a:r>
              <a:rPr spc="310" dirty="0"/>
              <a:t>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2015739"/>
            <a:ext cx="3616325" cy="1345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3199"/>
              </a:lnSpc>
              <a:spcBef>
                <a:spcPts val="95"/>
              </a:spcBef>
            </a:pPr>
            <a:r>
              <a:rPr sz="2550" spc="80" dirty="0">
                <a:solidFill>
                  <a:srgbClr val="017100"/>
                </a:solidFill>
                <a:latin typeface="Microsoft Sans Serif"/>
                <a:cs typeface="Microsoft Sans Serif"/>
              </a:rPr>
              <a:t>#include </a:t>
            </a:r>
            <a:r>
              <a:rPr sz="2550" spc="30" dirty="0">
                <a:solidFill>
                  <a:srgbClr val="017100"/>
                </a:solidFill>
                <a:latin typeface="Microsoft Sans Serif"/>
                <a:cs typeface="Microsoft Sans Serif"/>
              </a:rPr>
              <a:t>&lt;sys/types.h&gt; </a:t>
            </a:r>
            <a:r>
              <a:rPr sz="2550" spc="35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2550" spc="80" dirty="0">
                <a:solidFill>
                  <a:srgbClr val="017100"/>
                </a:solidFill>
                <a:latin typeface="Microsoft Sans Serif"/>
                <a:cs typeface="Microsoft Sans Serif"/>
              </a:rPr>
              <a:t>#include</a:t>
            </a:r>
            <a:r>
              <a:rPr sz="2550" spc="-5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2550" spc="25" dirty="0">
                <a:solidFill>
                  <a:srgbClr val="017100"/>
                </a:solidFill>
                <a:latin typeface="Microsoft Sans Serif"/>
                <a:cs typeface="Microsoft Sans Serif"/>
              </a:rPr>
              <a:t>&lt;sys/socket.h&gt; </a:t>
            </a:r>
            <a:r>
              <a:rPr sz="2550" spc="-66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2550" spc="130" dirty="0">
                <a:latin typeface="Microsoft Sans Serif"/>
                <a:cs typeface="Microsoft Sans Serif"/>
              </a:rPr>
              <a:t>int</a:t>
            </a:r>
            <a:r>
              <a:rPr sz="2550" spc="-5" dirty="0">
                <a:latin typeface="Microsoft Sans Serif"/>
                <a:cs typeface="Microsoft Sans Serif"/>
              </a:rPr>
              <a:t> </a:t>
            </a:r>
            <a:r>
              <a:rPr sz="2550" spc="70" dirty="0">
                <a:latin typeface="Microsoft Sans Serif"/>
                <a:cs typeface="Microsoft Sans Serif"/>
              </a:rPr>
              <a:t>socket(</a:t>
            </a:r>
            <a:endParaRPr sz="25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26092" y="3333936"/>
            <a:ext cx="1804670" cy="1350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8419">
              <a:lnSpc>
                <a:spcPct val="113599"/>
              </a:lnSpc>
              <a:spcBef>
                <a:spcPts val="95"/>
              </a:spcBef>
            </a:pPr>
            <a:r>
              <a:rPr sz="2550" spc="130" dirty="0">
                <a:latin typeface="Microsoft Sans Serif"/>
                <a:cs typeface="Microsoft Sans Serif"/>
              </a:rPr>
              <a:t>int</a:t>
            </a:r>
            <a:r>
              <a:rPr sz="2550" spc="-80" dirty="0">
                <a:latin typeface="Microsoft Sans Serif"/>
                <a:cs typeface="Microsoft Sans Serif"/>
              </a:rPr>
              <a:t> </a:t>
            </a:r>
            <a:r>
              <a:rPr sz="2550" spc="100" dirty="0">
                <a:latin typeface="Microsoft Sans Serif"/>
                <a:cs typeface="Microsoft Sans Serif"/>
              </a:rPr>
              <a:t>domain, </a:t>
            </a:r>
            <a:r>
              <a:rPr sz="2550" spc="-665" dirty="0">
                <a:latin typeface="Microsoft Sans Serif"/>
                <a:cs typeface="Microsoft Sans Serif"/>
              </a:rPr>
              <a:t> </a:t>
            </a:r>
            <a:r>
              <a:rPr sz="2550" spc="130" dirty="0">
                <a:latin typeface="Microsoft Sans Serif"/>
                <a:cs typeface="Microsoft Sans Serif"/>
              </a:rPr>
              <a:t>int</a:t>
            </a:r>
            <a:r>
              <a:rPr sz="2550" spc="-15" dirty="0">
                <a:latin typeface="Microsoft Sans Serif"/>
                <a:cs typeface="Microsoft Sans Serif"/>
              </a:rPr>
              <a:t> </a:t>
            </a:r>
            <a:r>
              <a:rPr sz="2550" spc="100" dirty="0">
                <a:latin typeface="Microsoft Sans Serif"/>
                <a:cs typeface="Microsoft Sans Serif"/>
              </a:rPr>
              <a:t>type,</a:t>
            </a:r>
            <a:endParaRPr sz="25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550" spc="130" dirty="0">
                <a:latin typeface="Microsoft Sans Serif"/>
                <a:cs typeface="Microsoft Sans Serif"/>
              </a:rPr>
              <a:t>int</a:t>
            </a:r>
            <a:r>
              <a:rPr sz="2550" spc="-70" dirty="0">
                <a:latin typeface="Microsoft Sans Serif"/>
                <a:cs typeface="Microsoft Sans Serif"/>
              </a:rPr>
              <a:t> </a:t>
            </a:r>
            <a:r>
              <a:rPr sz="2550" spc="140" dirty="0">
                <a:latin typeface="Microsoft Sans Serif"/>
                <a:cs typeface="Microsoft Sans Serif"/>
              </a:rPr>
              <a:t>protocol</a:t>
            </a:r>
            <a:endParaRPr sz="25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83368" y="3384104"/>
            <a:ext cx="3924300" cy="4171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550" spc="90" dirty="0">
                <a:solidFill>
                  <a:srgbClr val="017100"/>
                </a:solidFill>
                <a:latin typeface="Microsoft Sans Serif"/>
                <a:cs typeface="Microsoft Sans Serif"/>
              </a:rPr>
              <a:t>/</a:t>
            </a:r>
            <a:r>
              <a:rPr sz="2550" spc="325" dirty="0">
                <a:solidFill>
                  <a:srgbClr val="017100"/>
                </a:solidFill>
                <a:latin typeface="Microsoft Sans Serif"/>
                <a:cs typeface="Microsoft Sans Serif"/>
              </a:rPr>
              <a:t>/</a:t>
            </a:r>
            <a:r>
              <a:rPr sz="255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2550" spc="-40" dirty="0">
                <a:solidFill>
                  <a:srgbClr val="017100"/>
                </a:solidFill>
                <a:latin typeface="Lucida Sans Unicode"/>
                <a:cs typeface="Lucida Sans Unicode"/>
              </a:rPr>
              <a:t>ти</a:t>
            </a:r>
            <a:r>
              <a:rPr sz="2550" spc="-170" dirty="0">
                <a:solidFill>
                  <a:srgbClr val="017100"/>
                </a:solidFill>
                <a:latin typeface="Lucida Sans Unicode"/>
                <a:cs typeface="Lucida Sans Unicode"/>
              </a:rPr>
              <a:t>п</a:t>
            </a:r>
            <a:r>
              <a:rPr sz="2550" spc="-130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2550" spc="-170" dirty="0">
                <a:solidFill>
                  <a:srgbClr val="017100"/>
                </a:solidFill>
                <a:latin typeface="Lucida Sans Unicode"/>
                <a:cs typeface="Lucida Sans Unicode"/>
              </a:rPr>
              <a:t>п</a:t>
            </a:r>
            <a:r>
              <a:rPr sz="2550" spc="-180" dirty="0">
                <a:solidFill>
                  <a:srgbClr val="017100"/>
                </a:solidFill>
                <a:latin typeface="Lucida Sans Unicode"/>
                <a:cs typeface="Lucida Sans Unicode"/>
              </a:rPr>
              <a:t>р</a:t>
            </a:r>
            <a:r>
              <a:rPr sz="2550" spc="-140" dirty="0">
                <a:solidFill>
                  <a:srgbClr val="017100"/>
                </a:solidFill>
                <a:latin typeface="Lucida Sans Unicode"/>
                <a:cs typeface="Lucida Sans Unicode"/>
              </a:rPr>
              <a:t>о</a:t>
            </a:r>
            <a:r>
              <a:rPr sz="2550" spc="-60" dirty="0">
                <a:solidFill>
                  <a:srgbClr val="017100"/>
                </a:solidFill>
                <a:latin typeface="Lucida Sans Unicode"/>
                <a:cs typeface="Lucida Sans Unicode"/>
              </a:rPr>
              <a:t>стр</a:t>
            </a:r>
            <a:r>
              <a:rPr sz="2550" spc="20" dirty="0">
                <a:solidFill>
                  <a:srgbClr val="017100"/>
                </a:solidFill>
                <a:latin typeface="Lucida Sans Unicode"/>
                <a:cs typeface="Lucida Sans Unicode"/>
              </a:rPr>
              <a:t>а</a:t>
            </a:r>
            <a:r>
              <a:rPr sz="2550" spc="-170" dirty="0">
                <a:solidFill>
                  <a:srgbClr val="017100"/>
                </a:solidFill>
                <a:latin typeface="Lucida Sans Unicode"/>
                <a:cs typeface="Lucida Sans Unicode"/>
              </a:rPr>
              <a:t>н</a:t>
            </a:r>
            <a:r>
              <a:rPr sz="2550" spc="20" dirty="0">
                <a:solidFill>
                  <a:srgbClr val="017100"/>
                </a:solidFill>
                <a:latin typeface="Lucida Sans Unicode"/>
                <a:cs typeface="Lucida Sans Unicode"/>
              </a:rPr>
              <a:t>ст</a:t>
            </a:r>
            <a:r>
              <a:rPr sz="2550" spc="15" dirty="0">
                <a:solidFill>
                  <a:srgbClr val="017100"/>
                </a:solidFill>
                <a:latin typeface="Lucida Sans Unicode"/>
                <a:cs typeface="Lucida Sans Unicode"/>
              </a:rPr>
              <a:t>в</a:t>
            </a:r>
            <a:r>
              <a:rPr sz="2550" spc="20" dirty="0">
                <a:solidFill>
                  <a:srgbClr val="017100"/>
                </a:solidFill>
                <a:latin typeface="Lucida Sans Unicode"/>
                <a:cs typeface="Lucida Sans Unicode"/>
              </a:rPr>
              <a:t>а</a:t>
            </a:r>
            <a:r>
              <a:rPr sz="2550" spc="-130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2550" spc="-100" dirty="0">
                <a:solidFill>
                  <a:srgbClr val="017100"/>
                </a:solidFill>
                <a:latin typeface="Lucida Sans Unicode"/>
                <a:cs typeface="Lucida Sans Unicode"/>
              </a:rPr>
              <a:t>и</a:t>
            </a:r>
            <a:r>
              <a:rPr sz="2550" spc="-70" dirty="0">
                <a:solidFill>
                  <a:srgbClr val="017100"/>
                </a:solidFill>
                <a:latin typeface="Lucida Sans Unicode"/>
                <a:cs typeface="Lucida Sans Unicode"/>
              </a:rPr>
              <a:t>мё</a:t>
            </a:r>
            <a:r>
              <a:rPr sz="2550" spc="-170" dirty="0">
                <a:solidFill>
                  <a:srgbClr val="017100"/>
                </a:solidFill>
                <a:latin typeface="Lucida Sans Unicode"/>
                <a:cs typeface="Lucida Sans Unicode"/>
              </a:rPr>
              <a:t>н</a:t>
            </a:r>
            <a:endParaRPr sz="255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39335" y="3775507"/>
            <a:ext cx="6659880" cy="90868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550" spc="90" dirty="0">
                <a:solidFill>
                  <a:srgbClr val="017100"/>
                </a:solidFill>
                <a:latin typeface="Microsoft Sans Serif"/>
                <a:cs typeface="Microsoft Sans Serif"/>
              </a:rPr>
              <a:t>/</a:t>
            </a:r>
            <a:r>
              <a:rPr sz="2550" spc="325" dirty="0">
                <a:solidFill>
                  <a:srgbClr val="017100"/>
                </a:solidFill>
                <a:latin typeface="Microsoft Sans Serif"/>
                <a:cs typeface="Microsoft Sans Serif"/>
              </a:rPr>
              <a:t>/</a:t>
            </a:r>
            <a:r>
              <a:rPr sz="255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2550" spc="-40" dirty="0">
                <a:solidFill>
                  <a:srgbClr val="017100"/>
                </a:solidFill>
                <a:latin typeface="Lucida Sans Unicode"/>
                <a:cs typeface="Lucida Sans Unicode"/>
              </a:rPr>
              <a:t>ти</a:t>
            </a:r>
            <a:r>
              <a:rPr sz="2550" spc="-170" dirty="0">
                <a:solidFill>
                  <a:srgbClr val="017100"/>
                </a:solidFill>
                <a:latin typeface="Lucida Sans Unicode"/>
                <a:cs typeface="Lucida Sans Unicode"/>
              </a:rPr>
              <a:t>п</a:t>
            </a:r>
            <a:r>
              <a:rPr sz="2550" spc="-130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2550" spc="65" dirty="0">
                <a:solidFill>
                  <a:srgbClr val="017100"/>
                </a:solidFill>
                <a:latin typeface="Lucida Sans Unicode"/>
                <a:cs typeface="Lucida Sans Unicode"/>
              </a:rPr>
              <a:t>в</a:t>
            </a:r>
            <a:r>
              <a:rPr sz="2550" spc="35" dirty="0">
                <a:solidFill>
                  <a:srgbClr val="017100"/>
                </a:solidFill>
                <a:latin typeface="Lucida Sans Unicode"/>
                <a:cs typeface="Lucida Sans Unicode"/>
              </a:rPr>
              <a:t>за</a:t>
            </a:r>
            <a:r>
              <a:rPr sz="2550" spc="-100" dirty="0">
                <a:solidFill>
                  <a:srgbClr val="017100"/>
                </a:solidFill>
                <a:latin typeface="Lucida Sans Unicode"/>
                <a:cs typeface="Lucida Sans Unicode"/>
              </a:rPr>
              <a:t>и</a:t>
            </a:r>
            <a:r>
              <a:rPr sz="2550" spc="-140" dirty="0">
                <a:solidFill>
                  <a:srgbClr val="017100"/>
                </a:solidFill>
                <a:latin typeface="Lucida Sans Unicode"/>
                <a:cs typeface="Lucida Sans Unicode"/>
              </a:rPr>
              <a:t>мо</a:t>
            </a:r>
            <a:r>
              <a:rPr sz="2550" spc="-75" dirty="0">
                <a:solidFill>
                  <a:srgbClr val="017100"/>
                </a:solidFill>
                <a:latin typeface="Lucida Sans Unicode"/>
                <a:cs typeface="Lucida Sans Unicode"/>
              </a:rPr>
              <a:t>де</a:t>
            </a:r>
            <a:r>
              <a:rPr sz="2550" spc="-100" dirty="0">
                <a:solidFill>
                  <a:srgbClr val="017100"/>
                </a:solidFill>
                <a:latin typeface="Lucida Sans Unicode"/>
                <a:cs typeface="Lucida Sans Unicode"/>
              </a:rPr>
              <a:t>й</a:t>
            </a:r>
            <a:r>
              <a:rPr sz="2550" spc="20" dirty="0">
                <a:solidFill>
                  <a:srgbClr val="017100"/>
                </a:solidFill>
                <a:latin typeface="Lucida Sans Unicode"/>
                <a:cs typeface="Lucida Sans Unicode"/>
              </a:rPr>
              <a:t>ст</a:t>
            </a:r>
            <a:r>
              <a:rPr sz="2550" spc="15" dirty="0">
                <a:solidFill>
                  <a:srgbClr val="017100"/>
                </a:solidFill>
                <a:latin typeface="Lucida Sans Unicode"/>
                <a:cs typeface="Lucida Sans Unicode"/>
              </a:rPr>
              <a:t>в</a:t>
            </a:r>
            <a:r>
              <a:rPr sz="2550" spc="-100" dirty="0">
                <a:solidFill>
                  <a:srgbClr val="017100"/>
                </a:solidFill>
                <a:latin typeface="Lucida Sans Unicode"/>
                <a:cs typeface="Lucida Sans Unicode"/>
              </a:rPr>
              <a:t>и</a:t>
            </a:r>
            <a:r>
              <a:rPr sz="2550" spc="130" dirty="0">
                <a:solidFill>
                  <a:srgbClr val="017100"/>
                </a:solidFill>
                <a:latin typeface="Lucida Sans Unicode"/>
                <a:cs typeface="Lucida Sans Unicode"/>
              </a:rPr>
              <a:t>я</a:t>
            </a:r>
            <a:r>
              <a:rPr sz="2550" spc="-130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2550" spc="-15" dirty="0">
                <a:solidFill>
                  <a:srgbClr val="017100"/>
                </a:solidFill>
                <a:latin typeface="Lucida Sans Unicode"/>
                <a:cs typeface="Lucida Sans Unicode"/>
              </a:rPr>
              <a:t>через</a:t>
            </a:r>
            <a:r>
              <a:rPr sz="2550" spc="-130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2550" spc="-80" dirty="0">
                <a:solidFill>
                  <a:srgbClr val="017100"/>
                </a:solidFill>
                <a:latin typeface="Lucida Sans Unicode"/>
                <a:cs typeface="Lucida Sans Unicode"/>
              </a:rPr>
              <a:t>со</a:t>
            </a:r>
            <a:r>
              <a:rPr sz="2550" spc="35" dirty="0">
                <a:solidFill>
                  <a:srgbClr val="017100"/>
                </a:solidFill>
                <a:latin typeface="Lucida Sans Unicode"/>
                <a:cs typeface="Lucida Sans Unicode"/>
              </a:rPr>
              <a:t>к</a:t>
            </a:r>
            <a:r>
              <a:rPr sz="2550" spc="5" dirty="0">
                <a:solidFill>
                  <a:srgbClr val="017100"/>
                </a:solidFill>
                <a:latin typeface="Lucida Sans Unicode"/>
                <a:cs typeface="Lucida Sans Unicode"/>
              </a:rPr>
              <a:t>е</a:t>
            </a:r>
            <a:r>
              <a:rPr sz="2550" spc="20" dirty="0">
                <a:solidFill>
                  <a:srgbClr val="017100"/>
                </a:solidFill>
                <a:latin typeface="Lucida Sans Unicode"/>
                <a:cs typeface="Lucida Sans Unicode"/>
              </a:rPr>
              <a:t>т</a:t>
            </a:r>
            <a:endParaRPr sz="2550" dirty="0">
              <a:latin typeface="Lucida Sans Unicode"/>
              <a:cs typeface="Lucida Sans Unicode"/>
            </a:endParaRPr>
          </a:p>
          <a:p>
            <a:pPr marL="23495">
              <a:lnSpc>
                <a:spcPct val="100000"/>
              </a:lnSpc>
              <a:spcBef>
                <a:spcPts val="420"/>
              </a:spcBef>
            </a:pPr>
            <a:r>
              <a:rPr sz="2550" spc="90" dirty="0">
                <a:solidFill>
                  <a:srgbClr val="017100"/>
                </a:solidFill>
                <a:latin typeface="Microsoft Sans Serif"/>
                <a:cs typeface="Microsoft Sans Serif"/>
              </a:rPr>
              <a:t>/</a:t>
            </a:r>
            <a:r>
              <a:rPr sz="2550" spc="325" dirty="0">
                <a:solidFill>
                  <a:srgbClr val="017100"/>
                </a:solidFill>
                <a:latin typeface="Microsoft Sans Serif"/>
                <a:cs typeface="Microsoft Sans Serif"/>
              </a:rPr>
              <a:t>/</a:t>
            </a:r>
            <a:r>
              <a:rPr sz="255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2550" spc="-170" dirty="0">
                <a:solidFill>
                  <a:srgbClr val="017100"/>
                </a:solidFill>
                <a:latin typeface="Lucida Sans Unicode"/>
                <a:cs typeface="Lucida Sans Unicode"/>
              </a:rPr>
              <a:t>н</a:t>
            </a:r>
            <a:r>
              <a:rPr sz="2550" spc="-140" dirty="0">
                <a:solidFill>
                  <a:srgbClr val="017100"/>
                </a:solidFill>
                <a:latin typeface="Lucida Sans Unicode"/>
                <a:cs typeface="Lucida Sans Unicode"/>
              </a:rPr>
              <a:t>о</a:t>
            </a:r>
            <a:r>
              <a:rPr sz="2550" spc="-70" dirty="0">
                <a:solidFill>
                  <a:srgbClr val="017100"/>
                </a:solidFill>
                <a:latin typeface="Lucida Sans Unicode"/>
                <a:cs typeface="Lucida Sans Unicode"/>
              </a:rPr>
              <a:t>ме</a:t>
            </a:r>
            <a:r>
              <a:rPr sz="2550" spc="-180" dirty="0">
                <a:solidFill>
                  <a:srgbClr val="017100"/>
                </a:solidFill>
                <a:latin typeface="Lucida Sans Unicode"/>
                <a:cs typeface="Lucida Sans Unicode"/>
              </a:rPr>
              <a:t>р</a:t>
            </a:r>
            <a:r>
              <a:rPr sz="2550" spc="-130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2550" spc="-170" dirty="0">
                <a:solidFill>
                  <a:srgbClr val="017100"/>
                </a:solidFill>
                <a:latin typeface="Lucida Sans Unicode"/>
                <a:cs typeface="Lucida Sans Unicode"/>
              </a:rPr>
              <a:t>п</a:t>
            </a:r>
            <a:r>
              <a:rPr sz="2550" spc="-180" dirty="0">
                <a:solidFill>
                  <a:srgbClr val="017100"/>
                </a:solidFill>
                <a:latin typeface="Lucida Sans Unicode"/>
                <a:cs typeface="Lucida Sans Unicode"/>
              </a:rPr>
              <a:t>р</a:t>
            </a:r>
            <a:r>
              <a:rPr sz="2550" spc="-140" dirty="0">
                <a:solidFill>
                  <a:srgbClr val="017100"/>
                </a:solidFill>
                <a:latin typeface="Lucida Sans Unicode"/>
                <a:cs typeface="Lucida Sans Unicode"/>
              </a:rPr>
              <a:t>о</a:t>
            </a:r>
            <a:r>
              <a:rPr sz="2550" spc="-60" dirty="0">
                <a:solidFill>
                  <a:srgbClr val="017100"/>
                </a:solidFill>
                <a:latin typeface="Lucida Sans Unicode"/>
                <a:cs typeface="Lucida Sans Unicode"/>
              </a:rPr>
              <a:t>то</a:t>
            </a:r>
            <a:r>
              <a:rPr sz="2550" spc="35" dirty="0">
                <a:solidFill>
                  <a:srgbClr val="017100"/>
                </a:solidFill>
                <a:latin typeface="Lucida Sans Unicode"/>
                <a:cs typeface="Lucida Sans Unicode"/>
              </a:rPr>
              <a:t>к</a:t>
            </a:r>
            <a:r>
              <a:rPr sz="2550" spc="-140" dirty="0">
                <a:solidFill>
                  <a:srgbClr val="017100"/>
                </a:solidFill>
                <a:latin typeface="Lucida Sans Unicode"/>
                <a:cs typeface="Lucida Sans Unicode"/>
              </a:rPr>
              <a:t>о</a:t>
            </a:r>
            <a:r>
              <a:rPr sz="2550" spc="-25" dirty="0">
                <a:solidFill>
                  <a:srgbClr val="017100"/>
                </a:solidFill>
                <a:latin typeface="Lucida Sans Unicode"/>
                <a:cs typeface="Lucida Sans Unicode"/>
              </a:rPr>
              <a:t>л</a:t>
            </a:r>
            <a:r>
              <a:rPr sz="2550" spc="20" dirty="0">
                <a:solidFill>
                  <a:srgbClr val="017100"/>
                </a:solidFill>
                <a:latin typeface="Lucida Sans Unicode"/>
                <a:cs typeface="Lucida Sans Unicode"/>
              </a:rPr>
              <a:t>а</a:t>
            </a:r>
            <a:r>
              <a:rPr sz="2550" spc="-130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2550" spc="-75" dirty="0">
                <a:solidFill>
                  <a:srgbClr val="017100"/>
                </a:solidFill>
                <a:latin typeface="Lucida Sans Unicode"/>
                <a:cs typeface="Lucida Sans Unicode"/>
              </a:rPr>
              <a:t>или</a:t>
            </a:r>
            <a:r>
              <a:rPr sz="2550" spc="-130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2550" spc="330" dirty="0">
                <a:solidFill>
                  <a:srgbClr val="017100"/>
                </a:solidFill>
                <a:latin typeface="Microsoft Sans Serif"/>
                <a:cs typeface="Microsoft Sans Serif"/>
              </a:rPr>
              <a:t>0</a:t>
            </a:r>
            <a:r>
              <a:rPr sz="255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2550" spc="-95" dirty="0">
                <a:solidFill>
                  <a:srgbClr val="017100"/>
                </a:solidFill>
                <a:latin typeface="Lucida Sans Unicode"/>
                <a:cs typeface="Lucida Sans Unicode"/>
              </a:rPr>
              <a:t>дл</a:t>
            </a:r>
            <a:r>
              <a:rPr sz="2550" spc="130" dirty="0">
                <a:solidFill>
                  <a:srgbClr val="017100"/>
                </a:solidFill>
                <a:latin typeface="Lucida Sans Unicode"/>
                <a:cs typeface="Lucida Sans Unicode"/>
              </a:rPr>
              <a:t>я</a:t>
            </a:r>
            <a:r>
              <a:rPr sz="2550" spc="-130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2550" spc="20" dirty="0">
                <a:solidFill>
                  <a:srgbClr val="017100"/>
                </a:solidFill>
                <a:latin typeface="Lucida Sans Unicode"/>
                <a:cs typeface="Lucida Sans Unicode"/>
              </a:rPr>
              <a:t>а</a:t>
            </a:r>
            <a:r>
              <a:rPr sz="2550" spc="65" dirty="0">
                <a:solidFill>
                  <a:srgbClr val="017100"/>
                </a:solidFill>
                <a:latin typeface="Lucida Sans Unicode"/>
                <a:cs typeface="Lucida Sans Unicode"/>
              </a:rPr>
              <a:t>в</a:t>
            </a:r>
            <a:r>
              <a:rPr sz="2550" spc="-55" dirty="0">
                <a:solidFill>
                  <a:srgbClr val="017100"/>
                </a:solidFill>
                <a:latin typeface="Lucida Sans Unicode"/>
                <a:cs typeface="Lucida Sans Unicode"/>
              </a:rPr>
              <a:t>т</a:t>
            </a:r>
            <a:r>
              <a:rPr sz="2550" spc="-70" dirty="0">
                <a:solidFill>
                  <a:srgbClr val="017100"/>
                </a:solidFill>
                <a:latin typeface="Lucida Sans Unicode"/>
                <a:cs typeface="Lucida Sans Unicode"/>
              </a:rPr>
              <a:t>о</a:t>
            </a:r>
            <a:r>
              <a:rPr sz="2550" spc="5" dirty="0">
                <a:solidFill>
                  <a:srgbClr val="017100"/>
                </a:solidFill>
                <a:latin typeface="Microsoft Sans Serif"/>
                <a:cs typeface="Microsoft Sans Serif"/>
              </a:rPr>
              <a:t>-</a:t>
            </a:r>
            <a:r>
              <a:rPr sz="2550" spc="-55" dirty="0">
                <a:solidFill>
                  <a:srgbClr val="017100"/>
                </a:solidFill>
                <a:latin typeface="Lucida Sans Unicode"/>
                <a:cs typeface="Lucida Sans Unicode"/>
              </a:rPr>
              <a:t>выбора</a:t>
            </a:r>
            <a:endParaRPr sz="2550" dirty="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6272" y="4708813"/>
            <a:ext cx="10648315" cy="640880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550" spc="-25" dirty="0">
                <a:latin typeface="Microsoft Sans Serif"/>
                <a:cs typeface="Microsoft Sans Serif"/>
              </a:rPr>
              <a:t>)</a:t>
            </a:r>
            <a:endParaRPr sz="25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4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800" spc="70" dirty="0">
                <a:latin typeface="Arial" panose="020B0604020202020204" pitchFamily="34" charset="0"/>
                <a:cs typeface="Arial" panose="020B0604020202020204" pitchFamily="34" charset="0"/>
              </a:rPr>
              <a:t>Domain: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9255">
              <a:lnSpc>
                <a:spcPct val="100000"/>
              </a:lnSpc>
              <a:spcBef>
                <a:spcPts val="405"/>
              </a:spcBef>
              <a:tabLst>
                <a:tab pos="1999614" algn="l"/>
              </a:tabLst>
            </a:pPr>
            <a:r>
              <a:rPr sz="2800" b="1" spc="55" dirty="0">
                <a:latin typeface="Arial" panose="020B0604020202020204" pitchFamily="34" charset="0"/>
                <a:cs typeface="Arial" panose="020B0604020202020204" pitchFamily="34" charset="0"/>
              </a:rPr>
              <a:t>AF_UNIX	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35" dirty="0">
                <a:latin typeface="Arial" panose="020B0604020202020204" pitchFamily="34" charset="0"/>
                <a:cs typeface="Arial" panose="020B0604020202020204" pitchFamily="34" charset="0"/>
              </a:rPr>
              <a:t>локальные</a:t>
            </a:r>
            <a:r>
              <a:rPr sz="2800" spc="-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30" dirty="0">
                <a:latin typeface="Arial" panose="020B0604020202020204" pitchFamily="34" charset="0"/>
                <a:cs typeface="Arial" panose="020B0604020202020204" pitchFamily="34" charset="0"/>
              </a:rPr>
              <a:t>UNIX-сокеты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9255">
              <a:lnSpc>
                <a:spcPct val="100000"/>
              </a:lnSpc>
              <a:spcBef>
                <a:spcPts val="420"/>
              </a:spcBef>
              <a:tabLst>
                <a:tab pos="1991995" algn="l"/>
              </a:tabLst>
            </a:pPr>
            <a:r>
              <a:rPr sz="2800" b="1" spc="-10" dirty="0">
                <a:latin typeface="Arial" panose="020B0604020202020204" pitchFamily="34" charset="0"/>
                <a:cs typeface="Arial" panose="020B0604020202020204" pitchFamily="34" charset="0"/>
              </a:rPr>
              <a:t>AF_INET	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IPv4</a:t>
            </a:r>
            <a:r>
              <a:rPr sz="2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05" dirty="0">
                <a:latin typeface="Arial" panose="020B0604020202020204" pitchFamily="34" charset="0"/>
                <a:cs typeface="Arial" panose="020B0604020202020204" pitchFamily="34" charset="0"/>
              </a:rPr>
              <a:t>Internet</a:t>
            </a:r>
            <a:r>
              <a:rPr sz="28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20" dirty="0">
                <a:latin typeface="Arial" panose="020B0604020202020204" pitchFamily="34" charset="0"/>
                <a:cs typeface="Arial" panose="020B0604020202020204" pitchFamily="34" charset="0"/>
              </a:rPr>
              <a:t>protocols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9255">
              <a:lnSpc>
                <a:spcPct val="100000"/>
              </a:lnSpc>
              <a:spcBef>
                <a:spcPts val="400"/>
              </a:spcBef>
            </a:pPr>
            <a:r>
              <a:rPr sz="2800" b="1" spc="30" dirty="0">
                <a:latin typeface="Arial" panose="020B0604020202020204" pitchFamily="34" charset="0"/>
                <a:cs typeface="Arial" panose="020B0604020202020204" pitchFamily="34" charset="0"/>
              </a:rPr>
              <a:t>AF_INET6</a:t>
            </a:r>
            <a:r>
              <a:rPr sz="2800" b="1" spc="-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5" dirty="0">
                <a:latin typeface="Arial" panose="020B0604020202020204" pitchFamily="34" charset="0"/>
                <a:cs typeface="Arial" panose="020B0604020202020204" pitchFamily="34" charset="0"/>
              </a:rPr>
              <a:t>IPv6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05" dirty="0">
                <a:latin typeface="Arial" panose="020B0604020202020204" pitchFamily="34" charset="0"/>
                <a:cs typeface="Arial" panose="020B0604020202020204" pitchFamily="34" charset="0"/>
              </a:rPr>
              <a:t>Internet</a:t>
            </a:r>
            <a:r>
              <a:rPr sz="28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20" dirty="0">
                <a:latin typeface="Arial" panose="020B0604020202020204" pitchFamily="34" charset="0"/>
                <a:cs typeface="Arial" panose="020B0604020202020204" pitchFamily="34" charset="0"/>
              </a:rPr>
              <a:t>protocols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Type: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9255">
              <a:lnSpc>
                <a:spcPct val="100000"/>
              </a:lnSpc>
              <a:spcBef>
                <a:spcPts val="405"/>
              </a:spcBef>
            </a:pPr>
            <a:r>
              <a:rPr sz="2800" b="1" dirty="0">
                <a:latin typeface="Arial" panose="020B0604020202020204" pitchFamily="34" charset="0"/>
                <a:cs typeface="Arial" panose="020B0604020202020204" pitchFamily="34" charset="0"/>
              </a:rPr>
              <a:t>SOCK_STREAM</a:t>
            </a:r>
            <a:r>
              <a:rPr sz="2800" b="1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spc="5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bytestream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(e.g. </a:t>
            </a:r>
            <a:r>
              <a:rPr sz="2800" spc="-130" dirty="0">
                <a:latin typeface="Arial" panose="020B0604020202020204" pitchFamily="34" charset="0"/>
                <a:cs typeface="Arial" panose="020B0604020202020204" pitchFamily="34" charset="0"/>
              </a:rPr>
              <a:t>TCP</a:t>
            </a:r>
            <a:r>
              <a:rPr lang="en-US" sz="2800" spc="95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9255">
              <a:lnSpc>
                <a:spcPct val="100000"/>
              </a:lnSpc>
              <a:spcBef>
                <a:spcPts val="420"/>
              </a:spcBef>
            </a:pPr>
            <a:r>
              <a:rPr sz="2800" b="1" spc="30" dirty="0">
                <a:latin typeface="Arial" panose="020B0604020202020204" pitchFamily="34" charset="0"/>
                <a:cs typeface="Arial" panose="020B0604020202020204" pitchFamily="34" charset="0"/>
              </a:rPr>
              <a:t>SOCK_DGRAM</a:t>
            </a:r>
            <a:r>
              <a:rPr sz="2800" b="1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spc="5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sz="28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spc="-20" dirty="0">
                <a:latin typeface="Arial" panose="020B0604020202020204" pitchFamily="34" charset="0"/>
                <a:cs typeface="Arial" panose="020B0604020202020204" pitchFamily="34" charset="0"/>
              </a:rPr>
              <a:t>datagrams (e.g. </a:t>
            </a:r>
            <a:r>
              <a:rPr sz="2800" spc="-110" dirty="0">
                <a:latin typeface="Arial" panose="020B0604020202020204" pitchFamily="34" charset="0"/>
                <a:cs typeface="Arial" panose="020B0604020202020204" pitchFamily="34" charset="0"/>
              </a:rPr>
              <a:t>UDP</a:t>
            </a:r>
            <a:r>
              <a:rPr lang="en-US" sz="2800" spc="-11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spc="85" dirty="0">
                <a:latin typeface="Arial" panose="020B0604020202020204" pitchFamily="34" charset="0"/>
                <a:cs typeface="Arial" panose="020B0604020202020204" pitchFamily="34" charset="0"/>
              </a:rPr>
              <a:t>Protocol: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89255">
              <a:lnSpc>
                <a:spcPct val="100000"/>
              </a:lnSpc>
              <a:spcBef>
                <a:spcPts val="400"/>
              </a:spcBef>
            </a:pPr>
            <a:r>
              <a:rPr sz="2800" spc="-60" dirty="0">
                <a:latin typeface="Arial" panose="020B0604020202020204" pitchFamily="34" charset="0"/>
                <a:cs typeface="Arial" panose="020B0604020202020204" pitchFamily="34" charset="0"/>
              </a:rPr>
              <a:t>Обычно</a:t>
            </a:r>
            <a:r>
              <a:rPr sz="280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00" dirty="0">
                <a:latin typeface="Arial" panose="020B0604020202020204" pitchFamily="34" charset="0"/>
                <a:cs typeface="Arial" panose="020B0604020202020204" pitchFamily="34" charset="0"/>
              </a:rPr>
              <a:t>однозначно</a:t>
            </a:r>
            <a:r>
              <a:rPr sz="280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35" dirty="0">
                <a:latin typeface="Arial" panose="020B0604020202020204" pitchFamily="34" charset="0"/>
                <a:cs typeface="Arial" panose="020B0604020202020204" pitchFamily="34" charset="0"/>
              </a:rPr>
              <a:t>определяется</a:t>
            </a:r>
            <a:r>
              <a:rPr sz="280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155" dirty="0">
                <a:latin typeface="Arial" panose="020B0604020202020204" pitchFamily="34" charset="0"/>
                <a:cs typeface="Arial" panose="020B0604020202020204" pitchFamily="34" charset="0"/>
              </a:rPr>
              <a:t>по</a:t>
            </a:r>
            <a:r>
              <a:rPr sz="280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100" dirty="0">
                <a:latin typeface="Arial" panose="020B0604020202020204" pitchFamily="34" charset="0"/>
                <a:cs typeface="Arial" panose="020B0604020202020204" pitchFamily="34" charset="0"/>
              </a:rPr>
              <a:t>domain,</a:t>
            </a:r>
            <a:r>
              <a:rPr sz="28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-90" dirty="0">
                <a:latin typeface="Arial" panose="020B0604020202020204" pitchFamily="34" charset="0"/>
                <a:cs typeface="Arial" panose="020B0604020202020204" pitchFamily="34" charset="0"/>
              </a:rPr>
              <a:t>можно</a:t>
            </a:r>
            <a:r>
              <a:rPr sz="280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5" dirty="0">
                <a:latin typeface="Arial" panose="020B0604020202020204" pitchFamily="34" charset="0"/>
                <a:cs typeface="Arial" panose="020B0604020202020204" pitchFamily="34" charset="0"/>
              </a:rPr>
              <a:t>выставить</a:t>
            </a:r>
            <a:r>
              <a:rPr sz="280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800" spc="33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74353" y="832090"/>
            <a:ext cx="334327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70" dirty="0"/>
              <a:t>connect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1881" y="2487236"/>
            <a:ext cx="3497579" cy="1868805"/>
          </a:xfrm>
          <a:prstGeom prst="rect">
            <a:avLst/>
          </a:prstGeom>
        </p:spPr>
        <p:txBody>
          <a:bodyPr vert="horz" wrap="square" lIns="0" tIns="331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10"/>
              </a:spcBef>
            </a:pPr>
            <a:r>
              <a:rPr sz="3950" spc="195" dirty="0">
                <a:latin typeface="Microsoft Sans Serif"/>
                <a:cs typeface="Microsoft Sans Serif"/>
              </a:rPr>
              <a:t>int</a:t>
            </a:r>
            <a:r>
              <a:rPr sz="3950" spc="-45" dirty="0">
                <a:latin typeface="Microsoft Sans Serif"/>
                <a:cs typeface="Microsoft Sans Serif"/>
              </a:rPr>
              <a:t> </a:t>
            </a:r>
            <a:r>
              <a:rPr sz="3950" spc="175" dirty="0">
                <a:latin typeface="Microsoft Sans Serif"/>
                <a:cs typeface="Microsoft Sans Serif"/>
              </a:rPr>
              <a:t>connect(</a:t>
            </a:r>
            <a:endParaRPr sz="3950" dirty="0">
              <a:latin typeface="Microsoft Sans Serif"/>
              <a:cs typeface="Microsoft Sans Serif"/>
            </a:endParaRPr>
          </a:p>
          <a:p>
            <a:pPr marL="1032510">
              <a:lnSpc>
                <a:spcPct val="100000"/>
              </a:lnSpc>
              <a:spcBef>
                <a:spcPts val="2520"/>
              </a:spcBef>
            </a:pPr>
            <a:r>
              <a:rPr sz="3950" spc="195" dirty="0">
                <a:latin typeface="Microsoft Sans Serif"/>
                <a:cs typeface="Microsoft Sans Serif"/>
              </a:rPr>
              <a:t>int</a:t>
            </a:r>
            <a:r>
              <a:rPr sz="3950" spc="-85" dirty="0">
                <a:latin typeface="Microsoft Sans Serif"/>
                <a:cs typeface="Microsoft Sans Serif"/>
              </a:rPr>
              <a:t> </a:t>
            </a:r>
            <a:r>
              <a:rPr sz="3950" spc="135" dirty="0">
                <a:latin typeface="Microsoft Sans Serif"/>
                <a:cs typeface="Microsoft Sans Serif"/>
              </a:rPr>
              <a:t>sockfd,</a:t>
            </a:r>
            <a:endParaRPr sz="395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82307" y="3726990"/>
            <a:ext cx="766572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135" dirty="0">
                <a:solidFill>
                  <a:srgbClr val="017100"/>
                </a:solidFill>
                <a:latin typeface="Microsoft Sans Serif"/>
                <a:cs typeface="Microsoft Sans Serif"/>
              </a:rPr>
              <a:t>/</a:t>
            </a:r>
            <a:r>
              <a:rPr sz="3950" spc="495" dirty="0">
                <a:solidFill>
                  <a:srgbClr val="017100"/>
                </a:solidFill>
                <a:latin typeface="Microsoft Sans Serif"/>
                <a:cs typeface="Microsoft Sans Serif"/>
              </a:rPr>
              <a:t>/</a:t>
            </a:r>
            <a:r>
              <a:rPr sz="3950" spc="-5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950" spc="65" dirty="0">
                <a:solidFill>
                  <a:srgbClr val="017100"/>
                </a:solidFill>
                <a:latin typeface="Lucida Sans Unicode"/>
                <a:cs typeface="Lucida Sans Unicode"/>
              </a:rPr>
              <a:t>ф</a:t>
            </a:r>
            <a:r>
              <a:rPr sz="3950" spc="50" dirty="0">
                <a:solidFill>
                  <a:srgbClr val="017100"/>
                </a:solidFill>
                <a:latin typeface="Lucida Sans Unicode"/>
                <a:cs typeface="Lucida Sans Unicode"/>
              </a:rPr>
              <a:t>а</a:t>
            </a:r>
            <a:r>
              <a:rPr sz="3950" spc="-170" dirty="0">
                <a:solidFill>
                  <a:srgbClr val="017100"/>
                </a:solidFill>
                <a:latin typeface="Lucida Sans Unicode"/>
                <a:cs typeface="Lucida Sans Unicode"/>
              </a:rPr>
              <a:t>й</a:t>
            </a:r>
            <a:r>
              <a:rPr sz="3950" spc="-55" dirty="0">
                <a:solidFill>
                  <a:srgbClr val="017100"/>
                </a:solidFill>
                <a:latin typeface="Lucida Sans Unicode"/>
                <a:cs typeface="Lucida Sans Unicode"/>
              </a:rPr>
              <a:t>л</a:t>
            </a:r>
            <a:r>
              <a:rPr sz="3950" spc="-229" dirty="0">
                <a:solidFill>
                  <a:srgbClr val="017100"/>
                </a:solidFill>
                <a:latin typeface="Lucida Sans Unicode"/>
                <a:cs typeface="Lucida Sans Unicode"/>
              </a:rPr>
              <a:t>о</a:t>
            </a:r>
            <a:r>
              <a:rPr sz="3950" spc="90" dirty="0">
                <a:solidFill>
                  <a:srgbClr val="017100"/>
                </a:solidFill>
                <a:latin typeface="Lucida Sans Unicode"/>
                <a:cs typeface="Lucida Sans Unicode"/>
              </a:rPr>
              <a:t>в</a:t>
            </a:r>
            <a:r>
              <a:rPr sz="3950" dirty="0">
                <a:solidFill>
                  <a:srgbClr val="017100"/>
                </a:solidFill>
                <a:latin typeface="Lucida Sans Unicode"/>
                <a:cs typeface="Lucida Sans Unicode"/>
              </a:rPr>
              <a:t>ы</a:t>
            </a:r>
            <a:r>
              <a:rPr sz="3950" spc="-170" dirty="0">
                <a:solidFill>
                  <a:srgbClr val="017100"/>
                </a:solidFill>
                <a:latin typeface="Lucida Sans Unicode"/>
                <a:cs typeface="Lucida Sans Unicode"/>
              </a:rPr>
              <a:t>й</a:t>
            </a:r>
            <a:r>
              <a:rPr sz="3950" spc="-204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3950" spc="-130" dirty="0">
                <a:solidFill>
                  <a:srgbClr val="017100"/>
                </a:solidFill>
                <a:latin typeface="Lucida Sans Unicode"/>
                <a:cs typeface="Lucida Sans Unicode"/>
              </a:rPr>
              <a:t>де</a:t>
            </a:r>
            <a:r>
              <a:rPr sz="3950" dirty="0">
                <a:solidFill>
                  <a:srgbClr val="017100"/>
                </a:solidFill>
                <a:latin typeface="Lucida Sans Unicode"/>
                <a:cs typeface="Lucida Sans Unicode"/>
              </a:rPr>
              <a:t>с</a:t>
            </a:r>
            <a:r>
              <a:rPr sz="3950" spc="-5" dirty="0">
                <a:solidFill>
                  <a:srgbClr val="017100"/>
                </a:solidFill>
                <a:latin typeface="Lucida Sans Unicode"/>
                <a:cs typeface="Lucida Sans Unicode"/>
              </a:rPr>
              <a:t>к</a:t>
            </a:r>
            <a:r>
              <a:rPr sz="3950" spc="-290" dirty="0">
                <a:solidFill>
                  <a:srgbClr val="017100"/>
                </a:solidFill>
                <a:latin typeface="Lucida Sans Unicode"/>
                <a:cs typeface="Lucida Sans Unicode"/>
              </a:rPr>
              <a:t>р</a:t>
            </a:r>
            <a:r>
              <a:rPr sz="3950" spc="-170" dirty="0">
                <a:solidFill>
                  <a:srgbClr val="017100"/>
                </a:solidFill>
                <a:latin typeface="Lucida Sans Unicode"/>
                <a:cs typeface="Lucida Sans Unicode"/>
              </a:rPr>
              <a:t>и</a:t>
            </a:r>
            <a:r>
              <a:rPr sz="3950" spc="-275" dirty="0">
                <a:solidFill>
                  <a:srgbClr val="017100"/>
                </a:solidFill>
                <a:latin typeface="Lucida Sans Unicode"/>
                <a:cs typeface="Lucida Sans Unicode"/>
              </a:rPr>
              <a:t>п</a:t>
            </a:r>
            <a:r>
              <a:rPr sz="3950" spc="-100" dirty="0">
                <a:solidFill>
                  <a:srgbClr val="017100"/>
                </a:solidFill>
                <a:latin typeface="Lucida Sans Unicode"/>
                <a:cs typeface="Lucida Sans Unicode"/>
              </a:rPr>
              <a:t>то</a:t>
            </a:r>
            <a:r>
              <a:rPr sz="3950" spc="-290" dirty="0">
                <a:solidFill>
                  <a:srgbClr val="017100"/>
                </a:solidFill>
                <a:latin typeface="Lucida Sans Unicode"/>
                <a:cs typeface="Lucida Sans Unicode"/>
              </a:rPr>
              <a:t>р</a:t>
            </a:r>
            <a:r>
              <a:rPr sz="3950" spc="-204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3950" spc="-135" dirty="0">
                <a:solidFill>
                  <a:srgbClr val="017100"/>
                </a:solidFill>
                <a:latin typeface="Lucida Sans Unicode"/>
                <a:cs typeface="Lucida Sans Unicode"/>
              </a:rPr>
              <a:t>со</a:t>
            </a:r>
            <a:r>
              <a:rPr sz="3950" spc="45" dirty="0">
                <a:solidFill>
                  <a:srgbClr val="017100"/>
                </a:solidFill>
                <a:latin typeface="Lucida Sans Unicode"/>
                <a:cs typeface="Lucida Sans Unicode"/>
              </a:rPr>
              <a:t>к</a:t>
            </a:r>
            <a:r>
              <a:rPr sz="3950" dirty="0">
                <a:solidFill>
                  <a:srgbClr val="017100"/>
                </a:solidFill>
                <a:latin typeface="Lucida Sans Unicode"/>
                <a:cs typeface="Lucida Sans Unicode"/>
              </a:rPr>
              <a:t>е</a:t>
            </a:r>
            <a:r>
              <a:rPr sz="3950" spc="20" dirty="0">
                <a:solidFill>
                  <a:srgbClr val="017100"/>
                </a:solidFill>
                <a:latin typeface="Lucida Sans Unicode"/>
                <a:cs typeface="Lucida Sans Unicode"/>
              </a:rPr>
              <a:t>та</a:t>
            </a:r>
            <a:endParaRPr sz="395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2164" y="4653444"/>
            <a:ext cx="1510347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938645" algn="l"/>
                <a:tab pos="11597005" algn="l"/>
              </a:tabLst>
            </a:pPr>
            <a:r>
              <a:rPr sz="3950" spc="175" dirty="0">
                <a:latin typeface="Microsoft Sans Serif"/>
                <a:cs typeface="Microsoft Sans Serif"/>
              </a:rPr>
              <a:t>const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190" dirty="0">
                <a:latin typeface="Microsoft Sans Serif"/>
                <a:cs typeface="Microsoft Sans Serif"/>
              </a:rPr>
              <a:t>struct</a:t>
            </a:r>
            <a:r>
              <a:rPr sz="3950" spc="5" dirty="0">
                <a:latin typeface="Microsoft Sans Serif"/>
                <a:cs typeface="Microsoft Sans Serif"/>
              </a:rPr>
              <a:t> </a:t>
            </a:r>
            <a:r>
              <a:rPr sz="3950" spc="140" dirty="0">
                <a:latin typeface="Microsoft Sans Serif"/>
                <a:cs typeface="Microsoft Sans Serif"/>
              </a:rPr>
              <a:t>sockaddr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75" dirty="0">
                <a:latin typeface="Microsoft Sans Serif"/>
                <a:cs typeface="Microsoft Sans Serif"/>
              </a:rPr>
              <a:t>*addr,	</a:t>
            </a:r>
            <a:r>
              <a:rPr sz="3950" spc="315" dirty="0">
                <a:solidFill>
                  <a:srgbClr val="017100"/>
                </a:solidFill>
                <a:latin typeface="Microsoft Sans Serif"/>
                <a:cs typeface="Microsoft Sans Serif"/>
              </a:rPr>
              <a:t>//</a:t>
            </a:r>
            <a:r>
              <a:rPr sz="395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950" dirty="0">
                <a:solidFill>
                  <a:srgbClr val="017100"/>
                </a:solidFill>
                <a:latin typeface="Lucida Sans Unicode"/>
                <a:cs typeface="Lucida Sans Unicode"/>
              </a:rPr>
              <a:t>указатель</a:t>
            </a:r>
            <a:r>
              <a:rPr sz="3950" spc="-200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3950" spc="-130" dirty="0">
                <a:solidFill>
                  <a:srgbClr val="017100"/>
                </a:solidFill>
                <a:latin typeface="Lucida Sans Unicode"/>
                <a:cs typeface="Lucida Sans Unicode"/>
              </a:rPr>
              <a:t>на	</a:t>
            </a:r>
            <a:r>
              <a:rPr sz="3950" spc="-50" dirty="0">
                <a:solidFill>
                  <a:srgbClr val="017100"/>
                </a:solidFill>
                <a:latin typeface="Microsoft Sans Serif"/>
                <a:cs typeface="Microsoft Sans Serif"/>
              </a:rPr>
              <a:t>*</a:t>
            </a:r>
            <a:r>
              <a:rPr sz="3950" spc="-50" dirty="0">
                <a:solidFill>
                  <a:srgbClr val="017100"/>
                </a:solidFill>
                <a:latin typeface="Lucida Sans Unicode"/>
                <a:cs typeface="Lucida Sans Unicode"/>
              </a:rPr>
              <a:t>абстрактную</a:t>
            </a:r>
            <a:r>
              <a:rPr sz="3950" spc="-50" dirty="0">
                <a:solidFill>
                  <a:srgbClr val="017100"/>
                </a:solidFill>
                <a:latin typeface="Microsoft Sans Serif"/>
                <a:cs typeface="Microsoft Sans Serif"/>
              </a:rPr>
              <a:t>*</a:t>
            </a:r>
            <a:endParaRPr sz="39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19482" y="5256567"/>
            <a:ext cx="9485630" cy="1878330"/>
          </a:xfrm>
          <a:prstGeom prst="rect">
            <a:avLst/>
          </a:prstGeom>
        </p:spPr>
        <p:txBody>
          <a:bodyPr vert="horz" wrap="square" lIns="0" tIns="33655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2650"/>
              </a:spcBef>
            </a:pPr>
            <a:r>
              <a:rPr sz="3950" spc="315" dirty="0">
                <a:solidFill>
                  <a:srgbClr val="017100"/>
                </a:solidFill>
                <a:latin typeface="Microsoft Sans Serif"/>
                <a:cs typeface="Microsoft Sans Serif"/>
              </a:rPr>
              <a:t>//</a:t>
            </a:r>
            <a:r>
              <a:rPr sz="3950" spc="-15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950" spc="-95" dirty="0">
                <a:solidFill>
                  <a:srgbClr val="017100"/>
                </a:solidFill>
                <a:latin typeface="Lucida Sans Unicode"/>
                <a:cs typeface="Lucida Sans Unicode"/>
              </a:rPr>
              <a:t>структуру</a:t>
            </a:r>
            <a:r>
              <a:rPr sz="3950" spc="-210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3950" spc="-95" dirty="0">
                <a:solidFill>
                  <a:srgbClr val="017100"/>
                </a:solidFill>
                <a:latin typeface="Lucida Sans Unicode"/>
                <a:cs typeface="Lucida Sans Unicode"/>
              </a:rPr>
              <a:t>адреса</a:t>
            </a:r>
            <a:r>
              <a:rPr sz="3950" spc="-210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3950" spc="-100" dirty="0">
                <a:solidFill>
                  <a:srgbClr val="017100"/>
                </a:solidFill>
                <a:latin typeface="Lucida Sans Unicode"/>
                <a:cs typeface="Lucida Sans Unicode"/>
              </a:rPr>
              <a:t>подключения</a:t>
            </a:r>
            <a:endParaRPr sz="39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2555"/>
              </a:spcBef>
            </a:pPr>
            <a:r>
              <a:rPr sz="3950" spc="135" dirty="0">
                <a:solidFill>
                  <a:srgbClr val="017100"/>
                </a:solidFill>
                <a:latin typeface="Microsoft Sans Serif"/>
                <a:cs typeface="Microsoft Sans Serif"/>
              </a:rPr>
              <a:t>/</a:t>
            </a:r>
            <a:r>
              <a:rPr sz="3950" spc="495" dirty="0">
                <a:solidFill>
                  <a:srgbClr val="017100"/>
                </a:solidFill>
                <a:latin typeface="Microsoft Sans Serif"/>
                <a:cs typeface="Microsoft Sans Serif"/>
              </a:rPr>
              <a:t>/</a:t>
            </a:r>
            <a:r>
              <a:rPr sz="3950" spc="-5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950" spc="-290" dirty="0">
                <a:solidFill>
                  <a:srgbClr val="017100"/>
                </a:solidFill>
                <a:latin typeface="Lucida Sans Unicode"/>
                <a:cs typeface="Lucida Sans Unicode"/>
              </a:rPr>
              <a:t>р</a:t>
            </a:r>
            <a:r>
              <a:rPr sz="3950" spc="15" dirty="0">
                <a:solidFill>
                  <a:srgbClr val="017100"/>
                </a:solidFill>
                <a:latin typeface="Lucida Sans Unicode"/>
                <a:cs typeface="Lucida Sans Unicode"/>
              </a:rPr>
              <a:t>а</a:t>
            </a:r>
            <a:r>
              <a:rPr sz="3950" spc="-55" dirty="0">
                <a:solidFill>
                  <a:srgbClr val="017100"/>
                </a:solidFill>
                <a:latin typeface="Lucida Sans Unicode"/>
                <a:cs typeface="Lucida Sans Unicode"/>
              </a:rPr>
              <a:t>зме</a:t>
            </a:r>
            <a:r>
              <a:rPr sz="3950" spc="-290" dirty="0">
                <a:solidFill>
                  <a:srgbClr val="017100"/>
                </a:solidFill>
                <a:latin typeface="Lucida Sans Unicode"/>
                <a:cs typeface="Lucida Sans Unicode"/>
              </a:rPr>
              <a:t>р</a:t>
            </a:r>
            <a:r>
              <a:rPr sz="3950" spc="-204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3950" spc="-70" dirty="0">
                <a:solidFill>
                  <a:srgbClr val="017100"/>
                </a:solidFill>
                <a:latin typeface="Lucida Sans Unicode"/>
                <a:cs typeface="Lucida Sans Unicode"/>
              </a:rPr>
              <a:t>реаль</a:t>
            </a:r>
            <a:r>
              <a:rPr sz="3950" spc="-225" dirty="0">
                <a:solidFill>
                  <a:srgbClr val="017100"/>
                </a:solidFill>
                <a:latin typeface="Lucida Sans Unicode"/>
                <a:cs typeface="Lucida Sans Unicode"/>
              </a:rPr>
              <a:t>ной</a:t>
            </a:r>
            <a:r>
              <a:rPr sz="3950" spc="-200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3950" spc="-105" dirty="0">
                <a:solidFill>
                  <a:srgbClr val="017100"/>
                </a:solidFill>
                <a:latin typeface="Lucida Sans Unicode"/>
                <a:cs typeface="Lucida Sans Unicode"/>
              </a:rPr>
              <a:t>стр</a:t>
            </a:r>
            <a:r>
              <a:rPr sz="3950" spc="-30" dirty="0">
                <a:solidFill>
                  <a:srgbClr val="017100"/>
                </a:solidFill>
                <a:latin typeface="Lucida Sans Unicode"/>
                <a:cs typeface="Lucida Sans Unicode"/>
              </a:rPr>
              <a:t>у</a:t>
            </a:r>
            <a:r>
              <a:rPr sz="3950" spc="-35" dirty="0">
                <a:solidFill>
                  <a:srgbClr val="017100"/>
                </a:solidFill>
                <a:latin typeface="Lucida Sans Unicode"/>
                <a:cs typeface="Lucida Sans Unicode"/>
              </a:rPr>
              <a:t>к</a:t>
            </a:r>
            <a:r>
              <a:rPr sz="3950" spc="-120" dirty="0">
                <a:solidFill>
                  <a:srgbClr val="017100"/>
                </a:solidFill>
                <a:latin typeface="Lucida Sans Unicode"/>
                <a:cs typeface="Lucida Sans Unicode"/>
              </a:rPr>
              <a:t>тур</a:t>
            </a:r>
            <a:r>
              <a:rPr sz="3950" dirty="0">
                <a:solidFill>
                  <a:srgbClr val="017100"/>
                </a:solidFill>
                <a:latin typeface="Lucida Sans Unicode"/>
                <a:cs typeface="Lucida Sans Unicode"/>
              </a:rPr>
              <a:t>ы</a:t>
            </a:r>
            <a:r>
              <a:rPr sz="3950" spc="-204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3950" spc="114" dirty="0">
                <a:solidFill>
                  <a:srgbClr val="017100"/>
                </a:solidFill>
                <a:latin typeface="Microsoft Sans Serif"/>
                <a:cs typeface="Microsoft Sans Serif"/>
              </a:rPr>
              <a:t>soc</a:t>
            </a:r>
            <a:r>
              <a:rPr sz="3950" spc="90" dirty="0">
                <a:solidFill>
                  <a:srgbClr val="017100"/>
                </a:solidFill>
                <a:latin typeface="Microsoft Sans Serif"/>
                <a:cs typeface="Microsoft Sans Serif"/>
              </a:rPr>
              <a:t>k</a:t>
            </a:r>
            <a:r>
              <a:rPr sz="3950" spc="170" dirty="0">
                <a:solidFill>
                  <a:srgbClr val="017100"/>
                </a:solidFill>
                <a:latin typeface="Microsoft Sans Serif"/>
                <a:cs typeface="Microsoft Sans Serif"/>
              </a:rPr>
              <a:t>addr</a:t>
            </a:r>
            <a:endParaRPr sz="39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2164" y="6506351"/>
            <a:ext cx="414591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50" dirty="0">
                <a:latin typeface="Microsoft Sans Serif"/>
                <a:cs typeface="Microsoft Sans Serif"/>
              </a:rPr>
              <a:t>socklen_t</a:t>
            </a:r>
            <a:r>
              <a:rPr sz="3950" spc="-65" dirty="0">
                <a:latin typeface="Microsoft Sans Serif"/>
                <a:cs typeface="Microsoft Sans Serif"/>
              </a:rPr>
              <a:t> </a:t>
            </a:r>
            <a:r>
              <a:rPr sz="3950" spc="145" dirty="0">
                <a:latin typeface="Microsoft Sans Serif"/>
                <a:cs typeface="Microsoft Sans Serif"/>
              </a:rPr>
              <a:t>addrlen</a:t>
            </a:r>
            <a:endParaRPr sz="39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1881" y="7432805"/>
            <a:ext cx="187325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-45" dirty="0">
                <a:latin typeface="Microsoft Sans Serif"/>
                <a:cs typeface="Microsoft Sans Serif"/>
              </a:rPr>
              <a:t>)</a:t>
            </a:r>
            <a:endParaRPr sz="395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015734" y="1018854"/>
            <a:ext cx="1951715" cy="62132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-105" dirty="0">
                <a:solidFill>
                  <a:srgbClr val="003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  <a:endParaRPr sz="39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43768C-6BD3-4D09-B4B8-DA4BA7210820}"/>
              </a:ext>
            </a:extLst>
          </p:cNvPr>
          <p:cNvSpPr txBox="1"/>
          <p:nvPr/>
        </p:nvSpPr>
        <p:spPr>
          <a:xfrm flipH="1">
            <a:off x="1650915" y="9090167"/>
            <a:ext cx="16741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Attempts to make a connection to the socket that is bound to the address specified by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addr</a:t>
            </a:r>
            <a:r>
              <a:rPr lang="en-US" dirty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21545" y="832090"/>
            <a:ext cx="806132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45" dirty="0"/>
              <a:t>s</a:t>
            </a:r>
            <a:r>
              <a:rPr spc="-375" dirty="0"/>
              <a:t>o</a:t>
            </a:r>
            <a:r>
              <a:rPr spc="-45" dirty="0"/>
              <a:t>c</a:t>
            </a:r>
            <a:r>
              <a:rPr spc="-270" dirty="0"/>
              <a:t>k</a:t>
            </a:r>
            <a:r>
              <a:rPr spc="-145" dirty="0"/>
              <a:t>a</a:t>
            </a:r>
            <a:r>
              <a:rPr spc="-15" dirty="0"/>
              <a:t>dd</a:t>
            </a:r>
            <a:r>
              <a:rPr spc="145" dirty="0"/>
              <a:t>r</a:t>
            </a:r>
            <a:r>
              <a:rPr spc="-800" dirty="0"/>
              <a:t> </a:t>
            </a:r>
            <a:r>
              <a:rPr spc="-135" dirty="0"/>
              <a:t>(</a:t>
            </a:r>
            <a:r>
              <a:rPr spc="-210" dirty="0"/>
              <a:t>A</a:t>
            </a:r>
            <a:r>
              <a:rPr spc="-500" dirty="0"/>
              <a:t>F</a:t>
            </a:r>
            <a:r>
              <a:rPr spc="-1150" dirty="0"/>
              <a:t>_</a:t>
            </a:r>
            <a:r>
              <a:rPr spc="-75" dirty="0"/>
              <a:t>U</a:t>
            </a:r>
            <a:r>
              <a:rPr spc="55" dirty="0"/>
              <a:t>N</a:t>
            </a:r>
            <a:r>
              <a:rPr spc="120" dirty="0"/>
              <a:t>I</a:t>
            </a:r>
            <a:r>
              <a:rPr spc="165" dirty="0"/>
              <a:t>X</a:t>
            </a:r>
            <a:r>
              <a:rPr spc="75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81021"/>
            <a:ext cx="12700000" cy="6485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145655">
              <a:lnSpc>
                <a:spcPct val="153100"/>
              </a:lnSpc>
              <a:spcBef>
                <a:spcPts val="95"/>
              </a:spcBef>
            </a:pPr>
            <a:r>
              <a:rPr sz="3950" spc="114" dirty="0">
                <a:solidFill>
                  <a:srgbClr val="017100"/>
                </a:solidFill>
                <a:latin typeface="Microsoft Sans Serif"/>
                <a:cs typeface="Microsoft Sans Serif"/>
              </a:rPr>
              <a:t>#include</a:t>
            </a:r>
            <a:r>
              <a:rPr sz="3950" spc="-4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950" spc="30" dirty="0">
                <a:solidFill>
                  <a:srgbClr val="017100"/>
                </a:solidFill>
                <a:latin typeface="Microsoft Sans Serif"/>
                <a:cs typeface="Microsoft Sans Serif"/>
              </a:rPr>
              <a:t>&lt;sys/socket.h&gt; </a:t>
            </a:r>
            <a:r>
              <a:rPr sz="3950" spc="-103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950" spc="114" dirty="0">
                <a:solidFill>
                  <a:srgbClr val="017100"/>
                </a:solidFill>
                <a:latin typeface="Microsoft Sans Serif"/>
                <a:cs typeface="Microsoft Sans Serif"/>
              </a:rPr>
              <a:t>#include</a:t>
            </a:r>
            <a:r>
              <a:rPr sz="3950" spc="-15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950" spc="5" dirty="0">
                <a:solidFill>
                  <a:srgbClr val="017100"/>
                </a:solidFill>
                <a:latin typeface="Microsoft Sans Serif"/>
                <a:cs typeface="Microsoft Sans Serif"/>
              </a:rPr>
              <a:t>&lt;sys/un.h&gt;</a:t>
            </a:r>
            <a:endParaRPr sz="39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53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775"/>
              </a:spcBef>
            </a:pPr>
            <a:r>
              <a:rPr sz="3950" spc="190" dirty="0">
                <a:latin typeface="Microsoft Sans Serif"/>
                <a:cs typeface="Microsoft Sans Serif"/>
              </a:rPr>
              <a:t>struct</a:t>
            </a:r>
            <a:r>
              <a:rPr sz="3950" spc="-35" dirty="0">
                <a:latin typeface="Microsoft Sans Serif"/>
                <a:cs typeface="Microsoft Sans Serif"/>
              </a:rPr>
              <a:t> </a:t>
            </a:r>
            <a:r>
              <a:rPr sz="3950" spc="75" dirty="0">
                <a:latin typeface="Microsoft Sans Serif"/>
                <a:cs typeface="Microsoft Sans Serif"/>
              </a:rPr>
              <a:t>sockaddr_un</a:t>
            </a:r>
            <a:r>
              <a:rPr sz="3950" spc="-30" dirty="0">
                <a:latin typeface="Microsoft Sans Serif"/>
                <a:cs typeface="Microsoft Sans Serif"/>
              </a:rPr>
              <a:t> </a:t>
            </a:r>
            <a:r>
              <a:rPr sz="3950" spc="185" dirty="0">
                <a:latin typeface="Microsoft Sans Serif"/>
                <a:cs typeface="Microsoft Sans Serif"/>
              </a:rPr>
              <a:t>{</a:t>
            </a:r>
            <a:endParaRPr sz="3950" dirty="0">
              <a:latin typeface="Microsoft Sans Serif"/>
              <a:cs typeface="Microsoft Sans Serif"/>
            </a:endParaRPr>
          </a:p>
          <a:p>
            <a:pPr marL="278765" marR="5080">
              <a:lnSpc>
                <a:spcPts val="7290"/>
              </a:lnSpc>
              <a:spcBef>
                <a:spcPts val="630"/>
              </a:spcBef>
              <a:tabLst>
                <a:tab pos="2658110" algn="l"/>
                <a:tab pos="3185795" algn="l"/>
                <a:tab pos="6313805" algn="l"/>
              </a:tabLst>
            </a:pPr>
            <a:r>
              <a:rPr sz="3950" spc="-140" dirty="0">
                <a:latin typeface="Microsoft Sans Serif"/>
                <a:cs typeface="Microsoft Sans Serif"/>
              </a:rPr>
              <a:t>sa_</a:t>
            </a:r>
            <a:r>
              <a:rPr sz="3950" spc="-114" dirty="0">
                <a:latin typeface="Microsoft Sans Serif"/>
                <a:cs typeface="Microsoft Sans Serif"/>
              </a:rPr>
              <a:t>f</a:t>
            </a:r>
            <a:r>
              <a:rPr sz="3950" spc="35" dirty="0">
                <a:latin typeface="Microsoft Sans Serif"/>
                <a:cs typeface="Microsoft Sans Serif"/>
              </a:rPr>
              <a:t>amily_t</a:t>
            </a:r>
            <a:r>
              <a:rPr sz="3950" dirty="0">
                <a:latin typeface="Microsoft Sans Serif"/>
                <a:cs typeface="Microsoft Sans Serif"/>
              </a:rPr>
              <a:t>	</a:t>
            </a:r>
            <a:r>
              <a:rPr sz="3950" spc="-25" dirty="0">
                <a:latin typeface="Microsoft Sans Serif"/>
                <a:cs typeface="Microsoft Sans Serif"/>
              </a:rPr>
              <a:t>sun_</a:t>
            </a:r>
            <a:r>
              <a:rPr sz="3950" spc="-55" dirty="0">
                <a:latin typeface="Microsoft Sans Serif"/>
                <a:cs typeface="Microsoft Sans Serif"/>
              </a:rPr>
              <a:t>f</a:t>
            </a:r>
            <a:r>
              <a:rPr sz="3950" spc="114" dirty="0">
                <a:latin typeface="Microsoft Sans Serif"/>
                <a:cs typeface="Microsoft Sans Serif"/>
              </a:rPr>
              <a:t>amil</a:t>
            </a:r>
            <a:r>
              <a:rPr sz="3950" spc="45" dirty="0">
                <a:latin typeface="Microsoft Sans Serif"/>
                <a:cs typeface="Microsoft Sans Serif"/>
              </a:rPr>
              <a:t>y</a:t>
            </a:r>
            <a:r>
              <a:rPr sz="3950" spc="55" dirty="0">
                <a:latin typeface="Microsoft Sans Serif"/>
                <a:cs typeface="Microsoft Sans Serif"/>
              </a:rPr>
              <a:t>;</a:t>
            </a:r>
            <a:r>
              <a:rPr sz="3950" dirty="0">
                <a:latin typeface="Microsoft Sans Serif"/>
                <a:cs typeface="Microsoft Sans Serif"/>
              </a:rPr>
              <a:t>	</a:t>
            </a:r>
            <a:r>
              <a:rPr sz="3950" spc="135" dirty="0">
                <a:solidFill>
                  <a:srgbClr val="017100"/>
                </a:solidFill>
                <a:latin typeface="Microsoft Sans Serif"/>
                <a:cs typeface="Microsoft Sans Serif"/>
              </a:rPr>
              <a:t>/</a:t>
            </a:r>
            <a:r>
              <a:rPr sz="3950" spc="495" dirty="0">
                <a:solidFill>
                  <a:srgbClr val="017100"/>
                </a:solidFill>
                <a:latin typeface="Microsoft Sans Serif"/>
                <a:cs typeface="Microsoft Sans Serif"/>
              </a:rPr>
              <a:t>/</a:t>
            </a:r>
            <a:r>
              <a:rPr sz="3950" spc="-5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950" spc="-275" dirty="0">
                <a:solidFill>
                  <a:srgbClr val="017100"/>
                </a:solidFill>
                <a:latin typeface="Lucida Sans Unicode"/>
                <a:cs typeface="Lucida Sans Unicode"/>
              </a:rPr>
              <a:t>н</a:t>
            </a:r>
            <a:r>
              <a:rPr sz="3950" spc="45" dirty="0">
                <a:solidFill>
                  <a:srgbClr val="017100"/>
                </a:solidFill>
                <a:latin typeface="Lucida Sans Unicode"/>
                <a:cs typeface="Lucida Sans Unicode"/>
              </a:rPr>
              <a:t>у</a:t>
            </a:r>
            <a:r>
              <a:rPr sz="3950" spc="60" dirty="0">
                <a:solidFill>
                  <a:srgbClr val="017100"/>
                </a:solidFill>
                <a:latin typeface="Lucida Sans Unicode"/>
                <a:cs typeface="Lucida Sans Unicode"/>
              </a:rPr>
              <a:t>ж</a:t>
            </a:r>
            <a:r>
              <a:rPr sz="3950" spc="-275" dirty="0">
                <a:solidFill>
                  <a:srgbClr val="017100"/>
                </a:solidFill>
                <a:latin typeface="Lucida Sans Unicode"/>
                <a:cs typeface="Lucida Sans Unicode"/>
              </a:rPr>
              <a:t>н</a:t>
            </a:r>
            <a:r>
              <a:rPr sz="3950" spc="-229" dirty="0">
                <a:solidFill>
                  <a:srgbClr val="017100"/>
                </a:solidFill>
                <a:latin typeface="Lucida Sans Unicode"/>
                <a:cs typeface="Lucida Sans Unicode"/>
              </a:rPr>
              <a:t>о</a:t>
            </a:r>
            <a:r>
              <a:rPr sz="3950" spc="-204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3950" spc="50" dirty="0">
                <a:solidFill>
                  <a:srgbClr val="017100"/>
                </a:solidFill>
                <a:latin typeface="Lucida Sans Unicode"/>
                <a:cs typeface="Lucida Sans Unicode"/>
              </a:rPr>
              <a:t>за</a:t>
            </a:r>
            <a:r>
              <a:rPr sz="3950" spc="-275" dirty="0">
                <a:solidFill>
                  <a:srgbClr val="017100"/>
                </a:solidFill>
                <a:latin typeface="Lucida Sans Unicode"/>
                <a:cs typeface="Lucida Sans Unicode"/>
              </a:rPr>
              <a:t>п</a:t>
            </a:r>
            <a:r>
              <a:rPr sz="3950" spc="-170" dirty="0">
                <a:solidFill>
                  <a:srgbClr val="017100"/>
                </a:solidFill>
                <a:latin typeface="Lucida Sans Unicode"/>
                <a:cs typeface="Lucida Sans Unicode"/>
              </a:rPr>
              <a:t>и</a:t>
            </a:r>
            <a:r>
              <a:rPr sz="3950" spc="-15" dirty="0">
                <a:solidFill>
                  <a:srgbClr val="017100"/>
                </a:solidFill>
                <a:latin typeface="Lucida Sans Unicode"/>
                <a:cs typeface="Lucida Sans Unicode"/>
              </a:rPr>
              <a:t>са</a:t>
            </a:r>
            <a:r>
              <a:rPr sz="3950" dirty="0">
                <a:solidFill>
                  <a:srgbClr val="017100"/>
                </a:solidFill>
                <a:latin typeface="Lucida Sans Unicode"/>
                <a:cs typeface="Lucida Sans Unicode"/>
              </a:rPr>
              <a:t>ть</a:t>
            </a:r>
            <a:r>
              <a:rPr sz="3950" spc="-204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3950" spc="-125" dirty="0">
                <a:solidFill>
                  <a:srgbClr val="017100"/>
                </a:solidFill>
                <a:latin typeface="Microsoft Sans Serif"/>
                <a:cs typeface="Microsoft Sans Serif"/>
              </a:rPr>
              <a:t>AF_UNIX  </a:t>
            </a:r>
            <a:r>
              <a:rPr sz="3950" spc="140" dirty="0">
                <a:latin typeface="Microsoft Sans Serif"/>
                <a:cs typeface="Microsoft Sans Serif"/>
              </a:rPr>
              <a:t>char	</a:t>
            </a:r>
            <a:r>
              <a:rPr sz="3950" spc="70" dirty="0">
                <a:latin typeface="Microsoft Sans Serif"/>
                <a:cs typeface="Microsoft Sans Serif"/>
              </a:rPr>
              <a:t>sun_path[108];</a:t>
            </a:r>
            <a:r>
              <a:rPr sz="3950" spc="-10" dirty="0">
                <a:latin typeface="Microsoft Sans Serif"/>
                <a:cs typeface="Microsoft Sans Serif"/>
              </a:rPr>
              <a:t> </a:t>
            </a:r>
            <a:r>
              <a:rPr sz="3950" spc="315" dirty="0">
                <a:solidFill>
                  <a:srgbClr val="017100"/>
                </a:solidFill>
                <a:latin typeface="Microsoft Sans Serif"/>
                <a:cs typeface="Microsoft Sans Serif"/>
              </a:rPr>
              <a:t>//</a:t>
            </a:r>
            <a:r>
              <a:rPr sz="3950" spc="-1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950" spc="-95" dirty="0">
                <a:solidFill>
                  <a:srgbClr val="017100"/>
                </a:solidFill>
                <a:latin typeface="Lucida Sans Unicode"/>
                <a:cs typeface="Lucida Sans Unicode"/>
              </a:rPr>
              <a:t>путь</a:t>
            </a:r>
            <a:r>
              <a:rPr sz="3950" spc="-204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3950" spc="45" dirty="0">
                <a:solidFill>
                  <a:srgbClr val="017100"/>
                </a:solidFill>
                <a:latin typeface="Lucida Sans Unicode"/>
                <a:cs typeface="Lucida Sans Unicode"/>
              </a:rPr>
              <a:t>к</a:t>
            </a:r>
            <a:r>
              <a:rPr sz="3950" spc="-210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3950" spc="-40" dirty="0">
                <a:solidFill>
                  <a:srgbClr val="017100"/>
                </a:solidFill>
                <a:latin typeface="Lucida Sans Unicode"/>
                <a:cs typeface="Lucida Sans Unicode"/>
              </a:rPr>
              <a:t>файлу</a:t>
            </a:r>
            <a:r>
              <a:rPr sz="3950" spc="-204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3950" spc="-30" dirty="0">
                <a:solidFill>
                  <a:srgbClr val="017100"/>
                </a:solidFill>
                <a:latin typeface="Lucida Sans Unicode"/>
                <a:cs typeface="Lucida Sans Unicode"/>
              </a:rPr>
              <a:t>сокета</a:t>
            </a:r>
            <a:endParaRPr sz="395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895"/>
              </a:spcBef>
            </a:pPr>
            <a:r>
              <a:rPr sz="3950" spc="120" dirty="0">
                <a:latin typeface="Microsoft Sans Serif"/>
                <a:cs typeface="Microsoft Sans Serif"/>
              </a:rPr>
              <a:t>};</a:t>
            </a:r>
            <a:endParaRPr sz="39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34128" y="832090"/>
            <a:ext cx="783590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45" dirty="0"/>
              <a:t>s</a:t>
            </a:r>
            <a:r>
              <a:rPr spc="-375" dirty="0"/>
              <a:t>o</a:t>
            </a:r>
            <a:r>
              <a:rPr spc="-45" dirty="0"/>
              <a:t>c</a:t>
            </a:r>
            <a:r>
              <a:rPr spc="-270" dirty="0"/>
              <a:t>k</a:t>
            </a:r>
            <a:r>
              <a:rPr spc="-145" dirty="0"/>
              <a:t>a</a:t>
            </a:r>
            <a:r>
              <a:rPr spc="-15" dirty="0"/>
              <a:t>dd</a:t>
            </a:r>
            <a:r>
              <a:rPr spc="145" dirty="0"/>
              <a:t>r</a:t>
            </a:r>
            <a:r>
              <a:rPr spc="-800" dirty="0"/>
              <a:t> </a:t>
            </a:r>
            <a:r>
              <a:rPr spc="-135" dirty="0"/>
              <a:t>(</a:t>
            </a:r>
            <a:r>
              <a:rPr spc="-210" dirty="0"/>
              <a:t>A</a:t>
            </a:r>
            <a:r>
              <a:rPr spc="-500" dirty="0"/>
              <a:t>F</a:t>
            </a:r>
            <a:r>
              <a:rPr spc="-1150" dirty="0"/>
              <a:t>_</a:t>
            </a:r>
            <a:r>
              <a:rPr spc="120" dirty="0"/>
              <a:t>I</a:t>
            </a:r>
            <a:r>
              <a:rPr spc="55" dirty="0"/>
              <a:t>N</a:t>
            </a:r>
            <a:r>
              <a:rPr spc="-695" dirty="0"/>
              <a:t>E</a:t>
            </a:r>
            <a:r>
              <a:rPr spc="-225" dirty="0"/>
              <a:t>T</a:t>
            </a:r>
            <a:r>
              <a:rPr spc="75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589788"/>
            <a:ext cx="4050029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95" dirty="0">
                <a:solidFill>
                  <a:srgbClr val="017100"/>
                </a:solidFill>
                <a:latin typeface="Microsoft Sans Serif"/>
                <a:cs typeface="Microsoft Sans Serif"/>
              </a:rPr>
              <a:t>#include</a:t>
            </a:r>
            <a:r>
              <a:rPr sz="2950" spc="-8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2950" spc="85" dirty="0">
                <a:solidFill>
                  <a:srgbClr val="017100"/>
                </a:solidFill>
                <a:latin typeface="Microsoft Sans Serif"/>
                <a:cs typeface="Microsoft Sans Serif"/>
              </a:rPr>
              <a:t>&lt;netinet/ip.h&gt;</a:t>
            </a:r>
            <a:endParaRPr sz="29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6272" y="4544732"/>
            <a:ext cx="3502025" cy="153352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2950" spc="145" dirty="0">
                <a:latin typeface="Microsoft Sans Serif"/>
                <a:cs typeface="Microsoft Sans Serif"/>
              </a:rPr>
              <a:t>struct</a:t>
            </a:r>
            <a:r>
              <a:rPr sz="2950" spc="-15" dirty="0">
                <a:latin typeface="Microsoft Sans Serif"/>
                <a:cs typeface="Microsoft Sans Serif"/>
              </a:rPr>
              <a:t> </a:t>
            </a:r>
            <a:r>
              <a:rPr sz="2950" spc="55" dirty="0">
                <a:latin typeface="Microsoft Sans Serif"/>
                <a:cs typeface="Microsoft Sans Serif"/>
              </a:rPr>
              <a:t>sockaddr_in</a:t>
            </a:r>
            <a:r>
              <a:rPr sz="2950" spc="-10" dirty="0">
                <a:latin typeface="Microsoft Sans Serif"/>
                <a:cs typeface="Microsoft Sans Serif"/>
              </a:rPr>
              <a:t> </a:t>
            </a:r>
            <a:r>
              <a:rPr sz="2950" spc="145" dirty="0">
                <a:latin typeface="Microsoft Sans Serif"/>
                <a:cs typeface="Microsoft Sans Serif"/>
              </a:rPr>
              <a:t>{</a:t>
            </a:r>
            <a:endParaRPr sz="2950" dirty="0">
              <a:latin typeface="Microsoft Sans Serif"/>
              <a:cs typeface="Microsoft Sans Serif"/>
            </a:endParaRPr>
          </a:p>
          <a:p>
            <a:pPr marL="1510665" marR="102235">
              <a:lnSpc>
                <a:spcPct val="111800"/>
              </a:lnSpc>
            </a:pPr>
            <a:r>
              <a:rPr sz="2950" spc="-100" dirty="0">
                <a:latin typeface="Microsoft Sans Serif"/>
                <a:cs typeface="Microsoft Sans Serif"/>
              </a:rPr>
              <a:t>sa_</a:t>
            </a:r>
            <a:r>
              <a:rPr sz="2950" spc="-80" dirty="0">
                <a:latin typeface="Microsoft Sans Serif"/>
                <a:cs typeface="Microsoft Sans Serif"/>
              </a:rPr>
              <a:t>f</a:t>
            </a:r>
            <a:r>
              <a:rPr sz="2950" spc="30" dirty="0">
                <a:latin typeface="Microsoft Sans Serif"/>
                <a:cs typeface="Microsoft Sans Serif"/>
              </a:rPr>
              <a:t>amily_t  in_port_t</a:t>
            </a:r>
            <a:endParaRPr sz="295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67869" y="5047335"/>
            <a:ext cx="2031364" cy="1030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86690">
              <a:lnSpc>
                <a:spcPct val="111800"/>
              </a:lnSpc>
              <a:spcBef>
                <a:spcPts val="95"/>
              </a:spcBef>
            </a:pPr>
            <a:r>
              <a:rPr sz="2950" spc="-20" dirty="0">
                <a:latin typeface="Microsoft Sans Serif"/>
                <a:cs typeface="Microsoft Sans Serif"/>
              </a:rPr>
              <a:t>sin_</a:t>
            </a:r>
            <a:r>
              <a:rPr sz="2950" spc="-45" dirty="0">
                <a:latin typeface="Microsoft Sans Serif"/>
                <a:cs typeface="Microsoft Sans Serif"/>
              </a:rPr>
              <a:t>f</a:t>
            </a:r>
            <a:r>
              <a:rPr sz="2950" spc="90" dirty="0">
                <a:latin typeface="Microsoft Sans Serif"/>
                <a:cs typeface="Microsoft Sans Serif"/>
              </a:rPr>
              <a:t>amil</a:t>
            </a:r>
            <a:r>
              <a:rPr sz="2950" spc="40" dirty="0">
                <a:latin typeface="Microsoft Sans Serif"/>
                <a:cs typeface="Microsoft Sans Serif"/>
              </a:rPr>
              <a:t>y</a:t>
            </a:r>
            <a:r>
              <a:rPr sz="2950" spc="45" dirty="0">
                <a:latin typeface="Microsoft Sans Serif"/>
                <a:cs typeface="Microsoft Sans Serif"/>
              </a:rPr>
              <a:t>;  </a:t>
            </a:r>
            <a:r>
              <a:rPr sz="2950" spc="55" dirty="0">
                <a:latin typeface="Microsoft Sans Serif"/>
                <a:cs typeface="Microsoft Sans Serif"/>
              </a:rPr>
              <a:t>sin_port;</a:t>
            </a:r>
            <a:endParaRPr sz="29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66414" y="5047335"/>
            <a:ext cx="9661525" cy="153352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509"/>
              </a:spcBef>
            </a:pPr>
            <a:r>
              <a:rPr sz="2950" spc="240" dirty="0">
                <a:solidFill>
                  <a:srgbClr val="017100"/>
                </a:solidFill>
                <a:latin typeface="Microsoft Sans Serif"/>
                <a:cs typeface="Microsoft Sans Serif"/>
              </a:rPr>
              <a:t>//</a:t>
            </a:r>
            <a:r>
              <a:rPr sz="2950" spc="-15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2950" spc="60" dirty="0">
                <a:solidFill>
                  <a:srgbClr val="017100"/>
                </a:solidFill>
                <a:latin typeface="Microsoft Sans Serif"/>
                <a:cs typeface="Microsoft Sans Serif"/>
              </a:rPr>
              <a:t>address</a:t>
            </a:r>
            <a:r>
              <a:rPr sz="2950" spc="-15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2950" spc="90" dirty="0">
                <a:solidFill>
                  <a:srgbClr val="017100"/>
                </a:solidFill>
                <a:latin typeface="Microsoft Sans Serif"/>
                <a:cs typeface="Microsoft Sans Serif"/>
              </a:rPr>
              <a:t>family:</a:t>
            </a:r>
            <a:r>
              <a:rPr sz="2950" spc="-15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2950" spc="-145" dirty="0">
                <a:solidFill>
                  <a:srgbClr val="017100"/>
                </a:solidFill>
                <a:latin typeface="Microsoft Sans Serif"/>
                <a:cs typeface="Microsoft Sans Serif"/>
              </a:rPr>
              <a:t>AF_INET</a:t>
            </a:r>
            <a:endParaRPr sz="2950">
              <a:latin typeface="Microsoft Sans Serif"/>
              <a:cs typeface="Microsoft Sans Serif"/>
            </a:endParaRPr>
          </a:p>
          <a:p>
            <a:pPr marL="15240">
              <a:lnSpc>
                <a:spcPct val="100000"/>
              </a:lnSpc>
              <a:spcBef>
                <a:spcPts val="420"/>
              </a:spcBef>
            </a:pPr>
            <a:r>
              <a:rPr sz="2950" spc="240" dirty="0">
                <a:solidFill>
                  <a:srgbClr val="017100"/>
                </a:solidFill>
                <a:latin typeface="Microsoft Sans Serif"/>
                <a:cs typeface="Microsoft Sans Serif"/>
              </a:rPr>
              <a:t>//</a:t>
            </a:r>
            <a:r>
              <a:rPr sz="2950" spc="-1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2950" spc="185" dirty="0">
                <a:solidFill>
                  <a:srgbClr val="017100"/>
                </a:solidFill>
                <a:latin typeface="Microsoft Sans Serif"/>
                <a:cs typeface="Microsoft Sans Serif"/>
              </a:rPr>
              <a:t>port</a:t>
            </a:r>
            <a:r>
              <a:rPr sz="2950" spc="-5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2950" spc="105" dirty="0">
                <a:solidFill>
                  <a:srgbClr val="017100"/>
                </a:solidFill>
                <a:latin typeface="Microsoft Sans Serif"/>
                <a:cs typeface="Microsoft Sans Serif"/>
              </a:rPr>
              <a:t>in</a:t>
            </a:r>
            <a:r>
              <a:rPr sz="2950" spc="-1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2950" spc="135" dirty="0">
                <a:solidFill>
                  <a:srgbClr val="017100"/>
                </a:solidFill>
                <a:latin typeface="Microsoft Sans Serif"/>
                <a:cs typeface="Microsoft Sans Serif"/>
              </a:rPr>
              <a:t>network</a:t>
            </a:r>
            <a:r>
              <a:rPr sz="2950" spc="-5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2950" spc="145" dirty="0">
                <a:solidFill>
                  <a:srgbClr val="017100"/>
                </a:solidFill>
                <a:latin typeface="Microsoft Sans Serif"/>
                <a:cs typeface="Microsoft Sans Serif"/>
              </a:rPr>
              <a:t>byte</a:t>
            </a:r>
            <a:r>
              <a:rPr sz="2950" spc="-1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2950" spc="125" dirty="0">
                <a:solidFill>
                  <a:srgbClr val="017100"/>
                </a:solidFill>
                <a:latin typeface="Microsoft Sans Serif"/>
                <a:cs typeface="Microsoft Sans Serif"/>
              </a:rPr>
              <a:t>order</a:t>
            </a:r>
            <a:endParaRPr sz="2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2950" spc="105" dirty="0">
                <a:solidFill>
                  <a:srgbClr val="017100"/>
                </a:solidFill>
                <a:latin typeface="Microsoft Sans Serif"/>
                <a:cs typeface="Microsoft Sans Serif"/>
              </a:rPr>
              <a:t>/</a:t>
            </a:r>
            <a:r>
              <a:rPr sz="2950" spc="375" dirty="0">
                <a:solidFill>
                  <a:srgbClr val="017100"/>
                </a:solidFill>
                <a:latin typeface="Microsoft Sans Serif"/>
                <a:cs typeface="Microsoft Sans Serif"/>
              </a:rPr>
              <a:t>/</a:t>
            </a:r>
            <a:r>
              <a:rPr sz="295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2950" spc="130" dirty="0">
                <a:solidFill>
                  <a:srgbClr val="017100"/>
                </a:solidFill>
                <a:latin typeface="Microsoft Sans Serif"/>
                <a:cs typeface="Microsoft Sans Serif"/>
              </a:rPr>
              <a:t>internet</a:t>
            </a:r>
            <a:r>
              <a:rPr sz="295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2950" spc="145" dirty="0">
                <a:solidFill>
                  <a:srgbClr val="017100"/>
                </a:solidFill>
                <a:latin typeface="Microsoft Sans Serif"/>
                <a:cs typeface="Microsoft Sans Serif"/>
              </a:rPr>
              <a:t>add</a:t>
            </a:r>
            <a:r>
              <a:rPr sz="2950" spc="40" dirty="0">
                <a:solidFill>
                  <a:srgbClr val="017100"/>
                </a:solidFill>
                <a:latin typeface="Microsoft Sans Serif"/>
                <a:cs typeface="Microsoft Sans Serif"/>
              </a:rPr>
              <a:t>r</a:t>
            </a:r>
            <a:r>
              <a:rPr sz="2950" spc="55" dirty="0">
                <a:solidFill>
                  <a:srgbClr val="017100"/>
                </a:solidFill>
                <a:latin typeface="Microsoft Sans Serif"/>
                <a:cs typeface="Microsoft Sans Serif"/>
              </a:rPr>
              <a:t>e</a:t>
            </a:r>
            <a:r>
              <a:rPr sz="2950" spc="-55" dirty="0">
                <a:solidFill>
                  <a:srgbClr val="017100"/>
                </a:solidFill>
                <a:latin typeface="Microsoft Sans Serif"/>
                <a:cs typeface="Microsoft Sans Serif"/>
              </a:rPr>
              <a:t>ss</a:t>
            </a:r>
            <a:r>
              <a:rPr sz="295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2950" spc="-30" dirty="0">
                <a:solidFill>
                  <a:srgbClr val="017100"/>
                </a:solidFill>
                <a:latin typeface="Microsoft Sans Serif"/>
                <a:cs typeface="Microsoft Sans Serif"/>
              </a:rPr>
              <a:t>(</a:t>
            </a:r>
            <a:r>
              <a:rPr sz="2950" spc="-70" dirty="0">
                <a:solidFill>
                  <a:srgbClr val="017100"/>
                </a:solidFill>
                <a:latin typeface="Lucida Sans Unicode"/>
                <a:cs typeface="Lucida Sans Unicode"/>
              </a:rPr>
              <a:t>стр</a:t>
            </a:r>
            <a:r>
              <a:rPr sz="2950" spc="-15" dirty="0">
                <a:solidFill>
                  <a:srgbClr val="017100"/>
                </a:solidFill>
                <a:latin typeface="Lucida Sans Unicode"/>
                <a:cs typeface="Lucida Sans Unicode"/>
              </a:rPr>
              <a:t>у</a:t>
            </a:r>
            <a:r>
              <a:rPr sz="2950" spc="-20" dirty="0">
                <a:solidFill>
                  <a:srgbClr val="017100"/>
                </a:solidFill>
                <a:latin typeface="Lucida Sans Unicode"/>
                <a:cs typeface="Lucida Sans Unicode"/>
              </a:rPr>
              <a:t>к</a:t>
            </a:r>
            <a:r>
              <a:rPr sz="2950" spc="-85" dirty="0">
                <a:solidFill>
                  <a:srgbClr val="017100"/>
                </a:solidFill>
                <a:latin typeface="Lucida Sans Unicode"/>
                <a:cs typeface="Lucida Sans Unicode"/>
              </a:rPr>
              <a:t>тур</a:t>
            </a:r>
            <a:r>
              <a:rPr sz="2950" spc="20" dirty="0">
                <a:solidFill>
                  <a:srgbClr val="017100"/>
                </a:solidFill>
                <a:latin typeface="Lucida Sans Unicode"/>
                <a:cs typeface="Lucida Sans Unicode"/>
              </a:rPr>
              <a:t>а</a:t>
            </a:r>
            <a:r>
              <a:rPr sz="2950" spc="-150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2950" spc="-25" dirty="0">
                <a:solidFill>
                  <a:srgbClr val="017100"/>
                </a:solidFill>
                <a:latin typeface="Lucida Sans Unicode"/>
                <a:cs typeface="Lucida Sans Unicode"/>
              </a:rPr>
              <a:t>из</a:t>
            </a:r>
            <a:r>
              <a:rPr sz="2950" spc="-150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2950" spc="-165" dirty="0">
                <a:solidFill>
                  <a:srgbClr val="017100"/>
                </a:solidFill>
                <a:latin typeface="Lucida Sans Unicode"/>
                <a:cs typeface="Lucida Sans Unicode"/>
              </a:rPr>
              <a:t>о</a:t>
            </a:r>
            <a:r>
              <a:rPr sz="2950" spc="-195" dirty="0">
                <a:solidFill>
                  <a:srgbClr val="017100"/>
                </a:solidFill>
                <a:latin typeface="Lucida Sans Unicode"/>
                <a:cs typeface="Lucida Sans Unicode"/>
              </a:rPr>
              <a:t>дн</a:t>
            </a:r>
            <a:r>
              <a:rPr sz="2950" spc="-165" dirty="0">
                <a:solidFill>
                  <a:srgbClr val="017100"/>
                </a:solidFill>
                <a:latin typeface="Lucida Sans Unicode"/>
                <a:cs typeface="Lucida Sans Unicode"/>
              </a:rPr>
              <a:t>о</a:t>
            </a:r>
            <a:r>
              <a:rPr sz="2950" spc="-270" dirty="0">
                <a:solidFill>
                  <a:srgbClr val="017100"/>
                </a:solidFill>
                <a:latin typeface="Lucida Sans Unicode"/>
                <a:cs typeface="Lucida Sans Unicode"/>
              </a:rPr>
              <a:t>г</a:t>
            </a:r>
            <a:r>
              <a:rPr sz="2950" spc="-165" dirty="0">
                <a:solidFill>
                  <a:srgbClr val="017100"/>
                </a:solidFill>
                <a:latin typeface="Lucida Sans Unicode"/>
                <a:cs typeface="Lucida Sans Unicode"/>
              </a:rPr>
              <a:t>о</a:t>
            </a:r>
            <a:r>
              <a:rPr sz="2950" spc="-150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2950" spc="-60" dirty="0">
                <a:solidFill>
                  <a:srgbClr val="017100"/>
                </a:solidFill>
                <a:latin typeface="Lucida Sans Unicode"/>
                <a:cs typeface="Lucida Sans Unicode"/>
              </a:rPr>
              <a:t>поля</a:t>
            </a:r>
            <a:r>
              <a:rPr sz="2950" spc="-150" dirty="0">
                <a:solidFill>
                  <a:srgbClr val="017100"/>
                </a:solidFill>
                <a:latin typeface="Lucida Sans Unicode"/>
                <a:cs typeface="Lucida Sans Unicode"/>
              </a:rPr>
              <a:t> </a:t>
            </a:r>
            <a:r>
              <a:rPr sz="2950" spc="50" dirty="0">
                <a:solidFill>
                  <a:srgbClr val="017100"/>
                </a:solidFill>
                <a:latin typeface="Microsoft Sans Serif"/>
                <a:cs typeface="Microsoft Sans Serif"/>
              </a:rPr>
              <a:t>uint32_t)</a:t>
            </a:r>
            <a:endParaRPr sz="295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74655" y="6102800"/>
            <a:ext cx="4117975" cy="4781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950" spc="145" dirty="0">
                <a:latin typeface="Microsoft Sans Serif"/>
                <a:cs typeface="Microsoft Sans Serif"/>
              </a:rPr>
              <a:t>struct</a:t>
            </a:r>
            <a:r>
              <a:rPr sz="2950" spc="-15" dirty="0">
                <a:latin typeface="Microsoft Sans Serif"/>
                <a:cs typeface="Microsoft Sans Serif"/>
              </a:rPr>
              <a:t> </a:t>
            </a:r>
            <a:r>
              <a:rPr sz="2950" spc="40" dirty="0">
                <a:latin typeface="Microsoft Sans Serif"/>
                <a:cs typeface="Microsoft Sans Serif"/>
              </a:rPr>
              <a:t>in_addr</a:t>
            </a:r>
            <a:r>
              <a:rPr sz="2950" spc="-10" dirty="0">
                <a:latin typeface="Microsoft Sans Serif"/>
                <a:cs typeface="Microsoft Sans Serif"/>
              </a:rPr>
              <a:t> </a:t>
            </a:r>
            <a:r>
              <a:rPr sz="2950" spc="25" dirty="0">
                <a:latin typeface="Microsoft Sans Serif"/>
                <a:cs typeface="Microsoft Sans Serif"/>
              </a:rPr>
              <a:t>sin_addr;</a:t>
            </a:r>
            <a:endParaRPr sz="29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6272" y="6558905"/>
            <a:ext cx="1377950" cy="103060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111250">
              <a:lnSpc>
                <a:spcPct val="100000"/>
              </a:lnSpc>
              <a:spcBef>
                <a:spcPts val="509"/>
              </a:spcBef>
            </a:pPr>
            <a:r>
              <a:rPr sz="2950" spc="95" dirty="0">
                <a:latin typeface="Microsoft Sans Serif"/>
                <a:cs typeface="Microsoft Sans Serif"/>
              </a:rPr>
              <a:t>};</a:t>
            </a:r>
            <a:endParaRPr sz="29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950" spc="-50" dirty="0">
                <a:solidFill>
                  <a:srgbClr val="E6EDF3"/>
                </a:solidFill>
                <a:latin typeface="Microsoft Sans Serif"/>
                <a:cs typeface="Microsoft Sans Serif"/>
              </a:rPr>
              <a:t>•</a:t>
            </a:r>
            <a:endParaRPr sz="29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50973" y="832090"/>
            <a:ext cx="278955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29" dirty="0"/>
              <a:t>Endian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584781"/>
            <a:ext cx="17087850" cy="57727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350" spc="110" dirty="0">
                <a:solidFill>
                  <a:srgbClr val="017100"/>
                </a:solidFill>
                <a:latin typeface="Microsoft Sans Serif"/>
                <a:cs typeface="Microsoft Sans Serif"/>
              </a:rPr>
              <a:t>#include</a:t>
            </a:r>
            <a:r>
              <a:rPr sz="3350" spc="-25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350" spc="75" dirty="0">
                <a:solidFill>
                  <a:srgbClr val="017100"/>
                </a:solidFill>
                <a:latin typeface="Microsoft Sans Serif"/>
                <a:cs typeface="Microsoft Sans Serif"/>
              </a:rPr>
              <a:t>&lt;arpa/inet.h&gt;</a:t>
            </a:r>
            <a:endParaRPr sz="33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5650" dirty="0">
              <a:latin typeface="Microsoft Sans Serif"/>
              <a:cs typeface="Microsoft Sans Serif"/>
            </a:endParaRPr>
          </a:p>
          <a:p>
            <a:pPr marL="12700" marR="5080">
              <a:lnSpc>
                <a:spcPct val="160800"/>
              </a:lnSpc>
            </a:pPr>
            <a:r>
              <a:rPr sz="3350" spc="75" dirty="0">
                <a:latin typeface="Microsoft Sans Serif"/>
                <a:cs typeface="Microsoft Sans Serif"/>
              </a:rPr>
              <a:t>uint32_t</a:t>
            </a:r>
            <a:r>
              <a:rPr sz="3350" spc="10" dirty="0">
                <a:latin typeface="Microsoft Sans Serif"/>
                <a:cs typeface="Microsoft Sans Serif"/>
              </a:rPr>
              <a:t> </a:t>
            </a:r>
            <a:r>
              <a:rPr sz="3350" spc="100" dirty="0">
                <a:latin typeface="Microsoft Sans Serif"/>
                <a:cs typeface="Microsoft Sans Serif"/>
              </a:rPr>
              <a:t>htonl(uint32_t</a:t>
            </a:r>
            <a:r>
              <a:rPr sz="3350" spc="10" dirty="0">
                <a:latin typeface="Microsoft Sans Serif"/>
                <a:cs typeface="Microsoft Sans Serif"/>
              </a:rPr>
              <a:t> </a:t>
            </a:r>
            <a:r>
              <a:rPr sz="3350" spc="135" dirty="0">
                <a:latin typeface="Microsoft Sans Serif"/>
                <a:cs typeface="Microsoft Sans Serif"/>
              </a:rPr>
              <a:t>hostlong)</a:t>
            </a:r>
            <a:r>
              <a:rPr sz="3350" spc="15" dirty="0">
                <a:latin typeface="Microsoft Sans Serif"/>
                <a:cs typeface="Microsoft Sans Serif"/>
              </a:rPr>
              <a:t> </a:t>
            </a:r>
            <a:r>
              <a:rPr sz="3350" spc="10" dirty="0">
                <a:latin typeface="Microsoft Sans Serif"/>
                <a:cs typeface="Microsoft Sans Serif"/>
              </a:rPr>
              <a:t>- </a:t>
            </a:r>
            <a:r>
              <a:rPr sz="3350" spc="-50" dirty="0">
                <a:latin typeface="Microsoft Sans Serif"/>
                <a:cs typeface="Microsoft Sans Serif"/>
              </a:rPr>
              <a:t>32-</a:t>
            </a:r>
            <a:r>
              <a:rPr sz="3350" spc="-50" dirty="0">
                <a:latin typeface="Lucida Sans Unicode"/>
                <a:cs typeface="Lucida Sans Unicode"/>
              </a:rPr>
              <a:t>битное</a:t>
            </a:r>
            <a:r>
              <a:rPr sz="3350" spc="-165" dirty="0">
                <a:latin typeface="Lucida Sans Unicode"/>
                <a:cs typeface="Lucida Sans Unicode"/>
              </a:rPr>
              <a:t> </a:t>
            </a:r>
            <a:r>
              <a:rPr sz="3350" spc="-25" dirty="0">
                <a:latin typeface="Lucida Sans Unicode"/>
                <a:cs typeface="Lucida Sans Unicode"/>
              </a:rPr>
              <a:t>из</a:t>
            </a:r>
            <a:r>
              <a:rPr sz="3350" spc="-155" dirty="0">
                <a:latin typeface="Lucida Sans Unicode"/>
                <a:cs typeface="Lucida Sans Unicode"/>
              </a:rPr>
              <a:t> </a:t>
            </a:r>
            <a:r>
              <a:rPr sz="3350" spc="-120" dirty="0">
                <a:latin typeface="Lucida Sans Unicode"/>
                <a:cs typeface="Lucida Sans Unicode"/>
              </a:rPr>
              <a:t>системного</a:t>
            </a:r>
            <a:r>
              <a:rPr sz="3350" spc="-165" dirty="0">
                <a:latin typeface="Lucida Sans Unicode"/>
                <a:cs typeface="Lucida Sans Unicode"/>
              </a:rPr>
              <a:t> </a:t>
            </a:r>
            <a:r>
              <a:rPr sz="3350" spc="90" dirty="0">
                <a:latin typeface="Lucida Sans Unicode"/>
                <a:cs typeface="Lucida Sans Unicode"/>
              </a:rPr>
              <a:t>в</a:t>
            </a:r>
            <a:r>
              <a:rPr sz="3350" spc="-160" dirty="0">
                <a:latin typeface="Lucida Sans Unicode"/>
                <a:cs typeface="Lucida Sans Unicode"/>
              </a:rPr>
              <a:t> </a:t>
            </a:r>
            <a:r>
              <a:rPr sz="3350" spc="-25" dirty="0">
                <a:latin typeface="Lucida Sans Unicode"/>
                <a:cs typeface="Lucida Sans Unicode"/>
              </a:rPr>
              <a:t>сетевой</a:t>
            </a:r>
            <a:r>
              <a:rPr sz="3350" spc="-160" dirty="0">
                <a:latin typeface="Lucida Sans Unicode"/>
                <a:cs typeface="Lucida Sans Unicode"/>
              </a:rPr>
              <a:t> </a:t>
            </a:r>
            <a:r>
              <a:rPr sz="3350" spc="-114" dirty="0">
                <a:latin typeface="Lucida Sans Unicode"/>
                <a:cs typeface="Lucida Sans Unicode"/>
              </a:rPr>
              <a:t>порядок</a:t>
            </a:r>
            <a:r>
              <a:rPr sz="3350" spc="-165" dirty="0">
                <a:latin typeface="Lucida Sans Unicode"/>
                <a:cs typeface="Lucida Sans Unicode"/>
              </a:rPr>
              <a:t> </a:t>
            </a:r>
            <a:r>
              <a:rPr sz="3350" spc="-30" dirty="0">
                <a:latin typeface="Lucida Sans Unicode"/>
                <a:cs typeface="Lucida Sans Unicode"/>
              </a:rPr>
              <a:t>байт</a:t>
            </a:r>
            <a:r>
              <a:rPr sz="3350" spc="-30" dirty="0">
                <a:latin typeface="Microsoft Sans Serif"/>
                <a:cs typeface="Microsoft Sans Serif"/>
              </a:rPr>
              <a:t>; </a:t>
            </a:r>
            <a:r>
              <a:rPr sz="3350" spc="-875" dirty="0">
                <a:latin typeface="Microsoft Sans Serif"/>
                <a:cs typeface="Microsoft Sans Serif"/>
              </a:rPr>
              <a:t> </a:t>
            </a:r>
            <a:r>
              <a:rPr sz="3350" spc="75" dirty="0">
                <a:latin typeface="Microsoft Sans Serif"/>
                <a:cs typeface="Microsoft Sans Serif"/>
              </a:rPr>
              <a:t>uint32_t </a:t>
            </a:r>
            <a:r>
              <a:rPr sz="3350" spc="100" dirty="0">
                <a:latin typeface="Microsoft Sans Serif"/>
                <a:cs typeface="Microsoft Sans Serif"/>
              </a:rPr>
              <a:t>ntohl(uint32_t </a:t>
            </a:r>
            <a:r>
              <a:rPr sz="3350" spc="140" dirty="0">
                <a:latin typeface="Microsoft Sans Serif"/>
                <a:cs typeface="Microsoft Sans Serif"/>
              </a:rPr>
              <a:t>netlong) </a:t>
            </a:r>
            <a:r>
              <a:rPr sz="3350" spc="10" dirty="0">
                <a:latin typeface="Microsoft Sans Serif"/>
                <a:cs typeface="Microsoft Sans Serif"/>
              </a:rPr>
              <a:t>- </a:t>
            </a:r>
            <a:r>
              <a:rPr sz="3350" spc="-50" dirty="0">
                <a:latin typeface="Microsoft Sans Serif"/>
                <a:cs typeface="Microsoft Sans Serif"/>
              </a:rPr>
              <a:t>32-</a:t>
            </a:r>
            <a:r>
              <a:rPr sz="3350" spc="-50" dirty="0">
                <a:latin typeface="Lucida Sans Unicode"/>
                <a:cs typeface="Lucida Sans Unicode"/>
              </a:rPr>
              <a:t>битное </a:t>
            </a:r>
            <a:r>
              <a:rPr sz="3350" spc="-25" dirty="0">
                <a:latin typeface="Lucida Sans Unicode"/>
                <a:cs typeface="Lucida Sans Unicode"/>
              </a:rPr>
              <a:t>из </a:t>
            </a:r>
            <a:r>
              <a:rPr sz="3350" spc="-70" dirty="0">
                <a:latin typeface="Lucida Sans Unicode"/>
                <a:cs typeface="Lucida Sans Unicode"/>
              </a:rPr>
              <a:t>сетевого </a:t>
            </a:r>
            <a:r>
              <a:rPr sz="3350" spc="90" dirty="0">
                <a:latin typeface="Lucida Sans Unicode"/>
                <a:cs typeface="Lucida Sans Unicode"/>
              </a:rPr>
              <a:t>в </a:t>
            </a:r>
            <a:r>
              <a:rPr sz="3350" spc="-75" dirty="0">
                <a:latin typeface="Lucida Sans Unicode"/>
                <a:cs typeface="Lucida Sans Unicode"/>
              </a:rPr>
              <a:t>системный </a:t>
            </a:r>
            <a:r>
              <a:rPr sz="3350" spc="-114" dirty="0">
                <a:latin typeface="Lucida Sans Unicode"/>
                <a:cs typeface="Lucida Sans Unicode"/>
              </a:rPr>
              <a:t>порядок </a:t>
            </a:r>
            <a:r>
              <a:rPr sz="3350" spc="-30" dirty="0">
                <a:latin typeface="Lucida Sans Unicode"/>
                <a:cs typeface="Lucida Sans Unicode"/>
              </a:rPr>
              <a:t>байт</a:t>
            </a:r>
            <a:r>
              <a:rPr sz="3350" spc="-30" dirty="0">
                <a:latin typeface="Microsoft Sans Serif"/>
                <a:cs typeface="Microsoft Sans Serif"/>
              </a:rPr>
              <a:t>; </a:t>
            </a:r>
            <a:r>
              <a:rPr sz="3350" spc="-875" dirty="0">
                <a:latin typeface="Microsoft Sans Serif"/>
                <a:cs typeface="Microsoft Sans Serif"/>
              </a:rPr>
              <a:t> </a:t>
            </a:r>
            <a:r>
              <a:rPr sz="3350" spc="15" dirty="0">
                <a:latin typeface="Microsoft Sans Serif"/>
                <a:cs typeface="Microsoft Sans Serif"/>
              </a:rPr>
              <a:t>uint16_t</a:t>
            </a:r>
            <a:r>
              <a:rPr sz="3350" spc="10" dirty="0">
                <a:latin typeface="Microsoft Sans Serif"/>
                <a:cs typeface="Microsoft Sans Serif"/>
              </a:rPr>
              <a:t> </a:t>
            </a:r>
            <a:r>
              <a:rPr sz="3350" spc="55" dirty="0">
                <a:latin typeface="Microsoft Sans Serif"/>
                <a:cs typeface="Microsoft Sans Serif"/>
              </a:rPr>
              <a:t>htons(uint16_t</a:t>
            </a:r>
            <a:r>
              <a:rPr sz="3350" spc="10" dirty="0">
                <a:latin typeface="Microsoft Sans Serif"/>
                <a:cs typeface="Microsoft Sans Serif"/>
              </a:rPr>
              <a:t> </a:t>
            </a:r>
            <a:r>
              <a:rPr sz="3350" spc="125" dirty="0">
                <a:latin typeface="Microsoft Sans Serif"/>
                <a:cs typeface="Microsoft Sans Serif"/>
              </a:rPr>
              <a:t>hostshort)</a:t>
            </a:r>
            <a:r>
              <a:rPr sz="3350" spc="10" dirty="0">
                <a:latin typeface="Microsoft Sans Serif"/>
                <a:cs typeface="Microsoft Sans Serif"/>
              </a:rPr>
              <a:t> -</a:t>
            </a:r>
            <a:r>
              <a:rPr sz="3350" spc="15" dirty="0">
                <a:latin typeface="Microsoft Sans Serif"/>
                <a:cs typeface="Microsoft Sans Serif"/>
              </a:rPr>
              <a:t> </a:t>
            </a:r>
            <a:r>
              <a:rPr sz="3350" spc="-100" dirty="0">
                <a:latin typeface="Microsoft Sans Serif"/>
                <a:cs typeface="Microsoft Sans Serif"/>
              </a:rPr>
              <a:t>16-</a:t>
            </a:r>
            <a:r>
              <a:rPr sz="3350" spc="-100" dirty="0">
                <a:latin typeface="Lucida Sans Unicode"/>
                <a:cs typeface="Lucida Sans Unicode"/>
              </a:rPr>
              <a:t>битное</a:t>
            </a:r>
            <a:r>
              <a:rPr sz="3350" spc="-165" dirty="0">
                <a:latin typeface="Lucida Sans Unicode"/>
                <a:cs typeface="Lucida Sans Unicode"/>
              </a:rPr>
              <a:t> </a:t>
            </a:r>
            <a:r>
              <a:rPr sz="3350" spc="-25" dirty="0">
                <a:latin typeface="Lucida Sans Unicode"/>
                <a:cs typeface="Lucida Sans Unicode"/>
              </a:rPr>
              <a:t>из</a:t>
            </a:r>
            <a:r>
              <a:rPr sz="3350" spc="-160" dirty="0">
                <a:latin typeface="Lucida Sans Unicode"/>
                <a:cs typeface="Lucida Sans Unicode"/>
              </a:rPr>
              <a:t> </a:t>
            </a:r>
            <a:r>
              <a:rPr sz="3350" spc="-120" dirty="0">
                <a:latin typeface="Lucida Sans Unicode"/>
                <a:cs typeface="Lucida Sans Unicode"/>
              </a:rPr>
              <a:t>системного</a:t>
            </a:r>
            <a:r>
              <a:rPr sz="3350" spc="-160" dirty="0">
                <a:latin typeface="Lucida Sans Unicode"/>
                <a:cs typeface="Lucida Sans Unicode"/>
              </a:rPr>
              <a:t> </a:t>
            </a:r>
            <a:r>
              <a:rPr sz="3350" spc="90" dirty="0">
                <a:latin typeface="Lucida Sans Unicode"/>
                <a:cs typeface="Lucida Sans Unicode"/>
              </a:rPr>
              <a:t>в</a:t>
            </a:r>
            <a:r>
              <a:rPr sz="3350" spc="-160" dirty="0">
                <a:latin typeface="Lucida Sans Unicode"/>
                <a:cs typeface="Lucida Sans Unicode"/>
              </a:rPr>
              <a:t> </a:t>
            </a:r>
            <a:r>
              <a:rPr sz="3350" spc="-25" dirty="0">
                <a:latin typeface="Lucida Sans Unicode"/>
                <a:cs typeface="Lucida Sans Unicode"/>
              </a:rPr>
              <a:t>сетевой</a:t>
            </a:r>
            <a:r>
              <a:rPr sz="3350" spc="-165" dirty="0">
                <a:latin typeface="Lucida Sans Unicode"/>
                <a:cs typeface="Lucida Sans Unicode"/>
              </a:rPr>
              <a:t> </a:t>
            </a:r>
            <a:r>
              <a:rPr sz="3350" spc="-114" dirty="0">
                <a:latin typeface="Lucida Sans Unicode"/>
                <a:cs typeface="Lucida Sans Unicode"/>
              </a:rPr>
              <a:t>порядок</a:t>
            </a:r>
            <a:r>
              <a:rPr sz="3350" spc="-160" dirty="0">
                <a:latin typeface="Lucida Sans Unicode"/>
                <a:cs typeface="Lucida Sans Unicode"/>
              </a:rPr>
              <a:t> </a:t>
            </a:r>
            <a:r>
              <a:rPr sz="3350" spc="-30" dirty="0">
                <a:latin typeface="Lucida Sans Unicode"/>
                <a:cs typeface="Lucida Sans Unicode"/>
              </a:rPr>
              <a:t>байт</a:t>
            </a:r>
            <a:r>
              <a:rPr sz="3350" spc="-30" dirty="0">
                <a:latin typeface="Microsoft Sans Serif"/>
                <a:cs typeface="Microsoft Sans Serif"/>
              </a:rPr>
              <a:t>; </a:t>
            </a:r>
            <a:r>
              <a:rPr sz="3350" spc="-875" dirty="0">
                <a:latin typeface="Microsoft Sans Serif"/>
                <a:cs typeface="Microsoft Sans Serif"/>
              </a:rPr>
              <a:t> </a:t>
            </a:r>
            <a:r>
              <a:rPr sz="3350" spc="15" dirty="0">
                <a:latin typeface="Microsoft Sans Serif"/>
                <a:cs typeface="Microsoft Sans Serif"/>
              </a:rPr>
              <a:t>uint16_t </a:t>
            </a:r>
            <a:r>
              <a:rPr sz="3350" spc="55" dirty="0">
                <a:latin typeface="Microsoft Sans Serif"/>
                <a:cs typeface="Microsoft Sans Serif"/>
              </a:rPr>
              <a:t>ntohs(uint16_t</a:t>
            </a:r>
            <a:r>
              <a:rPr sz="3350" spc="15" dirty="0">
                <a:latin typeface="Microsoft Sans Serif"/>
                <a:cs typeface="Microsoft Sans Serif"/>
              </a:rPr>
              <a:t> </a:t>
            </a:r>
            <a:r>
              <a:rPr sz="3350" spc="130" dirty="0">
                <a:latin typeface="Microsoft Sans Serif"/>
                <a:cs typeface="Microsoft Sans Serif"/>
              </a:rPr>
              <a:t>netshort)</a:t>
            </a:r>
            <a:r>
              <a:rPr sz="3350" spc="15" dirty="0">
                <a:latin typeface="Microsoft Sans Serif"/>
                <a:cs typeface="Microsoft Sans Serif"/>
              </a:rPr>
              <a:t> </a:t>
            </a:r>
            <a:r>
              <a:rPr sz="3350" spc="10" dirty="0">
                <a:latin typeface="Microsoft Sans Serif"/>
                <a:cs typeface="Microsoft Sans Serif"/>
              </a:rPr>
              <a:t>-</a:t>
            </a:r>
            <a:r>
              <a:rPr sz="3350" spc="15" dirty="0">
                <a:latin typeface="Microsoft Sans Serif"/>
                <a:cs typeface="Microsoft Sans Serif"/>
              </a:rPr>
              <a:t> </a:t>
            </a:r>
            <a:r>
              <a:rPr sz="3350" spc="-100" dirty="0">
                <a:latin typeface="Microsoft Sans Serif"/>
                <a:cs typeface="Microsoft Sans Serif"/>
              </a:rPr>
              <a:t>16-</a:t>
            </a:r>
            <a:r>
              <a:rPr sz="3350" spc="-100" dirty="0">
                <a:latin typeface="Lucida Sans Unicode"/>
                <a:cs typeface="Lucida Sans Unicode"/>
              </a:rPr>
              <a:t>битное</a:t>
            </a:r>
            <a:r>
              <a:rPr sz="3350" spc="-160" dirty="0">
                <a:latin typeface="Lucida Sans Unicode"/>
                <a:cs typeface="Lucida Sans Unicode"/>
              </a:rPr>
              <a:t> </a:t>
            </a:r>
            <a:r>
              <a:rPr sz="3350" spc="-25" dirty="0">
                <a:latin typeface="Lucida Sans Unicode"/>
                <a:cs typeface="Lucida Sans Unicode"/>
              </a:rPr>
              <a:t>из</a:t>
            </a:r>
            <a:r>
              <a:rPr sz="3350" spc="-150" dirty="0">
                <a:latin typeface="Lucida Sans Unicode"/>
                <a:cs typeface="Lucida Sans Unicode"/>
              </a:rPr>
              <a:t> </a:t>
            </a:r>
            <a:r>
              <a:rPr sz="3350" spc="-70" dirty="0">
                <a:latin typeface="Lucida Sans Unicode"/>
                <a:cs typeface="Lucida Sans Unicode"/>
              </a:rPr>
              <a:t>сетевого</a:t>
            </a:r>
            <a:r>
              <a:rPr sz="3350" spc="-160" dirty="0">
                <a:latin typeface="Lucida Sans Unicode"/>
                <a:cs typeface="Lucida Sans Unicode"/>
              </a:rPr>
              <a:t> </a:t>
            </a:r>
            <a:r>
              <a:rPr sz="3350" spc="90" dirty="0">
                <a:latin typeface="Lucida Sans Unicode"/>
                <a:cs typeface="Lucida Sans Unicode"/>
              </a:rPr>
              <a:t>в</a:t>
            </a:r>
            <a:r>
              <a:rPr sz="3350" spc="-155" dirty="0">
                <a:latin typeface="Lucida Sans Unicode"/>
                <a:cs typeface="Lucida Sans Unicode"/>
              </a:rPr>
              <a:t> </a:t>
            </a:r>
            <a:r>
              <a:rPr sz="3350" spc="-75" dirty="0">
                <a:latin typeface="Lucida Sans Unicode"/>
                <a:cs typeface="Lucida Sans Unicode"/>
              </a:rPr>
              <a:t>системный</a:t>
            </a:r>
            <a:r>
              <a:rPr sz="3350" spc="-160" dirty="0">
                <a:latin typeface="Lucida Sans Unicode"/>
                <a:cs typeface="Lucida Sans Unicode"/>
              </a:rPr>
              <a:t> </a:t>
            </a:r>
            <a:r>
              <a:rPr sz="3350" spc="-114" dirty="0">
                <a:latin typeface="Lucida Sans Unicode"/>
                <a:cs typeface="Lucida Sans Unicode"/>
              </a:rPr>
              <a:t>порядок</a:t>
            </a:r>
            <a:r>
              <a:rPr sz="3350" spc="-160" dirty="0">
                <a:latin typeface="Lucida Sans Unicode"/>
                <a:cs typeface="Lucida Sans Unicode"/>
              </a:rPr>
              <a:t> </a:t>
            </a:r>
            <a:r>
              <a:rPr sz="3350" spc="-35" dirty="0">
                <a:latin typeface="Lucida Sans Unicode"/>
                <a:cs typeface="Lucida Sans Unicode"/>
              </a:rPr>
              <a:t>байт</a:t>
            </a:r>
            <a:r>
              <a:rPr sz="3350" spc="-35" dirty="0">
                <a:latin typeface="Microsoft Sans Serif"/>
                <a:cs typeface="Microsoft Sans Serif"/>
              </a:rPr>
              <a:t>.</a:t>
            </a:r>
            <a:endParaRPr sz="335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3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350" spc="175" dirty="0">
                <a:latin typeface="Microsoft Sans Serif"/>
                <a:cs typeface="Microsoft Sans Serif"/>
              </a:rPr>
              <a:t>int</a:t>
            </a:r>
            <a:r>
              <a:rPr sz="3350" spc="5" dirty="0">
                <a:latin typeface="Microsoft Sans Serif"/>
                <a:cs typeface="Microsoft Sans Serif"/>
              </a:rPr>
              <a:t> </a:t>
            </a:r>
            <a:r>
              <a:rPr sz="3350" spc="90" dirty="0">
                <a:latin typeface="Microsoft Sans Serif"/>
                <a:cs typeface="Microsoft Sans Serif"/>
              </a:rPr>
              <a:t>inet_aton(const</a:t>
            </a:r>
            <a:r>
              <a:rPr sz="3350" spc="10" dirty="0">
                <a:latin typeface="Microsoft Sans Serif"/>
                <a:cs typeface="Microsoft Sans Serif"/>
              </a:rPr>
              <a:t> </a:t>
            </a:r>
            <a:r>
              <a:rPr sz="3350" spc="130" dirty="0">
                <a:latin typeface="Microsoft Sans Serif"/>
                <a:cs typeface="Microsoft Sans Serif"/>
              </a:rPr>
              <a:t>char</a:t>
            </a:r>
            <a:r>
              <a:rPr sz="3350" spc="5" dirty="0">
                <a:latin typeface="Microsoft Sans Serif"/>
                <a:cs typeface="Microsoft Sans Serif"/>
              </a:rPr>
              <a:t> </a:t>
            </a:r>
            <a:r>
              <a:rPr sz="3350" spc="110" dirty="0">
                <a:latin typeface="Microsoft Sans Serif"/>
                <a:cs typeface="Microsoft Sans Serif"/>
              </a:rPr>
              <a:t>*</a:t>
            </a:r>
            <a:r>
              <a:rPr sz="3350" u="heavy" spc="1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cp</a:t>
            </a:r>
            <a:r>
              <a:rPr sz="3350" spc="110" dirty="0">
                <a:latin typeface="Microsoft Sans Serif"/>
                <a:cs typeface="Microsoft Sans Serif"/>
              </a:rPr>
              <a:t>,</a:t>
            </a:r>
            <a:r>
              <a:rPr sz="3350" spc="10" dirty="0">
                <a:latin typeface="Microsoft Sans Serif"/>
                <a:cs typeface="Microsoft Sans Serif"/>
              </a:rPr>
              <a:t> </a:t>
            </a:r>
            <a:r>
              <a:rPr sz="3350" spc="170" dirty="0">
                <a:latin typeface="Microsoft Sans Serif"/>
                <a:cs typeface="Microsoft Sans Serif"/>
              </a:rPr>
              <a:t>struct</a:t>
            </a:r>
            <a:r>
              <a:rPr sz="3350" spc="10" dirty="0">
                <a:latin typeface="Microsoft Sans Serif"/>
                <a:cs typeface="Microsoft Sans Serif"/>
              </a:rPr>
              <a:t> </a:t>
            </a:r>
            <a:r>
              <a:rPr sz="3350" spc="50" dirty="0">
                <a:latin typeface="Microsoft Sans Serif"/>
                <a:cs typeface="Microsoft Sans Serif"/>
              </a:rPr>
              <a:t>in_addr</a:t>
            </a:r>
            <a:r>
              <a:rPr sz="3350" spc="5" dirty="0">
                <a:latin typeface="Microsoft Sans Serif"/>
                <a:cs typeface="Microsoft Sans Serif"/>
              </a:rPr>
              <a:t> </a:t>
            </a:r>
            <a:r>
              <a:rPr sz="3350" spc="120" dirty="0">
                <a:latin typeface="Microsoft Sans Serif"/>
                <a:cs typeface="Microsoft Sans Serif"/>
              </a:rPr>
              <a:t>*</a:t>
            </a:r>
            <a:r>
              <a:rPr sz="3350" u="heavy" spc="1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inp</a:t>
            </a:r>
            <a:r>
              <a:rPr sz="3350" spc="120" dirty="0">
                <a:latin typeface="Microsoft Sans Serif"/>
                <a:cs typeface="Microsoft Sans Serif"/>
              </a:rPr>
              <a:t>)</a:t>
            </a:r>
            <a:r>
              <a:rPr sz="3350" spc="10" dirty="0">
                <a:latin typeface="Microsoft Sans Serif"/>
                <a:cs typeface="Microsoft Sans Serif"/>
              </a:rPr>
              <a:t> - </a:t>
            </a:r>
            <a:r>
              <a:rPr sz="3350" spc="-60" dirty="0">
                <a:latin typeface="Lucida Sans Unicode"/>
                <a:cs typeface="Lucida Sans Unicode"/>
              </a:rPr>
              <a:t>конвертировать</a:t>
            </a:r>
            <a:r>
              <a:rPr sz="3350" spc="-170" dirty="0">
                <a:latin typeface="Lucida Sans Unicode"/>
                <a:cs typeface="Lucida Sans Unicode"/>
              </a:rPr>
              <a:t> </a:t>
            </a:r>
            <a:r>
              <a:rPr sz="3350" spc="175" dirty="0">
                <a:latin typeface="Microsoft Sans Serif"/>
                <a:cs typeface="Microsoft Sans Serif"/>
              </a:rPr>
              <a:t>ip</a:t>
            </a:r>
            <a:r>
              <a:rPr sz="3350" spc="10" dirty="0">
                <a:latin typeface="Microsoft Sans Serif"/>
                <a:cs typeface="Microsoft Sans Serif"/>
              </a:rPr>
              <a:t> </a:t>
            </a:r>
            <a:r>
              <a:rPr sz="3350" spc="-85" dirty="0">
                <a:latin typeface="Lucida Sans Unicode"/>
                <a:cs typeface="Lucida Sans Unicode"/>
              </a:rPr>
              <a:t>адрес</a:t>
            </a:r>
            <a:endParaRPr sz="335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26929" y="832090"/>
            <a:ext cx="403796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40" dirty="0"/>
              <a:t>shutdown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51050" y="3749675"/>
            <a:ext cx="11506200" cy="54136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9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</a:t>
            </a:r>
            <a:r>
              <a:rPr sz="4400" spc="-3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20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&lt;sys/socket.h&gt;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</a:pPr>
            <a:r>
              <a:rPr sz="4400" spc="155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sz="44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30" dirty="0">
                <a:latin typeface="Arial" panose="020B0604020202020204" pitchFamily="34" charset="0"/>
                <a:cs typeface="Arial" panose="020B0604020202020204" pitchFamily="34" charset="0"/>
              </a:rPr>
              <a:t>shutdown(int</a:t>
            </a:r>
            <a:r>
              <a:rPr sz="44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10" dirty="0">
                <a:latin typeface="Arial" panose="020B0604020202020204" pitchFamily="34" charset="0"/>
                <a:cs typeface="Arial" panose="020B0604020202020204" pitchFamily="34" charset="0"/>
              </a:rPr>
              <a:t>sockfd,</a:t>
            </a:r>
            <a:r>
              <a:rPr sz="44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55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sz="4400" spc="-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100" dirty="0">
                <a:latin typeface="Arial" panose="020B0604020202020204" pitchFamily="34" charset="0"/>
                <a:cs typeface="Arial" panose="020B0604020202020204" pitchFamily="34" charset="0"/>
              </a:rPr>
              <a:t>how);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6240" indent="-384175">
              <a:lnSpc>
                <a:spcPct val="100000"/>
              </a:lnSpc>
              <a:buFont typeface="Microsoft Sans Serif"/>
              <a:buChar char="•"/>
              <a:tabLst>
                <a:tab pos="396240" algn="l"/>
                <a:tab pos="396875" algn="l"/>
              </a:tabLst>
            </a:pPr>
            <a:r>
              <a:rPr sz="4400" spc="30" dirty="0">
                <a:latin typeface="Arial" panose="020B0604020202020204" pitchFamily="34" charset="0"/>
                <a:cs typeface="Arial" panose="020B0604020202020204" pitchFamily="34" charset="0"/>
              </a:rPr>
              <a:t>Закрывает</a:t>
            </a:r>
            <a:r>
              <a:rPr sz="4400" spc="-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110" dirty="0">
                <a:latin typeface="Arial" panose="020B0604020202020204" pitchFamily="34" charset="0"/>
                <a:cs typeface="Arial" panose="020B0604020202020204" pitchFamily="34" charset="0"/>
              </a:rPr>
              <a:t>соединение.</a:t>
            </a:r>
            <a:endParaRPr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6240" indent="-384175">
              <a:lnSpc>
                <a:spcPct val="100000"/>
              </a:lnSpc>
              <a:spcBef>
                <a:spcPts val="440"/>
              </a:spcBef>
              <a:buChar char="•"/>
              <a:tabLst>
                <a:tab pos="396240" algn="l"/>
                <a:tab pos="396875" algn="l"/>
              </a:tabLst>
            </a:pPr>
            <a:r>
              <a:rPr sz="4400" spc="50" dirty="0">
                <a:latin typeface="Arial" panose="020B0604020202020204" pitchFamily="34" charset="0"/>
                <a:cs typeface="Arial" panose="020B0604020202020204" pitchFamily="34" charset="0"/>
              </a:rPr>
              <a:t>close()</a:t>
            </a:r>
            <a:r>
              <a:rPr sz="440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4400" spc="-80" dirty="0" err="1">
                <a:latin typeface="Arial" panose="020B0604020202020204" pitchFamily="34" charset="0"/>
                <a:cs typeface="Arial" panose="020B0604020202020204" pitchFamily="34" charset="0"/>
              </a:rPr>
              <a:t>недостаточен</a:t>
            </a:r>
            <a:r>
              <a:rPr sz="4400" spc="-8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4400" spc="-8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6240" indent="-384175">
              <a:lnSpc>
                <a:spcPct val="100000"/>
              </a:lnSpc>
              <a:spcBef>
                <a:spcPts val="440"/>
              </a:spcBef>
              <a:buChar char="•"/>
              <a:tabLst>
                <a:tab pos="396240" algn="l"/>
                <a:tab pos="396875" algn="l"/>
              </a:tabLst>
            </a:pPr>
            <a:r>
              <a:rPr lang="en-US" sz="4400" spc="-80" dirty="0">
                <a:latin typeface="Arial" panose="020B0604020202020204" pitchFamily="34" charset="0"/>
                <a:cs typeface="Arial" panose="020B0604020202020204" pitchFamily="34" charset="0"/>
              </a:rPr>
              <a:t>how: SHUT_RD, SHUT_WR, SHUT_RDWR</a:t>
            </a:r>
          </a:p>
          <a:p>
            <a:pPr marL="396240" indent="-384175">
              <a:lnSpc>
                <a:spcPct val="100000"/>
              </a:lnSpc>
              <a:spcBef>
                <a:spcPts val="440"/>
              </a:spcBef>
              <a:buChar char="•"/>
              <a:tabLst>
                <a:tab pos="396240" algn="l"/>
                <a:tab pos="396875" algn="l"/>
              </a:tabLst>
            </a:pPr>
            <a:endParaRPr sz="33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24613" y="832090"/>
            <a:ext cx="184277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5" dirty="0"/>
              <a:t>bind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514510"/>
            <a:ext cx="16019144" cy="377667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 marR="9763125">
              <a:lnSpc>
                <a:spcPts val="4120"/>
              </a:lnSpc>
              <a:spcBef>
                <a:spcPts val="350"/>
              </a:spcBef>
            </a:pPr>
            <a:r>
              <a:rPr sz="3600" b="1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 &lt;sys/types.h&gt; </a:t>
            </a:r>
            <a:r>
              <a:rPr sz="3600" b="1" spc="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b="1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</a:t>
            </a:r>
            <a:r>
              <a:rPr sz="3600" b="1" spc="-10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b="1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&lt;sys/socket.h&gt;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marR="5080">
              <a:lnSpc>
                <a:spcPts val="4120"/>
              </a:lnSpc>
            </a:pP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bind(int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sockfd,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const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struct</a:t>
            </a:r>
            <a:r>
              <a:rPr sz="36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sockaddr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*addr,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socklen_t </a:t>
            </a:r>
            <a:r>
              <a:rPr sz="3600" spc="-21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addrlen);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3845" indent="-271780">
              <a:lnSpc>
                <a:spcPts val="4190"/>
              </a:lnSpc>
              <a:buSzPct val="97183"/>
              <a:buChar char="•"/>
              <a:tabLst>
                <a:tab pos="284480" algn="l"/>
              </a:tabLst>
            </a:pP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Связывает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сокет</a:t>
            </a:r>
            <a:r>
              <a:rPr sz="3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конкретным</a:t>
            </a:r>
            <a:r>
              <a:rPr sz="36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адресом.</a:t>
            </a:r>
          </a:p>
          <a:p>
            <a:pPr marL="283845" indent="-271780">
              <a:lnSpc>
                <a:spcPts val="4190"/>
              </a:lnSpc>
              <a:buSzPct val="97183"/>
              <a:buChar char="•"/>
              <a:tabLst>
                <a:tab pos="284480" algn="l"/>
              </a:tabLst>
            </a:pP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По сигнатуре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совпадает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sz="36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connect.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198911" y="1002343"/>
            <a:ext cx="1859914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-300" dirty="0">
                <a:solidFill>
                  <a:srgbClr val="003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3950" b="1" spc="-405" dirty="0">
                <a:solidFill>
                  <a:srgbClr val="003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3950" b="1" spc="-270" dirty="0">
                <a:solidFill>
                  <a:srgbClr val="003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</a:t>
            </a:r>
            <a:endParaRPr sz="39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43425" y="832090"/>
            <a:ext cx="220472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65" dirty="0"/>
              <a:t>listen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81021"/>
            <a:ext cx="17129760" cy="64324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1575415">
              <a:lnSpc>
                <a:spcPct val="153100"/>
              </a:lnSpc>
              <a:spcBef>
                <a:spcPts val="95"/>
              </a:spcBef>
            </a:pPr>
            <a:r>
              <a:rPr sz="3600" spc="114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 </a:t>
            </a:r>
            <a:r>
              <a:rPr sz="3600" spc="40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&lt;sys/types.h&gt; </a:t>
            </a:r>
            <a:r>
              <a:rPr sz="3600" spc="4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14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</a:t>
            </a:r>
            <a:r>
              <a:rPr sz="3600" spc="-40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30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&lt;sys/socket.h&gt;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2515"/>
              </a:spcBef>
            </a:pPr>
            <a:r>
              <a:rPr sz="3600" spc="195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sz="3600" spc="-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20" dirty="0">
                <a:latin typeface="Arial" panose="020B0604020202020204" pitchFamily="34" charset="0"/>
                <a:cs typeface="Arial" panose="020B0604020202020204" pitchFamily="34" charset="0"/>
              </a:rPr>
              <a:t>listen(int</a:t>
            </a:r>
            <a:r>
              <a:rPr sz="36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35" dirty="0">
                <a:latin typeface="Arial" panose="020B0604020202020204" pitchFamily="34" charset="0"/>
                <a:cs typeface="Arial" panose="020B0604020202020204" pitchFamily="34" charset="0"/>
              </a:rPr>
              <a:t>sockfd,</a:t>
            </a:r>
            <a:r>
              <a:rPr sz="36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95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sz="3600"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30" dirty="0">
                <a:latin typeface="Arial" panose="020B0604020202020204" pitchFamily="34" charset="0"/>
                <a:cs typeface="Arial" panose="020B0604020202020204" pitchFamily="34" charset="0"/>
              </a:rPr>
              <a:t>backlog);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marR="5080" indent="-461009" algn="just">
              <a:lnSpc>
                <a:spcPct val="111300"/>
              </a:lnSpc>
              <a:spcBef>
                <a:spcPts val="1980"/>
              </a:spcBef>
              <a:buChar char="•"/>
              <a:tabLst>
                <a:tab pos="473709" algn="l"/>
              </a:tabLst>
            </a:pPr>
            <a:r>
              <a:rPr sz="3600" spc="75" dirty="0">
                <a:latin typeface="Arial" panose="020B0604020202020204" pitchFamily="34" charset="0"/>
                <a:cs typeface="Arial" panose="020B0604020202020204" pitchFamily="34" charset="0"/>
              </a:rPr>
              <a:t>marks</a:t>
            </a:r>
            <a:r>
              <a:rPr sz="3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75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sz="3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20" dirty="0">
                <a:latin typeface="Arial" panose="020B0604020202020204" pitchFamily="34" charset="0"/>
                <a:cs typeface="Arial" panose="020B0604020202020204" pitchFamily="34" charset="0"/>
              </a:rPr>
              <a:t>socket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25" dirty="0">
                <a:latin typeface="Arial" panose="020B0604020202020204" pitchFamily="34" charset="0"/>
                <a:cs typeface="Arial" panose="020B0604020202020204" pitchFamily="34" charset="0"/>
              </a:rPr>
              <a:t>referred</a:t>
            </a:r>
            <a:r>
              <a:rPr sz="3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25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8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sz="3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5" dirty="0">
                <a:latin typeface="Arial" panose="020B0604020202020204" pitchFamily="34" charset="0"/>
                <a:cs typeface="Arial" panose="020B0604020202020204" pitchFamily="34" charset="0"/>
              </a:rPr>
              <a:t>sockfd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70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sz="3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6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40" dirty="0">
                <a:latin typeface="Arial" panose="020B0604020202020204" pitchFamily="34" charset="0"/>
                <a:cs typeface="Arial" panose="020B0604020202020204" pitchFamily="34" charset="0"/>
              </a:rPr>
              <a:t>passive</a:t>
            </a:r>
            <a:r>
              <a:rPr sz="3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05" dirty="0">
                <a:latin typeface="Arial" panose="020B0604020202020204" pitchFamily="34" charset="0"/>
                <a:cs typeface="Arial" panose="020B0604020202020204" pitchFamily="34" charset="0"/>
              </a:rPr>
              <a:t>socket,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80" dirty="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z="3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" dirty="0">
                <a:latin typeface="Arial" panose="020B0604020202020204" pitchFamily="34" charset="0"/>
                <a:cs typeface="Arial" panose="020B0604020202020204" pitchFamily="34" charset="0"/>
              </a:rPr>
              <a:t>is,</a:t>
            </a:r>
            <a:r>
              <a:rPr sz="3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70" dirty="0">
                <a:latin typeface="Arial" panose="020B0604020202020204" pitchFamily="34" charset="0"/>
                <a:cs typeface="Arial" panose="020B0604020202020204" pitchFamily="34" charset="0"/>
              </a:rPr>
              <a:t>as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6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sz="3600" spc="-10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20" dirty="0">
                <a:latin typeface="Arial" panose="020B0604020202020204" pitchFamily="34" charset="0"/>
                <a:cs typeface="Arial" panose="020B0604020202020204" pitchFamily="34" charset="0"/>
              </a:rPr>
              <a:t>socket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80" dirty="0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55" dirty="0">
                <a:latin typeface="Arial" panose="020B0604020202020204" pitchFamily="34" charset="0"/>
                <a:cs typeface="Arial" panose="020B0604020202020204" pitchFamily="34" charset="0"/>
              </a:rPr>
              <a:t>will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65"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00" dirty="0"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25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90" dirty="0">
                <a:latin typeface="Arial" panose="020B0604020202020204" pitchFamily="34" charset="0"/>
                <a:cs typeface="Arial" panose="020B0604020202020204" pitchFamily="34" charset="0"/>
              </a:rPr>
              <a:t>accept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200" dirty="0">
                <a:latin typeface="Arial" panose="020B0604020202020204" pitchFamily="34" charset="0"/>
                <a:cs typeface="Arial" panose="020B0604020202020204" pitchFamily="34" charset="0"/>
              </a:rPr>
              <a:t>incoming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90" dirty="0">
                <a:latin typeface="Arial" panose="020B0604020202020204" pitchFamily="34" charset="0"/>
                <a:cs typeface="Arial" panose="020B0604020202020204" pitchFamily="34" charset="0"/>
              </a:rPr>
              <a:t>connection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00" dirty="0">
                <a:latin typeface="Arial" panose="020B0604020202020204" pitchFamily="34" charset="0"/>
                <a:cs typeface="Arial" panose="020B0604020202020204" pitchFamily="34" charset="0"/>
              </a:rPr>
              <a:t>requests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25" dirty="0">
                <a:latin typeface="Arial" panose="020B0604020202020204" pitchFamily="34" charset="0"/>
                <a:cs typeface="Arial" panose="020B0604020202020204" pitchFamily="34" charset="0"/>
              </a:rPr>
              <a:t>using </a:t>
            </a:r>
            <a:r>
              <a:rPr sz="3600" spc="-10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90" dirty="0">
                <a:latin typeface="Arial" panose="020B0604020202020204" pitchFamily="34" charset="0"/>
                <a:cs typeface="Arial" panose="020B0604020202020204" pitchFamily="34" charset="0"/>
              </a:rPr>
              <a:t>accept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35"/>
              </a:spcBef>
              <a:buChar char="•"/>
              <a:tabLst>
                <a:tab pos="473075" algn="l"/>
                <a:tab pos="473709" algn="l"/>
              </a:tabLst>
            </a:pPr>
            <a:r>
              <a:rPr sz="3600" spc="120" dirty="0">
                <a:latin typeface="Arial" panose="020B0604020202020204" pitchFamily="34" charset="0"/>
                <a:cs typeface="Arial" panose="020B0604020202020204" pitchFamily="34" charset="0"/>
              </a:rPr>
              <a:t>socket</a:t>
            </a:r>
            <a:r>
              <a:rPr sz="3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00" dirty="0">
                <a:latin typeface="Arial" panose="020B0604020202020204" pitchFamily="34" charset="0"/>
                <a:cs typeface="Arial" panose="020B0604020202020204" pitchFamily="34" charset="0"/>
              </a:rPr>
              <a:t>должен</a:t>
            </a:r>
            <a:r>
              <a:rPr sz="360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80" dirty="0">
                <a:latin typeface="Arial" panose="020B0604020202020204" pitchFamily="34" charset="0"/>
                <a:cs typeface="Arial" panose="020B0604020202020204" pitchFamily="34" charset="0"/>
              </a:rPr>
              <a:t>иметь</a:t>
            </a:r>
            <a:r>
              <a:rPr sz="360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40" dirty="0">
                <a:latin typeface="Arial" panose="020B0604020202020204" pitchFamily="34" charset="0"/>
                <a:cs typeface="Arial" panose="020B0604020202020204" pitchFamily="34" charset="0"/>
              </a:rPr>
              <a:t>тип</a:t>
            </a:r>
            <a:r>
              <a:rPr sz="360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75" dirty="0">
                <a:latin typeface="Arial" panose="020B0604020202020204" pitchFamily="34" charset="0"/>
                <a:cs typeface="Arial" panose="020B0604020202020204" pitchFamily="34" charset="0"/>
              </a:rPr>
              <a:t>SOCK_STREAM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30" dirty="0">
                <a:latin typeface="Arial" panose="020B0604020202020204" pitchFamily="34" charset="0"/>
                <a:cs typeface="Arial" panose="020B0604020202020204" pitchFamily="34" charset="0"/>
              </a:rPr>
              <a:t>или</a:t>
            </a:r>
            <a:r>
              <a:rPr sz="3600" spc="-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95" dirty="0">
                <a:latin typeface="Arial" panose="020B0604020202020204" pitchFamily="34" charset="0"/>
                <a:cs typeface="Arial" panose="020B0604020202020204" pitchFamily="34" charset="0"/>
              </a:rPr>
              <a:t>SOCK_SEQPACKET</a:t>
            </a:r>
            <a:endParaRPr lang="en-US" sz="3600" spc="-195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35"/>
              </a:spcBef>
              <a:buChar char="•"/>
              <a:tabLst>
                <a:tab pos="473075" algn="l"/>
                <a:tab pos="473709" algn="l"/>
              </a:tabLst>
            </a:pPr>
            <a:r>
              <a:rPr lang="en-US" sz="3600" spc="-195" dirty="0">
                <a:latin typeface="Arial" panose="020B0604020202020204" pitchFamily="34" charset="0"/>
                <a:cs typeface="Arial" panose="020B0604020202020204" pitchFamily="34" charset="0"/>
              </a:rPr>
              <a:t>Backlog – </a:t>
            </a:r>
            <a:r>
              <a:rPr lang="ru-RU" sz="3600" spc="-195" dirty="0">
                <a:latin typeface="Arial" panose="020B0604020202020204" pitchFamily="34" charset="0"/>
                <a:cs typeface="Arial" panose="020B0604020202020204" pitchFamily="34" charset="0"/>
              </a:rPr>
              <a:t>длина очереди </a:t>
            </a:r>
            <a:r>
              <a:rPr lang="ru-RU" sz="3600" spc="-195" dirty="0" err="1">
                <a:latin typeface="Arial" panose="020B0604020202020204" pitchFamily="34" charset="0"/>
                <a:cs typeface="Arial" panose="020B0604020202020204" pitchFamily="34" charset="0"/>
              </a:rPr>
              <a:t>подлкючений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98911" y="1002343"/>
            <a:ext cx="1859914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-300" dirty="0">
                <a:solidFill>
                  <a:srgbClr val="003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3950" b="1" spc="-405" dirty="0">
                <a:solidFill>
                  <a:srgbClr val="003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3950" b="1" spc="-270" dirty="0">
                <a:solidFill>
                  <a:srgbClr val="003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</a:t>
            </a:r>
            <a:endParaRPr sz="39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44816" y="832090"/>
            <a:ext cx="280225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5" dirty="0"/>
              <a:t>accept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82592"/>
            <a:ext cx="16106775" cy="5718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129010">
              <a:lnSpc>
                <a:spcPct val="154800"/>
              </a:lnSpc>
              <a:spcBef>
                <a:spcPts val="100"/>
              </a:spcBef>
            </a:pPr>
            <a:r>
              <a:rPr sz="3600" spc="100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 </a:t>
            </a:r>
            <a:r>
              <a:rPr sz="3600" spc="30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&lt;sys/types.h&gt; </a:t>
            </a:r>
            <a:r>
              <a:rPr sz="3600" spc="35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00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#include</a:t>
            </a:r>
            <a:r>
              <a:rPr sz="3600" spc="20" dirty="0">
                <a:solidFill>
                  <a:srgbClr val="0171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&lt;sys/socket.h&gt;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sz="3600" spc="170" dirty="0"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sz="3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45" dirty="0">
                <a:latin typeface="Arial" panose="020B0604020202020204" pitchFamily="34" charset="0"/>
                <a:cs typeface="Arial" panose="020B0604020202020204" pitchFamily="34" charset="0"/>
              </a:rPr>
              <a:t>accept(int</a:t>
            </a:r>
            <a:r>
              <a:rPr sz="3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14" dirty="0">
                <a:latin typeface="Arial" panose="020B0604020202020204" pitchFamily="34" charset="0"/>
                <a:cs typeface="Arial" panose="020B0604020202020204" pitchFamily="34" charset="0"/>
              </a:rPr>
              <a:t>sockfd,</a:t>
            </a:r>
            <a:r>
              <a:rPr sz="3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65" dirty="0">
                <a:latin typeface="Arial" panose="020B0604020202020204" pitchFamily="34" charset="0"/>
                <a:cs typeface="Arial" panose="020B0604020202020204" pitchFamily="34" charset="0"/>
              </a:rPr>
              <a:t>struct</a:t>
            </a:r>
            <a:r>
              <a:rPr sz="3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20" dirty="0">
                <a:latin typeface="Arial" panose="020B0604020202020204" pitchFamily="34" charset="0"/>
                <a:cs typeface="Arial" panose="020B0604020202020204" pitchFamily="34" charset="0"/>
              </a:rPr>
              <a:t>sockaddr</a:t>
            </a:r>
            <a:r>
              <a:rPr sz="3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65" dirty="0">
                <a:latin typeface="Arial" panose="020B0604020202020204" pitchFamily="34" charset="0"/>
                <a:cs typeface="Arial" panose="020B0604020202020204" pitchFamily="34" charset="0"/>
              </a:rPr>
              <a:t>*addr,</a:t>
            </a:r>
            <a:r>
              <a:rPr sz="3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40" dirty="0">
                <a:latin typeface="Arial" panose="020B0604020202020204" pitchFamily="34" charset="0"/>
                <a:cs typeface="Arial" panose="020B0604020202020204" pitchFamily="34" charset="0"/>
              </a:rPr>
              <a:t>socklen_t</a:t>
            </a:r>
            <a:r>
              <a:rPr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85" dirty="0">
                <a:latin typeface="Arial" panose="020B0604020202020204" pitchFamily="34" charset="0"/>
                <a:cs typeface="Arial" panose="020B0604020202020204" pitchFamily="34" charset="0"/>
              </a:rPr>
              <a:t>*addrlen);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4815" indent="-412750">
              <a:lnSpc>
                <a:spcPct val="100000"/>
              </a:lnSpc>
              <a:spcBef>
                <a:spcPts val="2355"/>
              </a:spcBef>
              <a:buFont typeface="Microsoft Sans Serif"/>
              <a:buChar char="•"/>
              <a:tabLst>
                <a:tab pos="424815" algn="l"/>
                <a:tab pos="425450" algn="l"/>
              </a:tabLst>
            </a:pPr>
            <a:r>
              <a:rPr sz="3600" spc="-125" dirty="0">
                <a:latin typeface="Arial" panose="020B0604020202020204" pitchFamily="34" charset="0"/>
                <a:cs typeface="Arial" panose="020B0604020202020204" pitchFamily="34" charset="0"/>
              </a:rPr>
              <a:t>Т</a:t>
            </a:r>
            <a:r>
              <a:rPr sz="3600" spc="-120" dirty="0">
                <a:latin typeface="Arial" panose="020B0604020202020204" pitchFamily="34" charset="0"/>
                <a:cs typeface="Arial" panose="020B0604020202020204" pitchFamily="34" charset="0"/>
              </a:rPr>
              <a:t>и</a:t>
            </a:r>
            <a:r>
              <a:rPr sz="3600" spc="-254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sz="3600" spc="-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30" dirty="0">
                <a:latin typeface="Arial" panose="020B0604020202020204" pitchFamily="34" charset="0"/>
                <a:cs typeface="Arial" panose="020B0604020202020204" pitchFamily="34" charset="0"/>
              </a:rPr>
              <a:t>со</a:t>
            </a:r>
            <a:r>
              <a:rPr sz="3600" spc="35" dirty="0"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sz="3600" spc="-10" dirty="0">
                <a:latin typeface="Arial" panose="020B0604020202020204" pitchFamily="34" charset="0"/>
                <a:cs typeface="Arial" panose="020B0604020202020204" pitchFamily="34" charset="0"/>
              </a:rPr>
              <a:t>е</a:t>
            </a:r>
            <a:r>
              <a:rPr sz="3600" spc="10" dirty="0">
                <a:latin typeface="Arial" panose="020B0604020202020204" pitchFamily="34" charset="0"/>
                <a:cs typeface="Arial" panose="020B0604020202020204" pitchFamily="34" charset="0"/>
              </a:rPr>
              <a:t>та</a:t>
            </a:r>
            <a:r>
              <a:rPr sz="36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6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3600" spc="-155" dirty="0">
                <a:latin typeface="Arial" panose="020B0604020202020204" pitchFamily="34" charset="0"/>
                <a:cs typeface="Arial" panose="020B0604020202020204" pitchFamily="34" charset="0"/>
              </a:rPr>
              <a:t>OCK_</a:t>
            </a:r>
            <a:r>
              <a:rPr sz="3600" spc="-24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3600" spc="-130" dirty="0">
                <a:latin typeface="Arial" panose="020B0604020202020204" pitchFamily="34" charset="0"/>
                <a:cs typeface="Arial" panose="020B0604020202020204" pitchFamily="34" charset="0"/>
              </a:rPr>
              <a:t>TREAM,</a:t>
            </a:r>
            <a:r>
              <a:rPr sz="3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65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3600" spc="-190" dirty="0">
                <a:latin typeface="Arial" panose="020B0604020202020204" pitchFamily="34" charset="0"/>
                <a:cs typeface="Arial" panose="020B0604020202020204" pitchFamily="34" charset="0"/>
              </a:rPr>
              <a:t>OCK_S</a:t>
            </a:r>
            <a:r>
              <a:rPr sz="3600" spc="-225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3600" spc="110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sz="3600" spc="-49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3600" spc="-12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3600" spc="-180" dirty="0">
                <a:latin typeface="Arial" panose="020B0604020202020204" pitchFamily="34" charset="0"/>
                <a:cs typeface="Arial" panose="020B0604020202020204" pitchFamily="34" charset="0"/>
              </a:rPr>
              <a:t>CKET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4815" indent="-412750">
              <a:lnSpc>
                <a:spcPct val="100000"/>
              </a:lnSpc>
              <a:spcBef>
                <a:spcPts val="2370"/>
              </a:spcBef>
              <a:buFont typeface="Microsoft Sans Serif"/>
              <a:buChar char="•"/>
              <a:tabLst>
                <a:tab pos="424815" algn="l"/>
                <a:tab pos="425450" algn="l"/>
              </a:tabLst>
            </a:pPr>
            <a:r>
              <a:rPr sz="3600" spc="105" dirty="0">
                <a:latin typeface="Arial" panose="020B0604020202020204" pitchFamily="34" charset="0"/>
                <a:cs typeface="Arial" panose="020B0604020202020204" pitchFamily="34" charset="0"/>
              </a:rPr>
              <a:t>Взять</a:t>
            </a:r>
            <a:r>
              <a:rPr sz="36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229" dirty="0">
                <a:latin typeface="Arial" panose="020B0604020202020204" pitchFamily="34" charset="0"/>
                <a:cs typeface="Arial" panose="020B0604020202020204" pitchFamily="34" charset="0"/>
              </a:rPr>
              <a:t>одно</a:t>
            </a:r>
            <a:r>
              <a:rPr sz="36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20" dirty="0" err="1">
                <a:latin typeface="Arial" panose="020B0604020202020204" pitchFamily="34" charset="0"/>
                <a:cs typeface="Arial" panose="020B0604020202020204" pitchFamily="34" charset="0"/>
              </a:rPr>
              <a:t>входящее</a:t>
            </a:r>
            <a:r>
              <a:rPr sz="36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14" dirty="0" err="1">
                <a:latin typeface="Arial" panose="020B0604020202020204" pitchFamily="34" charset="0"/>
                <a:cs typeface="Arial" panose="020B0604020202020204" pitchFamily="34" charset="0"/>
              </a:rPr>
              <a:t>подключение</a:t>
            </a:r>
            <a:r>
              <a:rPr lang="ru-RU" sz="3600" spc="-114" dirty="0">
                <a:latin typeface="Arial" panose="020B0604020202020204" pitchFamily="34" charset="0"/>
                <a:cs typeface="Arial" panose="020B0604020202020204" pitchFamily="34" charset="0"/>
              </a:rPr>
              <a:t> из очереди</a:t>
            </a:r>
            <a:r>
              <a:rPr sz="3600" spc="-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20" dirty="0">
                <a:latin typeface="Arial" panose="020B0604020202020204" pitchFamily="34" charset="0"/>
                <a:cs typeface="Arial" panose="020B0604020202020204" pitchFamily="34" charset="0"/>
              </a:rPr>
              <a:t>или</a:t>
            </a:r>
            <a:r>
              <a:rPr sz="36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50" dirty="0">
                <a:latin typeface="Arial" panose="020B0604020202020204" pitchFamily="34" charset="0"/>
                <a:cs typeface="Arial" panose="020B0604020202020204" pitchFamily="34" charset="0"/>
              </a:rPr>
              <a:t>заснуть</a:t>
            </a:r>
            <a:r>
              <a:rPr sz="36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75" dirty="0">
                <a:latin typeface="Arial" panose="020B0604020202020204" pitchFamily="34" charset="0"/>
                <a:cs typeface="Arial" panose="020B0604020202020204" pitchFamily="34" charset="0"/>
              </a:rPr>
              <a:t>в</a:t>
            </a:r>
            <a:r>
              <a:rPr sz="36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25" dirty="0" err="1">
                <a:latin typeface="Arial" panose="020B0604020202020204" pitchFamily="34" charset="0"/>
                <a:cs typeface="Arial" panose="020B0604020202020204" pitchFamily="34" charset="0"/>
              </a:rPr>
              <a:t>ожидании</a:t>
            </a:r>
            <a:r>
              <a:rPr sz="36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05" dirty="0" err="1">
                <a:latin typeface="Arial" panose="020B0604020202020204" pitchFamily="34" charset="0"/>
                <a:cs typeface="Arial" panose="020B0604020202020204" pitchFamily="34" charset="0"/>
              </a:rPr>
              <a:t>соединения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24815" indent="-412750">
              <a:lnSpc>
                <a:spcPct val="100000"/>
              </a:lnSpc>
              <a:spcBef>
                <a:spcPts val="2375"/>
              </a:spcBef>
              <a:buFont typeface="Microsoft Sans Serif"/>
              <a:buChar char="•"/>
              <a:tabLst>
                <a:tab pos="424815" algn="l"/>
                <a:tab pos="425450" algn="l"/>
              </a:tabLst>
            </a:pPr>
            <a:r>
              <a:rPr sz="3600" spc="-45" dirty="0">
                <a:latin typeface="Arial" panose="020B0604020202020204" pitchFamily="34" charset="0"/>
                <a:cs typeface="Arial" panose="020B0604020202020204" pitchFamily="34" charset="0"/>
              </a:rPr>
              <a:t>Вернуть</a:t>
            </a:r>
            <a:r>
              <a:rPr sz="36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130" dirty="0">
                <a:latin typeface="Arial" panose="020B0604020202020204" pitchFamily="34" charset="0"/>
                <a:cs typeface="Arial" panose="020B0604020202020204" pitchFamily="34" charset="0"/>
              </a:rPr>
              <a:t>sockfd</a:t>
            </a:r>
            <a:r>
              <a:rPr sz="3600" spc="-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40" dirty="0">
                <a:latin typeface="Arial" panose="020B0604020202020204" pitchFamily="34" charset="0"/>
                <a:cs typeface="Arial" panose="020B0604020202020204" pitchFamily="34" charset="0"/>
              </a:rPr>
              <a:t>для</a:t>
            </a:r>
            <a:r>
              <a:rPr sz="36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00" dirty="0">
                <a:latin typeface="Arial" panose="020B0604020202020204" pitchFamily="34" charset="0"/>
                <a:cs typeface="Arial" panose="020B0604020202020204" pitchFamily="34" charset="0"/>
              </a:rPr>
              <a:t>работы</a:t>
            </a:r>
            <a:r>
              <a:rPr sz="3600" spc="-1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50" dirty="0">
                <a:latin typeface="Arial" panose="020B0604020202020204" pitchFamily="34" charset="0"/>
                <a:cs typeface="Arial" panose="020B0604020202020204" pitchFamily="34" charset="0"/>
              </a:rPr>
              <a:t>с</a:t>
            </a:r>
            <a:r>
              <a:rPr sz="3600" spc="-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600" spc="-125" dirty="0">
                <a:latin typeface="Arial" panose="020B0604020202020204" pitchFamily="34" charset="0"/>
                <a:cs typeface="Arial" panose="020B0604020202020204" pitchFamily="34" charset="0"/>
              </a:rPr>
              <a:t>подключением</a:t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98911" y="1002343"/>
            <a:ext cx="1859914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b="1" spc="-300" dirty="0">
                <a:solidFill>
                  <a:srgbClr val="003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sz="3950" b="1" spc="-405" dirty="0">
                <a:solidFill>
                  <a:srgbClr val="003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3950" b="1" spc="-270" dirty="0">
                <a:solidFill>
                  <a:srgbClr val="00346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</a:t>
            </a:r>
            <a:endParaRPr sz="39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17254" y="832090"/>
            <a:ext cx="406971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65" dirty="0"/>
              <a:t>s</a:t>
            </a:r>
            <a:r>
              <a:rPr spc="-280" dirty="0"/>
              <a:t>e</a:t>
            </a:r>
            <a:r>
              <a:rPr spc="-170" dirty="0"/>
              <a:t>n</a:t>
            </a:r>
            <a:r>
              <a:rPr spc="-15" dirty="0"/>
              <a:t>d</a:t>
            </a:r>
            <a:r>
              <a:rPr spc="409" dirty="0"/>
              <a:t>/</a:t>
            </a:r>
            <a:r>
              <a:rPr spc="-130" dirty="0"/>
              <a:t>r</a:t>
            </a:r>
            <a:r>
              <a:rPr spc="15" dirty="0"/>
              <a:t>e</a:t>
            </a:r>
            <a:r>
              <a:rPr spc="-110" dirty="0"/>
              <a:t>c</a:t>
            </a:r>
            <a:r>
              <a:rPr spc="120" dirty="0"/>
              <a:t>v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81021"/>
            <a:ext cx="13956030" cy="5556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401685">
              <a:lnSpc>
                <a:spcPct val="153100"/>
              </a:lnSpc>
              <a:spcBef>
                <a:spcPts val="95"/>
              </a:spcBef>
            </a:pPr>
            <a:r>
              <a:rPr sz="3950" spc="114" dirty="0">
                <a:solidFill>
                  <a:srgbClr val="017100"/>
                </a:solidFill>
                <a:latin typeface="Microsoft Sans Serif"/>
                <a:cs typeface="Microsoft Sans Serif"/>
              </a:rPr>
              <a:t>#include </a:t>
            </a:r>
            <a:r>
              <a:rPr sz="3950" spc="40" dirty="0">
                <a:solidFill>
                  <a:srgbClr val="017100"/>
                </a:solidFill>
                <a:latin typeface="Microsoft Sans Serif"/>
                <a:cs typeface="Microsoft Sans Serif"/>
              </a:rPr>
              <a:t>&lt;sys/types.h&gt; </a:t>
            </a:r>
            <a:r>
              <a:rPr sz="3950" spc="45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950" spc="114" dirty="0">
                <a:solidFill>
                  <a:srgbClr val="017100"/>
                </a:solidFill>
                <a:latin typeface="Microsoft Sans Serif"/>
                <a:cs typeface="Microsoft Sans Serif"/>
              </a:rPr>
              <a:t>#include</a:t>
            </a:r>
            <a:r>
              <a:rPr sz="3950" spc="-4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950" spc="30" dirty="0">
                <a:solidFill>
                  <a:srgbClr val="017100"/>
                </a:solidFill>
                <a:latin typeface="Microsoft Sans Serif"/>
                <a:cs typeface="Microsoft Sans Serif"/>
              </a:rPr>
              <a:t>&lt;sys/socket.h&gt;</a:t>
            </a:r>
            <a:endParaRPr sz="3950">
              <a:latin typeface="Microsoft Sans Serif"/>
              <a:cs typeface="Microsoft Sans Serif"/>
            </a:endParaRPr>
          </a:p>
          <a:p>
            <a:pPr marL="12700" marR="5080">
              <a:lnSpc>
                <a:spcPts val="7259"/>
              </a:lnSpc>
              <a:spcBef>
                <a:spcPts val="660"/>
              </a:spcBef>
            </a:pPr>
            <a:r>
              <a:rPr sz="3950" spc="-60" dirty="0">
                <a:latin typeface="Microsoft Sans Serif"/>
                <a:cs typeface="Microsoft Sans Serif"/>
              </a:rPr>
              <a:t>ssize_t </a:t>
            </a:r>
            <a:r>
              <a:rPr sz="3950" spc="135" dirty="0">
                <a:latin typeface="Microsoft Sans Serif"/>
                <a:cs typeface="Microsoft Sans Serif"/>
              </a:rPr>
              <a:t>recv(int sockfd, </a:t>
            </a:r>
            <a:r>
              <a:rPr sz="3950" spc="165" dirty="0">
                <a:latin typeface="Microsoft Sans Serif"/>
                <a:cs typeface="Microsoft Sans Serif"/>
              </a:rPr>
              <a:t>void </a:t>
            </a:r>
            <a:r>
              <a:rPr sz="3950" spc="120" dirty="0">
                <a:latin typeface="Microsoft Sans Serif"/>
                <a:cs typeface="Microsoft Sans Serif"/>
              </a:rPr>
              <a:t>*buf, </a:t>
            </a:r>
            <a:r>
              <a:rPr sz="3950" spc="-55" dirty="0">
                <a:latin typeface="Microsoft Sans Serif"/>
                <a:cs typeface="Microsoft Sans Serif"/>
              </a:rPr>
              <a:t>size_t </a:t>
            </a:r>
            <a:r>
              <a:rPr sz="3950" spc="85" dirty="0">
                <a:latin typeface="Microsoft Sans Serif"/>
                <a:cs typeface="Microsoft Sans Serif"/>
              </a:rPr>
              <a:t>len, </a:t>
            </a:r>
            <a:r>
              <a:rPr sz="3950" spc="195" dirty="0">
                <a:latin typeface="Microsoft Sans Serif"/>
                <a:cs typeface="Microsoft Sans Serif"/>
              </a:rPr>
              <a:t>int </a:t>
            </a:r>
            <a:r>
              <a:rPr sz="3950" spc="35" dirty="0">
                <a:latin typeface="Times New Roman"/>
                <a:cs typeface="Times New Roman"/>
              </a:rPr>
              <a:t>f</a:t>
            </a:r>
            <a:r>
              <a:rPr sz="3950" spc="35" dirty="0">
                <a:latin typeface="Microsoft Sans Serif"/>
                <a:cs typeface="Microsoft Sans Serif"/>
              </a:rPr>
              <a:t>lags); </a:t>
            </a:r>
            <a:r>
              <a:rPr sz="3950" spc="40" dirty="0">
                <a:latin typeface="Microsoft Sans Serif"/>
                <a:cs typeface="Microsoft Sans Serif"/>
              </a:rPr>
              <a:t> </a:t>
            </a:r>
            <a:r>
              <a:rPr sz="3950" spc="-60" dirty="0">
                <a:latin typeface="Microsoft Sans Serif"/>
                <a:cs typeface="Microsoft Sans Serif"/>
              </a:rPr>
              <a:t>ssize_t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120" dirty="0">
                <a:latin typeface="Microsoft Sans Serif"/>
                <a:cs typeface="Microsoft Sans Serif"/>
              </a:rPr>
              <a:t>send(int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135" dirty="0">
                <a:latin typeface="Microsoft Sans Serif"/>
                <a:cs typeface="Microsoft Sans Serif"/>
              </a:rPr>
              <a:t>sockfd,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175" dirty="0">
                <a:latin typeface="Microsoft Sans Serif"/>
                <a:cs typeface="Microsoft Sans Serif"/>
              </a:rPr>
              <a:t>const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165" dirty="0">
                <a:latin typeface="Microsoft Sans Serif"/>
                <a:cs typeface="Microsoft Sans Serif"/>
              </a:rPr>
              <a:t>void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120" dirty="0">
                <a:latin typeface="Microsoft Sans Serif"/>
                <a:cs typeface="Microsoft Sans Serif"/>
              </a:rPr>
              <a:t>*buf,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-55" dirty="0">
                <a:latin typeface="Microsoft Sans Serif"/>
                <a:cs typeface="Microsoft Sans Serif"/>
              </a:rPr>
              <a:t>size_t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85" dirty="0">
                <a:latin typeface="Microsoft Sans Serif"/>
                <a:cs typeface="Microsoft Sans Serif"/>
              </a:rPr>
              <a:t>len,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195" dirty="0">
                <a:latin typeface="Microsoft Sans Serif"/>
                <a:cs typeface="Microsoft Sans Serif"/>
              </a:rPr>
              <a:t>int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35" dirty="0">
                <a:latin typeface="Times New Roman"/>
                <a:cs typeface="Times New Roman"/>
              </a:rPr>
              <a:t>f</a:t>
            </a:r>
            <a:r>
              <a:rPr sz="3950" spc="35" dirty="0">
                <a:latin typeface="Microsoft Sans Serif"/>
                <a:cs typeface="Microsoft Sans Serif"/>
              </a:rPr>
              <a:t>lags);</a:t>
            </a:r>
            <a:endParaRPr sz="3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530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spcBef>
                <a:spcPts val="312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spc="475" dirty="0">
                <a:latin typeface="Lucida Sans Unicode"/>
                <a:cs typeface="Lucida Sans Unicode"/>
              </a:rPr>
              <a:t>Э</a:t>
            </a:r>
            <a:r>
              <a:rPr sz="3950" spc="45" dirty="0">
                <a:latin typeface="Lucida Sans Unicode"/>
                <a:cs typeface="Lucida Sans Unicode"/>
              </a:rPr>
              <a:t>к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90" dirty="0">
                <a:latin typeface="Lucida Sans Unicode"/>
                <a:cs typeface="Lucida Sans Unicode"/>
              </a:rPr>
              <a:t>в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55" dirty="0">
                <a:latin typeface="Lucida Sans Unicode"/>
                <a:cs typeface="Lucida Sans Unicode"/>
              </a:rPr>
              <a:t>л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125" dirty="0">
                <a:latin typeface="Lucida Sans Unicode"/>
                <a:cs typeface="Lucida Sans Unicode"/>
              </a:rPr>
              <a:t>тн</a:t>
            </a:r>
            <a:r>
              <a:rPr sz="3950" dirty="0">
                <a:latin typeface="Lucida Sans Unicode"/>
                <a:cs typeface="Lucida Sans Unicode"/>
              </a:rPr>
              <a:t>ы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110" dirty="0">
                <a:latin typeface="Microsoft Sans Serif"/>
                <a:cs typeface="Microsoft Sans Serif"/>
              </a:rPr>
              <a:t>r</a:t>
            </a:r>
            <a:r>
              <a:rPr sz="3950" spc="65" dirty="0">
                <a:latin typeface="Microsoft Sans Serif"/>
                <a:cs typeface="Microsoft Sans Serif"/>
              </a:rPr>
              <a:t>e</a:t>
            </a:r>
            <a:r>
              <a:rPr sz="3950" spc="110" dirty="0">
                <a:latin typeface="Microsoft Sans Serif"/>
                <a:cs typeface="Microsoft Sans Serif"/>
              </a:rPr>
              <a:t>ad</a:t>
            </a:r>
            <a:r>
              <a:rPr sz="3950" spc="335" dirty="0">
                <a:latin typeface="Microsoft Sans Serif"/>
                <a:cs typeface="Microsoft Sans Serif"/>
              </a:rPr>
              <a:t>/</a:t>
            </a:r>
            <a:r>
              <a:rPr sz="3950" spc="170" dirty="0">
                <a:latin typeface="Microsoft Sans Serif"/>
                <a:cs typeface="Microsoft Sans Serif"/>
              </a:rPr>
              <a:t>writ</a:t>
            </a:r>
            <a:r>
              <a:rPr sz="3950" spc="220" dirty="0">
                <a:latin typeface="Microsoft Sans Serif"/>
                <a:cs typeface="Microsoft Sans Serif"/>
              </a:rPr>
              <a:t>e</a:t>
            </a:r>
            <a:r>
              <a:rPr sz="3950" spc="15" dirty="0">
                <a:latin typeface="Microsoft Sans Serif"/>
                <a:cs typeface="Microsoft Sans Serif"/>
              </a:rPr>
              <a:t>,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-250" dirty="0">
                <a:latin typeface="Lucida Sans Unicode"/>
                <a:cs typeface="Lucida Sans Unicode"/>
              </a:rPr>
              <a:t>но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45" dirty="0">
                <a:latin typeface="Lucida Sans Unicode"/>
                <a:cs typeface="Lucida Sans Unicode"/>
              </a:rPr>
              <a:t>с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25" dirty="0">
                <a:latin typeface="Lucida Sans Unicode"/>
                <a:cs typeface="Lucida Sans Unicode"/>
              </a:rPr>
              <a:t>ф</a:t>
            </a:r>
            <a:r>
              <a:rPr sz="3950" spc="20" dirty="0">
                <a:latin typeface="Lucida Sans Unicode"/>
                <a:cs typeface="Lucida Sans Unicode"/>
              </a:rPr>
              <a:t>л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365" dirty="0">
                <a:latin typeface="Lucida Sans Unicode"/>
                <a:cs typeface="Lucida Sans Unicode"/>
              </a:rPr>
              <a:t>г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204" dirty="0">
                <a:latin typeface="Lucida Sans Unicode"/>
                <a:cs typeface="Lucida Sans Unicode"/>
              </a:rPr>
              <a:t>ми</a:t>
            </a:r>
            <a:endParaRPr sz="3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44709" y="832090"/>
            <a:ext cx="681482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5" dirty="0"/>
              <a:t>sendto/recvfrom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323643"/>
            <a:ext cx="17860645" cy="7061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3192125">
              <a:lnSpc>
                <a:spcPct val="152300"/>
              </a:lnSpc>
              <a:spcBef>
                <a:spcPts val="95"/>
              </a:spcBef>
            </a:pPr>
            <a:r>
              <a:rPr sz="3300" spc="105" dirty="0">
                <a:solidFill>
                  <a:srgbClr val="017100"/>
                </a:solidFill>
                <a:latin typeface="Microsoft Sans Serif"/>
                <a:cs typeface="Microsoft Sans Serif"/>
              </a:rPr>
              <a:t>#include </a:t>
            </a:r>
            <a:r>
              <a:rPr sz="3300" spc="40" dirty="0">
                <a:solidFill>
                  <a:srgbClr val="017100"/>
                </a:solidFill>
                <a:latin typeface="Microsoft Sans Serif"/>
                <a:cs typeface="Microsoft Sans Serif"/>
              </a:rPr>
              <a:t>&lt;sys/types.h&gt; </a:t>
            </a:r>
            <a:r>
              <a:rPr sz="3300" spc="45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300" spc="105" dirty="0">
                <a:solidFill>
                  <a:srgbClr val="017100"/>
                </a:solidFill>
                <a:latin typeface="Microsoft Sans Serif"/>
                <a:cs typeface="Microsoft Sans Serif"/>
              </a:rPr>
              <a:t>#include</a:t>
            </a:r>
            <a:r>
              <a:rPr sz="3300" spc="-65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300" spc="35" dirty="0">
                <a:solidFill>
                  <a:srgbClr val="017100"/>
                </a:solidFill>
                <a:latin typeface="Microsoft Sans Serif"/>
                <a:cs typeface="Microsoft Sans Serif"/>
              </a:rPr>
              <a:t>&lt;sys/socket.h&gt;</a:t>
            </a:r>
            <a:endParaRPr sz="3300" dirty="0">
              <a:latin typeface="Microsoft Sans Serif"/>
              <a:cs typeface="Microsoft Sans Serif"/>
            </a:endParaRPr>
          </a:p>
          <a:p>
            <a:pPr marL="12700" marR="1441450">
              <a:lnSpc>
                <a:spcPct val="110300"/>
              </a:lnSpc>
              <a:spcBef>
                <a:spcPts val="1665"/>
              </a:spcBef>
            </a:pPr>
            <a:r>
              <a:rPr sz="3300" spc="-40" dirty="0">
                <a:latin typeface="Microsoft Sans Serif"/>
                <a:cs typeface="Microsoft Sans Serif"/>
              </a:rPr>
              <a:t>ssize_t</a:t>
            </a:r>
            <a:r>
              <a:rPr sz="3300" dirty="0">
                <a:latin typeface="Microsoft Sans Serif"/>
                <a:cs typeface="Microsoft Sans Serif"/>
              </a:rPr>
              <a:t> </a:t>
            </a:r>
            <a:r>
              <a:rPr sz="3300" spc="150" dirty="0">
                <a:latin typeface="Microsoft Sans Serif"/>
                <a:cs typeface="Microsoft Sans Serif"/>
              </a:rPr>
              <a:t>recvfrom(int</a:t>
            </a:r>
            <a:r>
              <a:rPr sz="3300" spc="5" dirty="0">
                <a:latin typeface="Microsoft Sans Serif"/>
                <a:cs typeface="Microsoft Sans Serif"/>
              </a:rPr>
              <a:t> </a:t>
            </a:r>
            <a:r>
              <a:rPr sz="3300" spc="120" dirty="0">
                <a:latin typeface="Microsoft Sans Serif"/>
                <a:cs typeface="Microsoft Sans Serif"/>
              </a:rPr>
              <a:t>sockfd,</a:t>
            </a:r>
            <a:r>
              <a:rPr sz="3300" spc="5" dirty="0">
                <a:latin typeface="Microsoft Sans Serif"/>
                <a:cs typeface="Microsoft Sans Serif"/>
              </a:rPr>
              <a:t> </a:t>
            </a:r>
            <a:r>
              <a:rPr sz="3300" spc="145" dirty="0">
                <a:latin typeface="Microsoft Sans Serif"/>
                <a:cs typeface="Microsoft Sans Serif"/>
              </a:rPr>
              <a:t>void</a:t>
            </a:r>
            <a:r>
              <a:rPr sz="3300" dirty="0">
                <a:latin typeface="Microsoft Sans Serif"/>
                <a:cs typeface="Microsoft Sans Serif"/>
              </a:rPr>
              <a:t> </a:t>
            </a:r>
            <a:r>
              <a:rPr sz="3300" spc="110" dirty="0">
                <a:latin typeface="Microsoft Sans Serif"/>
                <a:cs typeface="Microsoft Sans Serif"/>
              </a:rPr>
              <a:t>*buf,</a:t>
            </a:r>
            <a:r>
              <a:rPr sz="3300" spc="5" dirty="0">
                <a:latin typeface="Microsoft Sans Serif"/>
                <a:cs typeface="Microsoft Sans Serif"/>
              </a:rPr>
              <a:t> </a:t>
            </a:r>
            <a:r>
              <a:rPr sz="3300" spc="-40" dirty="0">
                <a:latin typeface="Microsoft Sans Serif"/>
                <a:cs typeface="Microsoft Sans Serif"/>
              </a:rPr>
              <a:t>size_t</a:t>
            </a:r>
            <a:r>
              <a:rPr sz="3300" spc="5" dirty="0">
                <a:latin typeface="Microsoft Sans Serif"/>
                <a:cs typeface="Microsoft Sans Serif"/>
              </a:rPr>
              <a:t> </a:t>
            </a:r>
            <a:r>
              <a:rPr sz="3300" spc="80" dirty="0">
                <a:latin typeface="Microsoft Sans Serif"/>
                <a:cs typeface="Microsoft Sans Serif"/>
              </a:rPr>
              <a:t>len,</a:t>
            </a:r>
            <a:r>
              <a:rPr sz="3300" spc="5" dirty="0">
                <a:latin typeface="Microsoft Sans Serif"/>
                <a:cs typeface="Microsoft Sans Serif"/>
              </a:rPr>
              <a:t> </a:t>
            </a:r>
            <a:r>
              <a:rPr sz="3300" spc="170" dirty="0">
                <a:latin typeface="Microsoft Sans Serif"/>
                <a:cs typeface="Microsoft Sans Serif"/>
              </a:rPr>
              <a:t>int</a:t>
            </a:r>
            <a:r>
              <a:rPr sz="3300" dirty="0">
                <a:latin typeface="Microsoft Sans Serif"/>
                <a:cs typeface="Microsoft Sans Serif"/>
              </a:rPr>
              <a:t> </a:t>
            </a:r>
            <a:r>
              <a:rPr sz="3300" spc="45" dirty="0">
                <a:latin typeface="Times New Roman"/>
                <a:cs typeface="Times New Roman"/>
              </a:rPr>
              <a:t>f</a:t>
            </a:r>
            <a:r>
              <a:rPr sz="3300" spc="45" dirty="0">
                <a:latin typeface="Microsoft Sans Serif"/>
                <a:cs typeface="Microsoft Sans Serif"/>
              </a:rPr>
              <a:t>lags,</a:t>
            </a:r>
            <a:r>
              <a:rPr sz="3300" spc="5" dirty="0">
                <a:latin typeface="Microsoft Sans Serif"/>
                <a:cs typeface="Microsoft Sans Serif"/>
              </a:rPr>
              <a:t> </a:t>
            </a:r>
            <a:r>
              <a:rPr sz="3300" i="1" spc="140" dirty="0">
                <a:latin typeface="Arial"/>
                <a:cs typeface="Arial"/>
              </a:rPr>
              <a:t>struct</a:t>
            </a:r>
            <a:r>
              <a:rPr sz="3300" i="1" spc="-35" dirty="0">
                <a:latin typeface="Arial"/>
                <a:cs typeface="Arial"/>
              </a:rPr>
              <a:t> </a:t>
            </a:r>
            <a:r>
              <a:rPr sz="3300" i="1" spc="105" dirty="0">
                <a:latin typeface="Arial"/>
                <a:cs typeface="Arial"/>
              </a:rPr>
              <a:t>sockaddr</a:t>
            </a:r>
            <a:r>
              <a:rPr sz="3300" i="1" spc="-35" dirty="0">
                <a:latin typeface="Arial"/>
                <a:cs typeface="Arial"/>
              </a:rPr>
              <a:t> </a:t>
            </a:r>
            <a:r>
              <a:rPr sz="3300" i="1" spc="15" dirty="0">
                <a:latin typeface="Arial"/>
                <a:cs typeface="Arial"/>
              </a:rPr>
              <a:t>*src_addr, </a:t>
            </a:r>
            <a:r>
              <a:rPr sz="3300" i="1" spc="-905" dirty="0">
                <a:latin typeface="Arial"/>
                <a:cs typeface="Arial"/>
              </a:rPr>
              <a:t> </a:t>
            </a:r>
            <a:r>
              <a:rPr sz="3300" i="1" spc="25" dirty="0">
                <a:latin typeface="Arial"/>
                <a:cs typeface="Arial"/>
              </a:rPr>
              <a:t>socklen_t</a:t>
            </a:r>
            <a:r>
              <a:rPr sz="3300" i="1" spc="-45" dirty="0">
                <a:latin typeface="Arial"/>
                <a:cs typeface="Arial"/>
              </a:rPr>
              <a:t> </a:t>
            </a:r>
            <a:r>
              <a:rPr sz="3300" i="1" spc="85" dirty="0">
                <a:latin typeface="Arial"/>
                <a:cs typeface="Arial"/>
              </a:rPr>
              <a:t>*addrlen</a:t>
            </a:r>
            <a:r>
              <a:rPr sz="3300" spc="85" dirty="0">
                <a:latin typeface="Microsoft Sans Serif"/>
                <a:cs typeface="Microsoft Sans Serif"/>
              </a:rPr>
              <a:t>);</a:t>
            </a:r>
            <a:endParaRPr sz="33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070"/>
              </a:spcBef>
            </a:pPr>
            <a:r>
              <a:rPr sz="3300" spc="-40" dirty="0">
                <a:latin typeface="Microsoft Sans Serif"/>
                <a:cs typeface="Microsoft Sans Serif"/>
              </a:rPr>
              <a:t>ssize_t</a:t>
            </a:r>
            <a:r>
              <a:rPr sz="3300" dirty="0">
                <a:latin typeface="Microsoft Sans Serif"/>
                <a:cs typeface="Microsoft Sans Serif"/>
              </a:rPr>
              <a:t> </a:t>
            </a:r>
            <a:r>
              <a:rPr sz="3300" spc="130" dirty="0">
                <a:latin typeface="Microsoft Sans Serif"/>
                <a:cs typeface="Microsoft Sans Serif"/>
              </a:rPr>
              <a:t>sendto(int</a:t>
            </a:r>
            <a:r>
              <a:rPr sz="3300" spc="5" dirty="0">
                <a:latin typeface="Microsoft Sans Serif"/>
                <a:cs typeface="Microsoft Sans Serif"/>
              </a:rPr>
              <a:t> </a:t>
            </a:r>
            <a:r>
              <a:rPr sz="3300" spc="120" dirty="0">
                <a:latin typeface="Microsoft Sans Serif"/>
                <a:cs typeface="Microsoft Sans Serif"/>
              </a:rPr>
              <a:t>sockfd,</a:t>
            </a:r>
            <a:r>
              <a:rPr sz="3300" dirty="0">
                <a:latin typeface="Microsoft Sans Serif"/>
                <a:cs typeface="Microsoft Sans Serif"/>
              </a:rPr>
              <a:t> </a:t>
            </a:r>
            <a:r>
              <a:rPr sz="3300" spc="155" dirty="0">
                <a:latin typeface="Microsoft Sans Serif"/>
                <a:cs typeface="Microsoft Sans Serif"/>
              </a:rPr>
              <a:t>const</a:t>
            </a:r>
            <a:r>
              <a:rPr sz="3300" spc="5" dirty="0">
                <a:latin typeface="Microsoft Sans Serif"/>
                <a:cs typeface="Microsoft Sans Serif"/>
              </a:rPr>
              <a:t> </a:t>
            </a:r>
            <a:r>
              <a:rPr sz="3300" spc="145" dirty="0">
                <a:latin typeface="Microsoft Sans Serif"/>
                <a:cs typeface="Microsoft Sans Serif"/>
              </a:rPr>
              <a:t>void</a:t>
            </a:r>
            <a:r>
              <a:rPr sz="3300" spc="5" dirty="0">
                <a:latin typeface="Microsoft Sans Serif"/>
                <a:cs typeface="Microsoft Sans Serif"/>
              </a:rPr>
              <a:t> </a:t>
            </a:r>
            <a:r>
              <a:rPr sz="3300" spc="110" dirty="0">
                <a:latin typeface="Microsoft Sans Serif"/>
                <a:cs typeface="Microsoft Sans Serif"/>
              </a:rPr>
              <a:t>*buf,</a:t>
            </a:r>
            <a:r>
              <a:rPr sz="3300" dirty="0">
                <a:latin typeface="Microsoft Sans Serif"/>
                <a:cs typeface="Microsoft Sans Serif"/>
              </a:rPr>
              <a:t> </a:t>
            </a:r>
            <a:r>
              <a:rPr sz="3300" spc="-40" dirty="0">
                <a:latin typeface="Microsoft Sans Serif"/>
                <a:cs typeface="Microsoft Sans Serif"/>
              </a:rPr>
              <a:t>size_t</a:t>
            </a:r>
            <a:r>
              <a:rPr sz="3300" spc="5" dirty="0">
                <a:latin typeface="Microsoft Sans Serif"/>
                <a:cs typeface="Microsoft Sans Serif"/>
              </a:rPr>
              <a:t> </a:t>
            </a:r>
            <a:r>
              <a:rPr sz="3300" spc="80" dirty="0">
                <a:latin typeface="Microsoft Sans Serif"/>
                <a:cs typeface="Microsoft Sans Serif"/>
              </a:rPr>
              <a:t>len,</a:t>
            </a:r>
            <a:r>
              <a:rPr sz="3300" spc="5" dirty="0">
                <a:latin typeface="Microsoft Sans Serif"/>
                <a:cs typeface="Microsoft Sans Serif"/>
              </a:rPr>
              <a:t> </a:t>
            </a:r>
            <a:r>
              <a:rPr sz="3300" spc="170" dirty="0">
                <a:latin typeface="Microsoft Sans Serif"/>
                <a:cs typeface="Microsoft Sans Serif"/>
              </a:rPr>
              <a:t>int</a:t>
            </a:r>
            <a:r>
              <a:rPr sz="3300" dirty="0">
                <a:latin typeface="Microsoft Sans Serif"/>
                <a:cs typeface="Microsoft Sans Serif"/>
              </a:rPr>
              <a:t> </a:t>
            </a:r>
            <a:r>
              <a:rPr sz="3300" spc="45" dirty="0">
                <a:latin typeface="Times New Roman"/>
                <a:cs typeface="Times New Roman"/>
              </a:rPr>
              <a:t>f</a:t>
            </a:r>
            <a:r>
              <a:rPr sz="3300" spc="45" dirty="0">
                <a:latin typeface="Microsoft Sans Serif"/>
                <a:cs typeface="Microsoft Sans Serif"/>
              </a:rPr>
              <a:t>lags,</a:t>
            </a:r>
            <a:r>
              <a:rPr sz="3300" spc="5" dirty="0">
                <a:latin typeface="Microsoft Sans Serif"/>
                <a:cs typeface="Microsoft Sans Serif"/>
              </a:rPr>
              <a:t> </a:t>
            </a:r>
            <a:r>
              <a:rPr sz="3300" i="1" spc="120" dirty="0">
                <a:latin typeface="Arial"/>
                <a:cs typeface="Arial"/>
              </a:rPr>
              <a:t>const</a:t>
            </a:r>
            <a:r>
              <a:rPr sz="3300" i="1" spc="-40" dirty="0">
                <a:latin typeface="Arial"/>
                <a:cs typeface="Arial"/>
              </a:rPr>
              <a:t> </a:t>
            </a:r>
            <a:r>
              <a:rPr sz="3300" i="1" spc="140" dirty="0">
                <a:latin typeface="Arial"/>
                <a:cs typeface="Arial"/>
              </a:rPr>
              <a:t>struct</a:t>
            </a:r>
            <a:r>
              <a:rPr sz="3300" i="1" spc="-35" dirty="0">
                <a:latin typeface="Arial"/>
                <a:cs typeface="Arial"/>
              </a:rPr>
              <a:t> </a:t>
            </a:r>
            <a:r>
              <a:rPr sz="3300" i="1" spc="105" dirty="0">
                <a:latin typeface="Arial"/>
                <a:cs typeface="Arial"/>
              </a:rPr>
              <a:t>sockaddr</a:t>
            </a:r>
            <a:endParaRPr sz="33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3300" i="1" spc="25" dirty="0">
                <a:latin typeface="Arial"/>
                <a:cs typeface="Arial"/>
              </a:rPr>
              <a:t>*dest_addr,</a:t>
            </a:r>
            <a:r>
              <a:rPr sz="3300" i="1" spc="-40" dirty="0">
                <a:latin typeface="Arial"/>
                <a:cs typeface="Arial"/>
              </a:rPr>
              <a:t> </a:t>
            </a:r>
            <a:r>
              <a:rPr sz="3300" i="1" spc="25" dirty="0">
                <a:latin typeface="Arial"/>
                <a:cs typeface="Arial"/>
              </a:rPr>
              <a:t>socklen_t</a:t>
            </a:r>
            <a:r>
              <a:rPr sz="3300" i="1" spc="-40" dirty="0">
                <a:latin typeface="Arial"/>
                <a:cs typeface="Arial"/>
              </a:rPr>
              <a:t> </a:t>
            </a:r>
            <a:r>
              <a:rPr sz="3300" i="1" spc="90" dirty="0">
                <a:latin typeface="Arial"/>
                <a:cs typeface="Arial"/>
              </a:rPr>
              <a:t>addrlen</a:t>
            </a:r>
            <a:r>
              <a:rPr sz="3300" spc="90" dirty="0">
                <a:latin typeface="Microsoft Sans Serif"/>
                <a:cs typeface="Microsoft Sans Serif"/>
              </a:rPr>
              <a:t>);</a:t>
            </a:r>
            <a:endParaRPr sz="33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4400" dirty="0">
              <a:latin typeface="Microsoft Sans Serif"/>
              <a:cs typeface="Microsoft Sans Serif"/>
            </a:endParaRPr>
          </a:p>
          <a:p>
            <a:pPr marL="399415" indent="-387350">
              <a:lnSpc>
                <a:spcPct val="100000"/>
              </a:lnSpc>
              <a:spcBef>
                <a:spcPts val="3140"/>
              </a:spcBef>
              <a:buFont typeface="Microsoft Sans Serif"/>
              <a:buChar char="•"/>
              <a:tabLst>
                <a:tab pos="399415" algn="l"/>
                <a:tab pos="400050" algn="l"/>
              </a:tabLst>
            </a:pPr>
            <a:r>
              <a:rPr sz="3300" spc="-15" dirty="0">
                <a:latin typeface="Lucida Sans Unicode"/>
                <a:cs typeface="Lucida Sans Unicode"/>
              </a:rPr>
              <a:t>Для</a:t>
            </a:r>
            <a:r>
              <a:rPr sz="3300" spc="-204" dirty="0">
                <a:latin typeface="Lucida Sans Unicode"/>
                <a:cs typeface="Lucida Sans Unicode"/>
              </a:rPr>
              <a:t> </a:t>
            </a:r>
            <a:r>
              <a:rPr sz="3300" spc="-140" dirty="0">
                <a:latin typeface="Microsoft Sans Serif"/>
                <a:cs typeface="Microsoft Sans Serif"/>
              </a:rPr>
              <a:t>UDP</a:t>
            </a:r>
            <a:endParaRPr sz="3300" dirty="0">
              <a:latin typeface="Microsoft Sans Serif"/>
              <a:cs typeface="Microsoft Sans Serif"/>
            </a:endParaRPr>
          </a:p>
          <a:p>
            <a:pPr marL="399415" marR="5080" indent="-387350">
              <a:lnSpc>
                <a:spcPct val="110800"/>
              </a:lnSpc>
              <a:spcBef>
                <a:spcPts val="1680"/>
              </a:spcBef>
              <a:buFont typeface="Microsoft Sans Serif"/>
              <a:buChar char="•"/>
              <a:tabLst>
                <a:tab pos="399415" algn="l"/>
                <a:tab pos="400050" algn="l"/>
              </a:tabLst>
            </a:pPr>
            <a:r>
              <a:rPr sz="3300" spc="110" dirty="0">
                <a:latin typeface="Lucida Sans Unicode"/>
                <a:cs typeface="Lucida Sans Unicode"/>
              </a:rPr>
              <a:t>Как</a:t>
            </a:r>
            <a:r>
              <a:rPr sz="3300" spc="-165" dirty="0">
                <a:latin typeface="Lucida Sans Unicode"/>
                <a:cs typeface="Lucida Sans Unicode"/>
              </a:rPr>
              <a:t> </a:t>
            </a:r>
            <a:r>
              <a:rPr sz="3300" spc="90" dirty="0">
                <a:latin typeface="Microsoft Sans Serif"/>
                <a:cs typeface="Microsoft Sans Serif"/>
              </a:rPr>
              <a:t>send/recv,</a:t>
            </a:r>
            <a:r>
              <a:rPr sz="3300" spc="5" dirty="0">
                <a:latin typeface="Microsoft Sans Serif"/>
                <a:cs typeface="Microsoft Sans Serif"/>
              </a:rPr>
              <a:t> </a:t>
            </a:r>
            <a:r>
              <a:rPr sz="3300" spc="-200" dirty="0">
                <a:latin typeface="Lucida Sans Unicode"/>
                <a:cs typeface="Lucida Sans Unicode"/>
              </a:rPr>
              <a:t>но</a:t>
            </a:r>
            <a:r>
              <a:rPr sz="3300" spc="-165" dirty="0">
                <a:latin typeface="Lucida Sans Unicode"/>
                <a:cs typeface="Lucida Sans Unicode"/>
              </a:rPr>
              <a:t> </a:t>
            </a:r>
            <a:r>
              <a:rPr sz="3300" spc="-90" dirty="0">
                <a:latin typeface="Lucida Sans Unicode"/>
                <a:cs typeface="Lucida Sans Unicode"/>
              </a:rPr>
              <a:t>ещё</a:t>
            </a:r>
            <a:r>
              <a:rPr sz="3300" spc="-160" dirty="0">
                <a:latin typeface="Lucida Sans Unicode"/>
                <a:cs typeface="Lucida Sans Unicode"/>
              </a:rPr>
              <a:t> </a:t>
            </a:r>
            <a:r>
              <a:rPr sz="3300" spc="-200" dirty="0">
                <a:latin typeface="Lucida Sans Unicode"/>
                <a:cs typeface="Lucida Sans Unicode"/>
              </a:rPr>
              <a:t>доп</a:t>
            </a:r>
            <a:r>
              <a:rPr sz="3300" spc="-165" dirty="0">
                <a:latin typeface="Lucida Sans Unicode"/>
                <a:cs typeface="Lucida Sans Unicode"/>
              </a:rPr>
              <a:t> </a:t>
            </a:r>
            <a:r>
              <a:rPr sz="3300" spc="-85" dirty="0">
                <a:latin typeface="Lucida Sans Unicode"/>
                <a:cs typeface="Lucida Sans Unicode"/>
              </a:rPr>
              <a:t>параметры</a:t>
            </a:r>
            <a:r>
              <a:rPr sz="3300" spc="-165" dirty="0">
                <a:latin typeface="Lucida Sans Unicode"/>
                <a:cs typeface="Lucida Sans Unicode"/>
              </a:rPr>
              <a:t> </a:t>
            </a:r>
            <a:r>
              <a:rPr sz="3300" spc="-180" dirty="0">
                <a:latin typeface="Lucida Sans Unicode"/>
                <a:cs typeface="Lucida Sans Unicode"/>
              </a:rPr>
              <a:t>о</a:t>
            </a:r>
            <a:r>
              <a:rPr sz="3300" spc="-165" dirty="0">
                <a:latin typeface="Lucida Sans Unicode"/>
                <a:cs typeface="Lucida Sans Unicode"/>
              </a:rPr>
              <a:t> </a:t>
            </a:r>
            <a:r>
              <a:rPr sz="3300" spc="-80" dirty="0">
                <a:latin typeface="Lucida Sans Unicode"/>
                <a:cs typeface="Lucida Sans Unicode"/>
              </a:rPr>
              <a:t>том</a:t>
            </a:r>
            <a:r>
              <a:rPr sz="3300" spc="-80" dirty="0">
                <a:latin typeface="Microsoft Sans Serif"/>
                <a:cs typeface="Microsoft Sans Serif"/>
              </a:rPr>
              <a:t>,</a:t>
            </a:r>
            <a:r>
              <a:rPr sz="3300" spc="5" dirty="0">
                <a:latin typeface="Microsoft Sans Serif"/>
                <a:cs typeface="Microsoft Sans Serif"/>
              </a:rPr>
              <a:t> </a:t>
            </a:r>
            <a:r>
              <a:rPr sz="3300" spc="-55" dirty="0">
                <a:latin typeface="Lucida Sans Unicode"/>
                <a:cs typeface="Lucida Sans Unicode"/>
              </a:rPr>
              <a:t>куда</a:t>
            </a:r>
            <a:r>
              <a:rPr sz="3300" spc="-165" dirty="0">
                <a:latin typeface="Lucida Sans Unicode"/>
                <a:cs typeface="Lucida Sans Unicode"/>
              </a:rPr>
              <a:t> </a:t>
            </a:r>
            <a:r>
              <a:rPr sz="3300" spc="-40" dirty="0">
                <a:latin typeface="Lucida Sans Unicode"/>
                <a:cs typeface="Lucida Sans Unicode"/>
              </a:rPr>
              <a:t>подключаться</a:t>
            </a:r>
            <a:r>
              <a:rPr sz="3300" spc="-160" dirty="0">
                <a:latin typeface="Lucida Sans Unicode"/>
                <a:cs typeface="Lucida Sans Unicode"/>
              </a:rPr>
              <a:t> </a:t>
            </a:r>
            <a:r>
              <a:rPr sz="3300" spc="-50" dirty="0">
                <a:latin typeface="Microsoft Sans Serif"/>
                <a:cs typeface="Microsoft Sans Serif"/>
              </a:rPr>
              <a:t>(</a:t>
            </a:r>
            <a:r>
              <a:rPr sz="3300" spc="-50" dirty="0">
                <a:latin typeface="Lucida Sans Unicode"/>
                <a:cs typeface="Lucida Sans Unicode"/>
              </a:rPr>
              <a:t>нужны</a:t>
            </a:r>
            <a:r>
              <a:rPr sz="3300" spc="-50" dirty="0">
                <a:latin typeface="Microsoft Sans Serif"/>
                <a:cs typeface="Microsoft Sans Serif"/>
              </a:rPr>
              <a:t>,</a:t>
            </a:r>
            <a:r>
              <a:rPr sz="3300" dirty="0">
                <a:latin typeface="Microsoft Sans Serif"/>
                <a:cs typeface="Microsoft Sans Serif"/>
              </a:rPr>
              <a:t> </a:t>
            </a:r>
            <a:r>
              <a:rPr sz="3300" spc="35" dirty="0">
                <a:latin typeface="Lucida Sans Unicode"/>
                <a:cs typeface="Lucida Sans Unicode"/>
              </a:rPr>
              <a:t>так</a:t>
            </a:r>
            <a:r>
              <a:rPr sz="3300" spc="-160" dirty="0">
                <a:latin typeface="Lucida Sans Unicode"/>
                <a:cs typeface="Lucida Sans Unicode"/>
              </a:rPr>
              <a:t> </a:t>
            </a:r>
            <a:r>
              <a:rPr sz="3300" spc="40" dirty="0">
                <a:latin typeface="Lucida Sans Unicode"/>
                <a:cs typeface="Lucida Sans Unicode"/>
              </a:rPr>
              <a:t>как</a:t>
            </a:r>
            <a:r>
              <a:rPr sz="3300" spc="-165" dirty="0">
                <a:latin typeface="Lucida Sans Unicode"/>
                <a:cs typeface="Lucida Sans Unicode"/>
              </a:rPr>
              <a:t> </a:t>
            </a:r>
            <a:r>
              <a:rPr sz="3300" spc="-80" dirty="0">
                <a:latin typeface="Lucida Sans Unicode"/>
                <a:cs typeface="Lucida Sans Unicode"/>
              </a:rPr>
              <a:t>ранее </a:t>
            </a:r>
            <a:r>
              <a:rPr sz="3300" spc="-1030" dirty="0">
                <a:latin typeface="Lucida Sans Unicode"/>
                <a:cs typeface="Lucida Sans Unicode"/>
              </a:rPr>
              <a:t> </a:t>
            </a:r>
            <a:r>
              <a:rPr sz="3300" spc="-105" dirty="0">
                <a:latin typeface="Lucida Sans Unicode"/>
                <a:cs typeface="Lucida Sans Unicode"/>
              </a:rPr>
              <a:t>не</a:t>
            </a:r>
            <a:r>
              <a:rPr sz="3300" spc="-170" dirty="0">
                <a:latin typeface="Lucida Sans Unicode"/>
                <a:cs typeface="Lucida Sans Unicode"/>
              </a:rPr>
              <a:t> </a:t>
            </a:r>
            <a:r>
              <a:rPr sz="3300" spc="-80" dirty="0">
                <a:latin typeface="Lucida Sans Unicode"/>
                <a:cs typeface="Lucida Sans Unicode"/>
              </a:rPr>
              <a:t>было</a:t>
            </a:r>
            <a:r>
              <a:rPr sz="3300" spc="-165" dirty="0">
                <a:latin typeface="Lucida Sans Unicode"/>
                <a:cs typeface="Lucida Sans Unicode"/>
              </a:rPr>
              <a:t> </a:t>
            </a:r>
            <a:r>
              <a:rPr sz="3300" spc="15" dirty="0">
                <a:latin typeface="Lucida Sans Unicode"/>
                <a:cs typeface="Lucida Sans Unicode"/>
              </a:rPr>
              <a:t>вызова</a:t>
            </a:r>
            <a:r>
              <a:rPr sz="3300" spc="-165" dirty="0">
                <a:latin typeface="Lucida Sans Unicode"/>
                <a:cs typeface="Lucida Sans Unicode"/>
              </a:rPr>
              <a:t> </a:t>
            </a:r>
            <a:r>
              <a:rPr sz="3300" spc="155" dirty="0">
                <a:latin typeface="Microsoft Sans Serif"/>
                <a:cs typeface="Microsoft Sans Serif"/>
              </a:rPr>
              <a:t>connect)</a:t>
            </a:r>
            <a:endParaRPr sz="33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70" dirty="0"/>
              <a:t>ge</a:t>
            </a:r>
            <a:r>
              <a:rPr spc="-30" dirty="0"/>
              <a:t>t</a:t>
            </a:r>
            <a:r>
              <a:rPr spc="-100" dirty="0"/>
              <a:t>addrin</a:t>
            </a:r>
            <a:r>
              <a:rPr spc="-85" dirty="0"/>
              <a:t>f</a:t>
            </a:r>
            <a:r>
              <a:rPr spc="50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2271617"/>
            <a:ext cx="12644120" cy="73971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089775">
              <a:lnSpc>
                <a:spcPct val="153100"/>
              </a:lnSpc>
              <a:spcBef>
                <a:spcPts val="95"/>
              </a:spcBef>
            </a:pPr>
            <a:r>
              <a:rPr sz="3950" spc="114" dirty="0">
                <a:solidFill>
                  <a:srgbClr val="017100"/>
                </a:solidFill>
                <a:latin typeface="Microsoft Sans Serif"/>
                <a:cs typeface="Microsoft Sans Serif"/>
              </a:rPr>
              <a:t>#include </a:t>
            </a:r>
            <a:r>
              <a:rPr sz="3950" spc="40" dirty="0">
                <a:solidFill>
                  <a:srgbClr val="017100"/>
                </a:solidFill>
                <a:latin typeface="Microsoft Sans Serif"/>
                <a:cs typeface="Microsoft Sans Serif"/>
              </a:rPr>
              <a:t>&lt;sys/types.h&gt; </a:t>
            </a:r>
            <a:r>
              <a:rPr sz="3950" spc="45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950" spc="114" dirty="0">
                <a:solidFill>
                  <a:srgbClr val="017100"/>
                </a:solidFill>
                <a:latin typeface="Microsoft Sans Serif"/>
                <a:cs typeface="Microsoft Sans Serif"/>
              </a:rPr>
              <a:t>#include</a:t>
            </a:r>
            <a:r>
              <a:rPr sz="3950" spc="-4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950" spc="30" dirty="0">
                <a:solidFill>
                  <a:srgbClr val="017100"/>
                </a:solidFill>
                <a:latin typeface="Microsoft Sans Serif"/>
                <a:cs typeface="Microsoft Sans Serif"/>
              </a:rPr>
              <a:t>&lt;sys/socket.h&gt; </a:t>
            </a:r>
            <a:r>
              <a:rPr sz="3950" spc="-103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950" spc="114" dirty="0">
                <a:solidFill>
                  <a:srgbClr val="017100"/>
                </a:solidFill>
                <a:latin typeface="Microsoft Sans Serif"/>
                <a:cs typeface="Microsoft Sans Serif"/>
              </a:rPr>
              <a:t>#include</a:t>
            </a:r>
            <a:r>
              <a:rPr sz="3950" spc="-10" dirty="0">
                <a:solidFill>
                  <a:srgbClr val="017100"/>
                </a:solidFill>
                <a:latin typeface="Microsoft Sans Serif"/>
                <a:cs typeface="Microsoft Sans Serif"/>
              </a:rPr>
              <a:t> </a:t>
            </a:r>
            <a:r>
              <a:rPr sz="3950" spc="60" dirty="0">
                <a:solidFill>
                  <a:srgbClr val="017100"/>
                </a:solidFill>
                <a:latin typeface="Microsoft Sans Serif"/>
                <a:cs typeface="Microsoft Sans Serif"/>
              </a:rPr>
              <a:t>&lt;netdb.h&gt;</a:t>
            </a:r>
            <a:endParaRPr sz="3950">
              <a:latin typeface="Microsoft Sans Serif"/>
              <a:cs typeface="Microsoft Sans Serif"/>
            </a:endParaRPr>
          </a:p>
          <a:p>
            <a:pPr marL="3075940" marR="5080" indent="-3063875">
              <a:lnSpc>
                <a:spcPts val="7259"/>
              </a:lnSpc>
              <a:spcBef>
                <a:spcPts val="660"/>
              </a:spcBef>
            </a:pPr>
            <a:r>
              <a:rPr sz="3950" spc="195" dirty="0">
                <a:latin typeface="Microsoft Sans Serif"/>
                <a:cs typeface="Microsoft Sans Serif"/>
              </a:rPr>
              <a:t>int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160" dirty="0">
                <a:latin typeface="Microsoft Sans Serif"/>
                <a:cs typeface="Microsoft Sans Serif"/>
              </a:rPr>
              <a:t>getaddrinfo(const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140" dirty="0">
                <a:latin typeface="Microsoft Sans Serif"/>
                <a:cs typeface="Microsoft Sans Serif"/>
              </a:rPr>
              <a:t>char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130" dirty="0">
                <a:latin typeface="Microsoft Sans Serif"/>
                <a:cs typeface="Microsoft Sans Serif"/>
              </a:rPr>
              <a:t>*node,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175" dirty="0">
                <a:latin typeface="Microsoft Sans Serif"/>
                <a:cs typeface="Microsoft Sans Serif"/>
              </a:rPr>
              <a:t>const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140" dirty="0">
                <a:latin typeface="Microsoft Sans Serif"/>
                <a:cs typeface="Microsoft Sans Serif"/>
              </a:rPr>
              <a:t>char</a:t>
            </a:r>
            <a:r>
              <a:rPr sz="3950" dirty="0">
                <a:latin typeface="Microsoft Sans Serif"/>
                <a:cs typeface="Microsoft Sans Serif"/>
              </a:rPr>
              <a:t> </a:t>
            </a:r>
            <a:r>
              <a:rPr sz="3950" spc="80" dirty="0">
                <a:latin typeface="Microsoft Sans Serif"/>
                <a:cs typeface="Microsoft Sans Serif"/>
              </a:rPr>
              <a:t>*service, </a:t>
            </a:r>
            <a:r>
              <a:rPr sz="3950" spc="-1035" dirty="0">
                <a:latin typeface="Microsoft Sans Serif"/>
                <a:cs typeface="Microsoft Sans Serif"/>
              </a:rPr>
              <a:t> </a:t>
            </a:r>
            <a:r>
              <a:rPr sz="3950" spc="175" dirty="0">
                <a:latin typeface="Microsoft Sans Serif"/>
                <a:cs typeface="Microsoft Sans Serif"/>
              </a:rPr>
              <a:t>const</a:t>
            </a:r>
            <a:r>
              <a:rPr sz="3950" spc="-10" dirty="0">
                <a:latin typeface="Microsoft Sans Serif"/>
                <a:cs typeface="Microsoft Sans Serif"/>
              </a:rPr>
              <a:t> </a:t>
            </a:r>
            <a:r>
              <a:rPr sz="3950" spc="190" dirty="0">
                <a:latin typeface="Microsoft Sans Serif"/>
                <a:cs typeface="Microsoft Sans Serif"/>
              </a:rPr>
              <a:t>struct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165" dirty="0">
                <a:latin typeface="Microsoft Sans Serif"/>
                <a:cs typeface="Microsoft Sans Serif"/>
              </a:rPr>
              <a:t>addrinfo</a:t>
            </a:r>
            <a:r>
              <a:rPr sz="3950" spc="-10" dirty="0">
                <a:latin typeface="Microsoft Sans Serif"/>
                <a:cs typeface="Microsoft Sans Serif"/>
              </a:rPr>
              <a:t> </a:t>
            </a:r>
            <a:r>
              <a:rPr sz="3950" spc="114" dirty="0">
                <a:latin typeface="Microsoft Sans Serif"/>
                <a:cs typeface="Microsoft Sans Serif"/>
              </a:rPr>
              <a:t>*hints,</a:t>
            </a:r>
            <a:endParaRPr sz="3950">
              <a:latin typeface="Microsoft Sans Serif"/>
              <a:cs typeface="Microsoft Sans Serif"/>
            </a:endParaRPr>
          </a:p>
          <a:p>
            <a:pPr marL="3075940">
              <a:lnSpc>
                <a:spcPct val="100000"/>
              </a:lnSpc>
              <a:spcBef>
                <a:spcPts val="1845"/>
              </a:spcBef>
            </a:pPr>
            <a:r>
              <a:rPr sz="3950" spc="190" dirty="0">
                <a:latin typeface="Microsoft Sans Serif"/>
                <a:cs typeface="Microsoft Sans Serif"/>
              </a:rPr>
              <a:t>struct</a:t>
            </a:r>
            <a:r>
              <a:rPr sz="3950" spc="-25" dirty="0">
                <a:latin typeface="Microsoft Sans Serif"/>
                <a:cs typeface="Microsoft Sans Serif"/>
              </a:rPr>
              <a:t> </a:t>
            </a:r>
            <a:r>
              <a:rPr sz="3950" spc="165" dirty="0">
                <a:latin typeface="Microsoft Sans Serif"/>
                <a:cs typeface="Microsoft Sans Serif"/>
              </a:rPr>
              <a:t>addrinfo</a:t>
            </a:r>
            <a:r>
              <a:rPr sz="3950" spc="-20" dirty="0">
                <a:latin typeface="Microsoft Sans Serif"/>
                <a:cs typeface="Microsoft Sans Serif"/>
              </a:rPr>
              <a:t> </a:t>
            </a:r>
            <a:r>
              <a:rPr sz="3950" spc="45" dirty="0">
                <a:latin typeface="Microsoft Sans Serif"/>
                <a:cs typeface="Microsoft Sans Serif"/>
              </a:rPr>
              <a:t>**res);</a:t>
            </a:r>
            <a:endParaRPr sz="3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5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775"/>
              </a:spcBef>
            </a:pPr>
            <a:r>
              <a:rPr sz="3950" spc="-45" dirty="0">
                <a:latin typeface="Lucida Sans Unicode"/>
                <a:cs typeface="Lucida Sans Unicode"/>
              </a:rPr>
              <a:t>П</a:t>
            </a:r>
            <a:r>
              <a:rPr sz="3950" spc="-229" dirty="0">
                <a:latin typeface="Lucida Sans Unicode"/>
                <a:cs typeface="Lucida Sans Unicode"/>
              </a:rPr>
              <a:t>о</a:t>
            </a:r>
            <a:r>
              <a:rPr sz="3950" spc="-55" dirty="0">
                <a:latin typeface="Lucida Sans Unicode"/>
                <a:cs typeface="Lucida Sans Unicode"/>
              </a:rPr>
              <a:t>л</a:t>
            </a:r>
            <a:r>
              <a:rPr sz="3950" spc="-20" dirty="0">
                <a:latin typeface="Lucida Sans Unicode"/>
                <a:cs typeface="Lucida Sans Unicode"/>
              </a:rPr>
              <a:t>уч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dirty="0">
                <a:latin typeface="Lucida Sans Unicode"/>
                <a:cs typeface="Lucida Sans Unicode"/>
              </a:rPr>
              <a:t>ть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195" dirty="0">
                <a:latin typeface="Microsoft Sans Serif"/>
                <a:cs typeface="Microsoft Sans Serif"/>
              </a:rPr>
              <a:t>ip</a:t>
            </a:r>
            <a:r>
              <a:rPr sz="3950" spc="-5" dirty="0">
                <a:latin typeface="Microsoft Sans Serif"/>
                <a:cs typeface="Microsoft Sans Serif"/>
              </a:rPr>
              <a:t> 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275" dirty="0">
                <a:latin typeface="Lucida Sans Unicode"/>
                <a:cs typeface="Lucida Sans Unicode"/>
              </a:rPr>
              <a:t>др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r>
              <a:rPr sz="3950" spc="-45" dirty="0">
                <a:latin typeface="Lucida Sans Unicode"/>
                <a:cs typeface="Lucida Sans Unicode"/>
              </a:rPr>
              <a:t>с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250" dirty="0">
                <a:latin typeface="Lucida Sans Unicode"/>
                <a:cs typeface="Lucida Sans Unicode"/>
              </a:rPr>
              <a:t>по</a:t>
            </a:r>
            <a:r>
              <a:rPr sz="3950" spc="-204" dirty="0">
                <a:latin typeface="Lucida Sans Unicode"/>
                <a:cs typeface="Lucida Sans Unicode"/>
              </a:rPr>
              <a:t> </a:t>
            </a:r>
            <a:r>
              <a:rPr sz="3950" spc="-105" dirty="0">
                <a:latin typeface="Lucida Sans Unicode"/>
                <a:cs typeface="Lucida Sans Unicode"/>
              </a:rPr>
              <a:t>стр</a:t>
            </a:r>
            <a:r>
              <a:rPr sz="3950" spc="15" dirty="0">
                <a:latin typeface="Lucida Sans Unicode"/>
                <a:cs typeface="Lucida Sans Unicode"/>
              </a:rPr>
              <a:t>а</a:t>
            </a:r>
            <a:r>
              <a:rPr sz="3950" spc="-275" dirty="0">
                <a:latin typeface="Lucida Sans Unicode"/>
                <a:cs typeface="Lucida Sans Unicode"/>
              </a:rPr>
              <a:t>н</a:t>
            </a:r>
            <a:r>
              <a:rPr sz="3950" spc="-170" dirty="0">
                <a:latin typeface="Lucida Sans Unicode"/>
                <a:cs typeface="Lucida Sans Unicode"/>
              </a:rPr>
              <a:t>и</a:t>
            </a:r>
            <a:r>
              <a:rPr sz="3950" spc="-385" dirty="0">
                <a:latin typeface="Lucida Sans Unicode"/>
                <a:cs typeface="Lucida Sans Unicode"/>
              </a:rPr>
              <a:t>ц</a:t>
            </a:r>
            <a:r>
              <a:rPr sz="3950" dirty="0">
                <a:latin typeface="Lucida Sans Unicode"/>
                <a:cs typeface="Lucida Sans Unicode"/>
              </a:rPr>
              <a:t>е</a:t>
            </a:r>
            <a:endParaRPr sz="39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34812" y="821620"/>
            <a:ext cx="782193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15" dirty="0"/>
              <a:t>Посмотрет</a:t>
            </a:r>
            <a:r>
              <a:rPr spc="-5" dirty="0"/>
              <a:t>ь</a:t>
            </a:r>
            <a:r>
              <a:rPr spc="-800" dirty="0"/>
              <a:t> </a:t>
            </a:r>
            <a:r>
              <a:rPr spc="-240" dirty="0"/>
              <a:t>порты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6650" y="2911475"/>
            <a:ext cx="7086600" cy="12420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10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spc="280" dirty="0">
                <a:latin typeface="Microsoft Sans Serif"/>
                <a:cs typeface="Microsoft Sans Serif"/>
              </a:rPr>
              <a:t>$</a:t>
            </a:r>
            <a:r>
              <a:rPr sz="3950" spc="-25" dirty="0">
                <a:latin typeface="Microsoft Sans Serif"/>
                <a:cs typeface="Microsoft Sans Serif"/>
              </a:rPr>
              <a:t> </a:t>
            </a:r>
            <a:r>
              <a:rPr sz="3950" spc="135" dirty="0">
                <a:latin typeface="Microsoft Sans Serif"/>
                <a:cs typeface="Microsoft Sans Serif"/>
              </a:rPr>
              <a:t>sudo</a:t>
            </a:r>
            <a:r>
              <a:rPr sz="3950" spc="-25" dirty="0">
                <a:latin typeface="Microsoft Sans Serif"/>
                <a:cs typeface="Microsoft Sans Serif"/>
              </a:rPr>
              <a:t> </a:t>
            </a:r>
            <a:r>
              <a:rPr sz="3950" spc="145" dirty="0">
                <a:latin typeface="Microsoft Sans Serif"/>
                <a:cs typeface="Microsoft Sans Serif"/>
              </a:rPr>
              <a:t>netstat</a:t>
            </a:r>
            <a:r>
              <a:rPr sz="3950" spc="-20" dirty="0">
                <a:latin typeface="Microsoft Sans Serif"/>
                <a:cs typeface="Microsoft Sans Serif"/>
              </a:rPr>
              <a:t> </a:t>
            </a:r>
            <a:r>
              <a:rPr lang="ru-RU" sz="3950" spc="170" dirty="0">
                <a:latin typeface="Microsoft Sans Serif"/>
                <a:cs typeface="Microsoft Sans Serif"/>
              </a:rPr>
              <a:t>–</a:t>
            </a:r>
            <a:r>
              <a:rPr sz="3950" spc="170" dirty="0" err="1">
                <a:latin typeface="Microsoft Sans Serif"/>
                <a:cs typeface="Microsoft Sans Serif"/>
              </a:rPr>
              <a:t>tulpn</a:t>
            </a:r>
            <a:endParaRPr lang="en-US" sz="3950" spc="170" dirty="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spcBef>
                <a:spcPts val="105"/>
              </a:spcBef>
              <a:buChar char="•"/>
              <a:tabLst>
                <a:tab pos="473075" algn="l"/>
                <a:tab pos="473709" algn="l"/>
              </a:tabLst>
            </a:pPr>
            <a:r>
              <a:rPr lang="en-US" sz="3950" dirty="0">
                <a:latin typeface="Microsoft Sans Serif"/>
                <a:cs typeface="Microsoft Sans Serif"/>
              </a:rPr>
              <a:t>($ </a:t>
            </a:r>
            <a:r>
              <a:rPr lang="en-US" sz="3950" dirty="0" err="1">
                <a:latin typeface="Microsoft Sans Serif"/>
                <a:cs typeface="Microsoft Sans Serif"/>
              </a:rPr>
              <a:t>sudo</a:t>
            </a:r>
            <a:r>
              <a:rPr lang="en-US" sz="3950" dirty="0">
                <a:latin typeface="Microsoft Sans Serif"/>
                <a:cs typeface="Microsoft Sans Serif"/>
              </a:rPr>
              <a:t> apt install net-tools )</a:t>
            </a:r>
            <a:endParaRPr sz="395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8950" y="4513786"/>
            <a:ext cx="15926195" cy="352696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198B8-1562-4DCB-B514-344584CCB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238" y="854075"/>
            <a:ext cx="3307621" cy="1081405"/>
          </a:xfrm>
        </p:spPr>
        <p:txBody>
          <a:bodyPr/>
          <a:lstStyle/>
          <a:p>
            <a:r>
              <a:rPr lang="en-US" dirty="0" err="1"/>
              <a:t>NetCat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31687-3966-4F64-9839-208FDF135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8050" y="3902075"/>
            <a:ext cx="17951555" cy="184665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nc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127.0.0.1 1234 –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подключиться по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TCP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к серверу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nc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-</a:t>
            </a:r>
            <a:r>
              <a:rPr lang="en-US" sz="4000" dirty="0" err="1">
                <a:latin typeface="Arial" panose="020B0604020202020204" pitchFamily="34" charset="0"/>
                <a:cs typeface="Arial" panose="020B0604020202020204" pitchFamily="34" charset="0"/>
              </a:rPr>
              <a:t>zv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127.0.0.1 2000-2010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 – сканировать открытые порты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l – </a:t>
            </a:r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</a:rPr>
              <a:t>подключиться в режиме сервера</a:t>
            </a:r>
          </a:p>
        </p:txBody>
      </p:sp>
    </p:spTree>
    <p:extLst>
      <p:ext uri="{BB962C8B-B14F-4D97-AF65-F5344CB8AC3E}">
        <p14:creationId xmlns:p14="http://schemas.microsoft.com/office/powerpoint/2010/main" val="801967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9A879-67AD-49F8-A237-F3A808F0E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238" y="930275"/>
            <a:ext cx="3307621" cy="1081405"/>
          </a:xfrm>
        </p:spPr>
        <p:txBody>
          <a:bodyPr/>
          <a:lstStyle/>
          <a:p>
            <a:r>
              <a:rPr lang="en-US" dirty="0"/>
              <a:t>Python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3230A-856B-4A98-90D8-69C80532B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650" y="2301875"/>
            <a:ext cx="17951555" cy="3077766"/>
          </a:xfrm>
        </p:spPr>
        <p:txBody>
          <a:bodyPr/>
          <a:lstStyle/>
          <a:p>
            <a:endParaRPr lang="ru-RU" sz="4000" dirty="0">
              <a:latin typeface="Arial" panose="020B0604020202020204" pitchFamily="34" charset="0"/>
              <a:cs typeface="Arial" panose="020B0604020202020204" pitchFamily="34" charset="0"/>
              <a:hlinkClick r:id="rId2"/>
            </a:endParaRPr>
          </a:p>
          <a:p>
            <a:endParaRPr lang="ru-RU" sz="4000" dirty="0">
              <a:latin typeface="Arial" panose="020B0604020202020204" pitchFamily="34" charset="0"/>
              <a:cs typeface="Arial" panose="020B0604020202020204" pitchFamily="34" charset="0"/>
              <a:hlinkClick r:id="rId2"/>
            </a:endParaRPr>
          </a:p>
          <a:p>
            <a:endParaRPr lang="ru-RU" sz="4000" dirty="0">
              <a:latin typeface="Arial" panose="020B0604020202020204" pitchFamily="34" charset="0"/>
              <a:cs typeface="Arial" panose="020B0604020202020204" pitchFamily="34" charset="0"/>
              <a:hlinkClick r:id="rId2"/>
            </a:endParaRPr>
          </a:p>
          <a:p>
            <a:endParaRPr lang="ru-RU" sz="4000" dirty="0">
              <a:latin typeface="Arial" panose="020B0604020202020204" pitchFamily="34" charset="0"/>
              <a:cs typeface="Arial" panose="020B0604020202020204" pitchFamily="34" charset="0"/>
              <a:hlinkClick r:id="rId2"/>
            </a:endParaRPr>
          </a:p>
          <a:p>
            <a:r>
              <a:rPr lang="ru-RU" sz="4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Документация</a:t>
            </a:r>
          </a:p>
        </p:txBody>
      </p:sp>
    </p:spTree>
    <p:extLst>
      <p:ext uri="{BB962C8B-B14F-4D97-AF65-F5344CB8AC3E}">
        <p14:creationId xmlns:p14="http://schemas.microsoft.com/office/powerpoint/2010/main" val="2693205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CB05D-AFC0-40C0-B90C-9F85FED1B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0938" y="777875"/>
            <a:ext cx="5822221" cy="2123658"/>
          </a:xfrm>
        </p:spPr>
        <p:txBody>
          <a:bodyPr/>
          <a:lstStyle/>
          <a:p>
            <a:r>
              <a:rPr lang="ru-RU" dirty="0"/>
              <a:t>Что почитать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CC2BC-DBEE-4849-813F-A43BCF4E6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6272" y="2271617"/>
            <a:ext cx="17951555" cy="615553"/>
          </a:xfrm>
        </p:spPr>
        <p:txBody>
          <a:bodyPr/>
          <a:lstStyle/>
          <a:p>
            <a:r>
              <a:rPr lang="en-US" sz="4000" dirty="0">
                <a:hlinkClick r:id="rId2"/>
              </a:rPr>
              <a:t>System Approach</a:t>
            </a:r>
            <a:endParaRPr lang="ru-RU" sz="4000" dirty="0">
              <a:hlinkClick r:id="rId2"/>
            </a:endParaRPr>
          </a:p>
        </p:txBody>
      </p:sp>
    </p:spTree>
    <p:extLst>
      <p:ext uri="{BB962C8B-B14F-4D97-AF65-F5344CB8AC3E}">
        <p14:creationId xmlns:p14="http://schemas.microsoft.com/office/powerpoint/2010/main" val="1460062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2763</TotalTime>
  <Words>936</Words>
  <Application>Microsoft Office PowerPoint</Application>
  <PresentationFormat>Custom</PresentationFormat>
  <Paragraphs>125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Lucida Sans Unicode</vt:lpstr>
      <vt:lpstr>Microsoft Sans Serif</vt:lpstr>
      <vt:lpstr>Times New Roman</vt:lpstr>
      <vt:lpstr>Office Theme</vt:lpstr>
      <vt:lpstr>Сети 1</vt:lpstr>
      <vt:lpstr>Модель OSI</vt:lpstr>
      <vt:lpstr>UDP</vt:lpstr>
      <vt:lpstr>TCP</vt:lpstr>
      <vt:lpstr>PowerPoint Presentation</vt:lpstr>
      <vt:lpstr>PowerPoint Presentation</vt:lpstr>
      <vt:lpstr>socket</vt:lpstr>
      <vt:lpstr>connect</vt:lpstr>
      <vt:lpstr>sockaddr (AF_UNIX)</vt:lpstr>
      <vt:lpstr>sockaddr (AF_INET)</vt:lpstr>
      <vt:lpstr>Endian</vt:lpstr>
      <vt:lpstr>shutdown</vt:lpstr>
      <vt:lpstr>bind</vt:lpstr>
      <vt:lpstr>listen</vt:lpstr>
      <vt:lpstr>accept</vt:lpstr>
      <vt:lpstr>send/recv</vt:lpstr>
      <vt:lpstr>sendto/recvfrom</vt:lpstr>
      <vt:lpstr>getaddrinfo</vt:lpstr>
      <vt:lpstr>Посмотреть порты</vt:lpstr>
      <vt:lpstr>NetCat</vt:lpstr>
      <vt:lpstr>Python</vt:lpstr>
      <vt:lpstr>Что почитать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caos_10</dc:title>
  <cp:lastModifiedBy>Konstantin Dragun</cp:lastModifiedBy>
  <cp:revision>11</cp:revision>
  <dcterms:created xsi:type="dcterms:W3CDTF">2024-11-21T23:02:37Z</dcterms:created>
  <dcterms:modified xsi:type="dcterms:W3CDTF">2024-11-23T21:08:38Z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2023-12-07T00:00:00Z</vt:filetime>
  </property>
  <property fmtid="{D5CDD505-2E9C-101B-9397-08002B2CF9AE}" pid="3" name="Creator">
    <vt:lpwstr>Keynote</vt:lpwstr>
  </property>
  <property fmtid="{D5CDD505-2E9C-101B-9397-08002B2CF9AE}" pid="4" name="LastSaved">
    <vt:filetime>2024-11-21T00:00:00Z</vt:filetime>
  </property>
</Properties>
</file>