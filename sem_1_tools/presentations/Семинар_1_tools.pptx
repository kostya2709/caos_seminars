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7" r:id="rId7"/>
    <p:sldId id="266" r:id="rId8"/>
    <p:sldId id="265" r:id="rId9"/>
    <p:sldId id="270" r:id="rId10"/>
    <p:sldId id="264" r:id="rId11"/>
    <p:sldId id="260" r:id="rId12"/>
    <p:sldId id="268" r:id="rId13"/>
    <p:sldId id="271" r:id="rId14"/>
    <p:sldId id="261" r:id="rId15"/>
    <p:sldId id="262" r:id="rId16"/>
    <p:sldId id="263" r:id="rId17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30558" y="832090"/>
            <a:ext cx="3842982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6272" y="3513916"/>
            <a:ext cx="17951555" cy="475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49109904/how-to-interpret-prefixed-lines-in-c-preprocessor-outpu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ware.org/gdb/current/onlinedocs/gdb.html/Memory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rkdust.net/files/GDB%20Cheat%20Sheet.pdf" TargetMode="External"/><Relationship Id="rId2" Type="http://schemas.openxmlformats.org/officeDocument/2006/relationships/hyperlink" Target="https://cs.brown.edu/courses/cs033/docs/guides/gdb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ourceware.org/gdb/current/onlinedocs/gdb.html/TUI.html" TargetMode="External"/><Relationship Id="rId4" Type="http://schemas.openxmlformats.org/officeDocument/2006/relationships/hyperlink" Target="https://habr.com/ru/articles/824638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sanitizers/wiki/AddressSanitizerAlgorithm" TargetMode="External"/><Relationship Id="rId2" Type="http://schemas.openxmlformats.org/officeDocument/2006/relationships/hyperlink" Target="https://github.com/google/sanitizers/wiki/AddressSanitiz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oogle/sanitizers/wiki/AddressSanitizerUseAfterReturn" TargetMode="External"/><Relationship Id="rId4" Type="http://schemas.openxmlformats.org/officeDocument/2006/relationships/hyperlink" Target="https://www.usenix.org/conference/atc12/technical-sessions/presentation/serebryany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61989" y="5654675"/>
            <a:ext cx="8580120" cy="181927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5250" spc="5" dirty="0" err="1">
                <a:latin typeface="Arial" panose="020B0604020202020204" pitchFamily="34" charset="0"/>
                <a:cs typeface="Arial" panose="020B0604020202020204" pitchFamily="34" charset="0"/>
              </a:rPr>
              <a:t>Семина</a:t>
            </a:r>
            <a:r>
              <a:rPr lang="ru-RU" sz="5250" spc="5" dirty="0">
                <a:latin typeface="Arial" panose="020B0604020202020204" pitchFamily="34" charset="0"/>
                <a:cs typeface="Arial" panose="020B0604020202020204" pitchFamily="34" charset="0"/>
              </a:rPr>
              <a:t>р 1</a:t>
            </a:r>
            <a:endParaRPr sz="5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5250" dirty="0">
                <a:latin typeface="Arial" panose="020B0604020202020204" pitchFamily="34" charset="0"/>
                <a:cs typeface="Arial" panose="020B0604020202020204" pitchFamily="34" charset="0"/>
              </a:rPr>
              <a:t>Инструменты</a:t>
            </a:r>
            <a:r>
              <a:rPr sz="5250" spc="-2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250" spc="70" dirty="0">
                <a:latin typeface="Arial" panose="020B0604020202020204" pitchFamily="34" charset="0"/>
                <a:cs typeface="Arial" panose="020B0604020202020204" pitchFamily="34" charset="0"/>
              </a:rPr>
              <a:t>разработки</a:t>
            </a:r>
            <a:endParaRPr sz="5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8E777-7E38-4E09-B133-8A0460F98E7E}"/>
              </a:ext>
            </a:extLst>
          </p:cNvPr>
          <p:cNvSpPr txBox="1"/>
          <p:nvPr/>
        </p:nvSpPr>
        <p:spPr>
          <a:xfrm>
            <a:off x="8467089" y="2301875"/>
            <a:ext cx="31699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b="1" dirty="0"/>
              <a:t>АКОС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491" y="821620"/>
            <a:ext cx="812927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5" dirty="0"/>
              <a:t>Этап</a:t>
            </a:r>
            <a:r>
              <a:rPr spc="-20" dirty="0"/>
              <a:t>ы</a:t>
            </a:r>
            <a:r>
              <a:rPr spc="-800" dirty="0"/>
              <a:t> </a:t>
            </a:r>
            <a:r>
              <a:rPr spc="-65" dirty="0"/>
              <a:t>компи</a:t>
            </a:r>
            <a:r>
              <a:rPr spc="-55" dirty="0"/>
              <a:t>л</a:t>
            </a:r>
            <a:r>
              <a:rPr spc="-170" dirty="0"/>
              <a:t>яции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6005"/>
            <a:ext cx="15773400" cy="6595395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745490" indent="-733425">
              <a:lnSpc>
                <a:spcPct val="100000"/>
              </a:lnSpc>
              <a:spcBef>
                <a:spcPts val="2650"/>
              </a:spcBef>
              <a:buFont typeface="Microsoft Sans Serif"/>
              <a:buAutoNum type="arabicPeriod"/>
              <a:tabLst>
                <a:tab pos="745490" algn="l"/>
                <a:tab pos="746125" algn="l"/>
              </a:tabLst>
            </a:pPr>
            <a:r>
              <a:rPr sz="3950" spc="-170" dirty="0">
                <a:latin typeface="Arial" panose="020B0604020202020204" pitchFamily="34" charset="0"/>
                <a:cs typeface="Arial" panose="020B0604020202020204" pitchFamily="34" charset="0"/>
              </a:rPr>
              <a:t>Препроцессинг:</a:t>
            </a:r>
            <a:r>
              <a:rPr sz="39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950" b="1" spc="-8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b="1" spc="-8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3950" b="1" spc="-8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ru-RU" sz="3950" spc="-80" dirty="0">
                <a:latin typeface="Arial" panose="020B0604020202020204" pitchFamily="34" charset="0"/>
                <a:cs typeface="Arial" panose="020B0604020202020204" pitchFamily="34" charset="0"/>
              </a:rPr>
              <a:t>- про вывод препроцессора</a:t>
            </a:r>
            <a:r>
              <a:rPr lang="en-US" sz="39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950" spc="-8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тут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5490" indent="-733425">
              <a:lnSpc>
                <a:spcPct val="100000"/>
              </a:lnSpc>
              <a:spcBef>
                <a:spcPts val="2555"/>
              </a:spcBef>
              <a:buFont typeface="Microsoft Sans Serif"/>
              <a:buAutoNum type="arabicPeriod"/>
              <a:tabLst>
                <a:tab pos="745490" algn="l"/>
                <a:tab pos="746125" algn="l"/>
              </a:tabLst>
            </a:pPr>
            <a:r>
              <a:rPr sz="3950" spc="-70" dirty="0">
                <a:latin typeface="Arial" panose="020B0604020202020204" pitchFamily="34" charset="0"/>
                <a:cs typeface="Arial" panose="020B0604020202020204" pitchFamily="34" charset="0"/>
              </a:rPr>
              <a:t>Компиляция:</a:t>
            </a:r>
            <a:r>
              <a:rPr sz="395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-30" dirty="0">
                <a:latin typeface="Arial" panose="020B0604020202020204" pitchFamily="34" charset="0"/>
                <a:cs typeface="Arial" panose="020B0604020202020204" pitchFamily="34" charset="0"/>
              </a:rPr>
              <a:t>-S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5490" indent="-733425">
              <a:lnSpc>
                <a:spcPct val="100000"/>
              </a:lnSpc>
              <a:spcBef>
                <a:spcPts val="2555"/>
              </a:spcBef>
              <a:buFont typeface="Microsoft Sans Serif"/>
              <a:buAutoNum type="arabicPeriod"/>
              <a:tabLst>
                <a:tab pos="745490" algn="l"/>
                <a:tab pos="746125" algn="l"/>
              </a:tabLst>
            </a:pP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Ассемблирование:</a:t>
            </a:r>
            <a:r>
              <a:rPr sz="39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105" dirty="0">
                <a:latin typeface="Arial" panose="020B0604020202020204" pitchFamily="34" charset="0"/>
                <a:cs typeface="Arial" panose="020B0604020202020204" pitchFamily="34" charset="0"/>
              </a:rPr>
              <a:t>-c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5490" indent="-733425">
              <a:lnSpc>
                <a:spcPct val="100000"/>
              </a:lnSpc>
              <a:spcBef>
                <a:spcPts val="2555"/>
              </a:spcBef>
              <a:buFont typeface="Microsoft Sans Serif"/>
              <a:buAutoNum type="arabicPeriod"/>
              <a:tabLst>
                <a:tab pos="745490" algn="l"/>
                <a:tab pos="746125" algn="l"/>
              </a:tabLst>
            </a:pPr>
            <a:r>
              <a:rPr sz="3950" spc="-70" dirty="0">
                <a:latin typeface="Arial" panose="020B0604020202020204" pitchFamily="34" charset="0"/>
                <a:cs typeface="Arial" panose="020B0604020202020204" pitchFamily="34" charset="0"/>
              </a:rPr>
              <a:t>Линковка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950" spc="-35" dirty="0">
                <a:latin typeface="Arial" panose="020B0604020202020204" pitchFamily="34" charset="0"/>
                <a:cs typeface="Arial" panose="020B0604020202020204" pitchFamily="34" charset="0"/>
              </a:rPr>
              <a:t>N.B.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15" dirty="0">
                <a:latin typeface="Arial" panose="020B0604020202020204" pitchFamily="34" charset="0"/>
                <a:cs typeface="Arial" panose="020B0604020202020204" pitchFamily="34" charset="0"/>
              </a:rPr>
              <a:t>Флаги</a:t>
            </a:r>
            <a:r>
              <a:rPr sz="39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40" dirty="0">
                <a:latin typeface="Arial" panose="020B0604020202020204" pitchFamily="34" charset="0"/>
                <a:cs typeface="Arial" panose="020B0604020202020204" pitchFamily="34" charset="0"/>
              </a:rPr>
              <a:t>сообщают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20" dirty="0">
                <a:latin typeface="Arial" panose="020B0604020202020204" pitchFamily="34" charset="0"/>
                <a:cs typeface="Arial" panose="020B0604020202020204" pitchFamily="34" charset="0"/>
              </a:rPr>
              <a:t>компилятору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30" dirty="0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60" dirty="0">
                <a:latin typeface="Arial" panose="020B0604020202020204" pitchFamily="34" charset="0"/>
                <a:cs typeface="Arial" panose="020B0604020202020204" pitchFamily="34" charset="0"/>
              </a:rPr>
              <a:t>какой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стадии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55" dirty="0">
                <a:latin typeface="Arial" panose="020B0604020202020204" pitchFamily="34" charset="0"/>
                <a:cs typeface="Arial" panose="020B0604020202020204" pitchFamily="34" charset="0"/>
              </a:rPr>
              <a:t>остановиться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950" b="1" i="1" spc="2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3950" b="1" i="1" spc="2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b="1" i="1" spc="25" dirty="0">
                <a:latin typeface="Arial" panose="020B0604020202020204" pitchFamily="34" charset="0"/>
                <a:cs typeface="Arial" panose="020B0604020202020204" pitchFamily="34" charset="0"/>
              </a:rPr>
              <a:t>save-temps</a:t>
            </a:r>
            <a:r>
              <a:rPr sz="3950" b="1" i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60" dirty="0">
                <a:latin typeface="Arial" panose="020B0604020202020204" pitchFamily="34" charset="0"/>
                <a:cs typeface="Arial" panose="020B0604020202020204" pitchFamily="34" charset="0"/>
              </a:rPr>
              <a:t>сохранить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15" dirty="0" err="1">
                <a:latin typeface="Arial" panose="020B0604020202020204" pitchFamily="34" charset="0"/>
                <a:cs typeface="Arial" panose="020B0604020202020204" pitchFamily="34" charset="0"/>
              </a:rPr>
              <a:t>все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30" dirty="0" err="1">
                <a:latin typeface="Arial" panose="020B0604020202020204" pitchFamily="34" charset="0"/>
                <a:cs typeface="Arial" panose="020B0604020202020204" pitchFamily="34" charset="0"/>
              </a:rPr>
              <a:t>временны</a:t>
            </a:r>
            <a:r>
              <a:rPr lang="ru-RU" sz="3950" spc="-13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0" dirty="0">
                <a:latin typeface="Arial" panose="020B0604020202020204" pitchFamily="34" charset="0"/>
                <a:cs typeface="Arial" panose="020B0604020202020204" pitchFamily="34" charset="0"/>
              </a:rPr>
              <a:t>файлы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45" dirty="0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45" dirty="0">
                <a:latin typeface="Arial" panose="020B0604020202020204" pitchFamily="34" charset="0"/>
                <a:cs typeface="Arial" panose="020B0604020202020204" pitchFamily="34" charset="0"/>
              </a:rPr>
              <a:t>компиляции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lang="en-US" sz="3950" spc="-50" dirty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sz="3950" spc="-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335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sz="3950" b="1" spc="-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-50" dirty="0">
                <a:latin typeface="Arial" panose="020B0604020202020204" pitchFamily="34" charset="0"/>
                <a:cs typeface="Arial" panose="020B0604020202020204" pitchFamily="34" charset="0"/>
              </a:rPr>
              <a:t>g++</a:t>
            </a:r>
            <a:r>
              <a:rPr sz="3950" b="1" spc="-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8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b="1" spc="-10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950" b="1" spc="-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60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sz="3950" b="1" spc="-7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3950" b="1" spc="100" dirty="0"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9870" y="70129"/>
            <a:ext cx="18643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25" dirty="0"/>
              <a:t>GDB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8050" y="1151534"/>
            <a:ext cx="17581245" cy="10148291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362585" indent="-350520">
              <a:lnSpc>
                <a:spcPct val="100000"/>
              </a:lnSpc>
              <a:spcBef>
                <a:spcPts val="1975"/>
              </a:spcBef>
              <a:buFont typeface="Microsoft Sans Serif"/>
              <a:buChar char="•"/>
              <a:tabLst>
                <a:tab pos="362585" algn="l"/>
                <a:tab pos="363220" algn="l"/>
              </a:tabLst>
            </a:pPr>
            <a:r>
              <a:rPr lang="en-US"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g++ -g main.cpp -&gt; </a:t>
            </a:r>
            <a:r>
              <a:rPr lang="en-US" sz="3600" b="1" spc="75" dirty="0" err="1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75" dirty="0" err="1">
                <a:latin typeface="Arial" panose="020B0604020202020204" pitchFamily="34" charset="0"/>
                <a:cs typeface="Arial" panose="020B0604020202020204" pitchFamily="34" charset="0"/>
              </a:rPr>
              <a:t>a.out</a:t>
            </a:r>
            <a:r>
              <a:rPr lang="en-US"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3600" b="1" spc="75" dirty="0" err="1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 --</a:t>
            </a:r>
            <a:r>
              <a:rPr lang="en-US" sz="3600" b="1" spc="75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75" dirty="0" err="1">
                <a:latin typeface="Arial" panose="020B0604020202020204" pitchFamily="34" charset="0"/>
                <a:cs typeface="Arial" panose="020B0604020202020204" pitchFamily="34" charset="0"/>
              </a:rPr>
              <a:t>a.out</a:t>
            </a:r>
            <a:r>
              <a:rPr lang="en-US"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 arg1 arg2</a:t>
            </a:r>
          </a:p>
          <a:p>
            <a:pPr marL="362585" indent="-350520">
              <a:lnSpc>
                <a:spcPct val="100000"/>
              </a:lnSpc>
              <a:spcBef>
                <a:spcPts val="1975"/>
              </a:spcBef>
              <a:buFont typeface="Microsoft Sans Serif"/>
              <a:buChar char="•"/>
              <a:tabLst>
                <a:tab pos="362585" algn="l"/>
                <a:tab pos="363220" algn="l"/>
              </a:tabLst>
            </a:pPr>
            <a:r>
              <a:rPr sz="3600" spc="75" dirty="0" err="1">
                <a:latin typeface="Arial" panose="020B0604020202020204" pitchFamily="34" charset="0"/>
                <a:cs typeface="Arial" panose="020B0604020202020204" pitchFamily="34" charset="0"/>
              </a:rPr>
              <a:t>База</a:t>
            </a:r>
            <a:r>
              <a:rPr sz="3600" spc="7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60" dirty="0">
                <a:latin typeface="Arial" panose="020B0604020202020204" pitchFamily="34" charset="0"/>
                <a:cs typeface="Arial" panose="020B0604020202020204" pitchFamily="34" charset="0"/>
              </a:rPr>
              <a:t>break(b)</a:t>
            </a:r>
            <a:r>
              <a:rPr sz="36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14" dirty="0">
                <a:latin typeface="Arial" panose="020B0604020202020204" pitchFamily="34" charset="0"/>
                <a:cs typeface="Arial" panose="020B0604020202020204" pitchFamily="34" charset="0"/>
              </a:rPr>
              <a:t>breakpoint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40" dirty="0">
                <a:latin typeface="Arial" panose="020B0604020202020204" pitchFamily="34" charset="0"/>
                <a:cs typeface="Arial" panose="020B0604020202020204" pitchFamily="34" charset="0"/>
              </a:rPr>
              <a:t>step(s)</a:t>
            </a: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375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70" dirty="0">
                <a:latin typeface="Arial" panose="020B0604020202020204" pitchFamily="34" charset="0"/>
                <a:cs typeface="Arial" panose="020B0604020202020204" pitchFamily="34" charset="0"/>
              </a:rPr>
              <a:t>next(n)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65" dirty="0">
                <a:latin typeface="Arial" panose="020B0604020202020204" pitchFamily="34" charset="0"/>
                <a:cs typeface="Arial" panose="020B0604020202020204" pitchFamily="34" charset="0"/>
              </a:rPr>
              <a:t>следующая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60" dirty="0">
                <a:latin typeface="Arial" panose="020B0604020202020204" pitchFamily="34" charset="0"/>
                <a:cs typeface="Arial" panose="020B0604020202020204" pitchFamily="34" charset="0"/>
              </a:rPr>
              <a:t>строка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3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заходом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375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20" dirty="0"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5" dirty="0">
                <a:latin typeface="Arial" panose="020B0604020202020204" pitchFamily="34" charset="0"/>
                <a:cs typeface="Arial" panose="020B0604020202020204" pitchFamily="34" charset="0"/>
              </a:rPr>
              <a:t>захода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7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0" dirty="0">
                <a:latin typeface="Arial" panose="020B0604020202020204" pitchFamily="34" charset="0"/>
                <a:cs typeface="Arial" panose="020B0604020202020204" pitchFamily="34" charset="0"/>
              </a:rPr>
              <a:t>функцию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45" dirty="0">
                <a:latin typeface="Arial" panose="020B0604020202020204" pitchFamily="34" charset="0"/>
                <a:cs typeface="Arial" panose="020B0604020202020204" pitchFamily="34" charset="0"/>
              </a:rPr>
              <a:t>stepi(si)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375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nexti(ni)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3600" spc="-65" dirty="0">
                <a:latin typeface="Arial" panose="020B0604020202020204" pitchFamily="34" charset="0"/>
                <a:cs typeface="Arial" panose="020B0604020202020204" pitchFamily="34" charset="0"/>
              </a:rPr>
              <a:t>следующая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55" dirty="0">
                <a:latin typeface="Arial" panose="020B0604020202020204" pitchFamily="34" charset="0"/>
                <a:cs typeface="Arial" panose="020B0604020202020204" pitchFamily="34" charset="0"/>
              </a:rPr>
              <a:t>ассемблерная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90" dirty="0">
                <a:latin typeface="Arial" panose="020B0604020202020204" pitchFamily="34" charset="0"/>
                <a:cs typeface="Arial" panose="020B0604020202020204" pitchFamily="34" charset="0"/>
              </a:rPr>
              <a:t>инструкция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3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заходом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375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20" dirty="0"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5" dirty="0">
                <a:latin typeface="Arial" panose="020B0604020202020204" pitchFamily="34" charset="0"/>
                <a:cs typeface="Arial" panose="020B0604020202020204" pitchFamily="34" charset="0"/>
              </a:rPr>
              <a:t>захода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7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0" dirty="0">
                <a:latin typeface="Arial" panose="020B0604020202020204" pitchFamily="34" charset="0"/>
                <a:cs typeface="Arial" panose="020B0604020202020204" pitchFamily="34" charset="0"/>
              </a:rPr>
              <a:t>функцию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95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75" dirty="0">
                <a:latin typeface="Arial" panose="020B0604020202020204" pitchFamily="34" charset="0"/>
                <a:cs typeface="Arial" panose="020B0604020202020204" pitchFamily="34" charset="0"/>
              </a:rPr>
              <a:t>run(r)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3600" spc="35" dirty="0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3600" spc="-21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600" spc="-55" dirty="0">
                <a:latin typeface="Arial" panose="020B0604020202020204" pitchFamily="34" charset="0"/>
                <a:cs typeface="Arial" panose="020B0604020202020204" pitchFamily="34" charset="0"/>
              </a:rPr>
              <a:t>усти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ть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600" spc="-120" dirty="0">
                <a:latin typeface="Arial" panose="020B0604020202020204" pitchFamily="34" charset="0"/>
                <a:cs typeface="Arial" panose="020B0604020202020204" pitchFamily="34" charset="0"/>
              </a:rPr>
              <a:t>сп</a:t>
            </a:r>
            <a:r>
              <a:rPr sz="3600" spc="-17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600" spc="-4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3600" spc="-210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600" spc="-210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6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21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600" spc="-22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600" spc="-17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600" spc="-280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3600" spc="-22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600" spc="-120" dirty="0">
                <a:latin typeface="Arial" panose="020B0604020202020204" pitchFamily="34" charset="0"/>
                <a:cs typeface="Arial" panose="020B0604020202020204" pitchFamily="34" charset="0"/>
              </a:rPr>
              <a:t>ммы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3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25" dirty="0">
                <a:latin typeface="Arial" panose="020B0604020202020204" pitchFamily="34" charset="0"/>
                <a:cs typeface="Arial" panose="020B0604020202020204" pitchFamily="34" charset="0"/>
              </a:rPr>
              <a:t>начала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110" dirty="0">
                <a:latin typeface="Arial" panose="020B0604020202020204" pitchFamily="34" charset="0"/>
                <a:cs typeface="Arial" panose="020B0604020202020204" pitchFamily="34" charset="0"/>
              </a:rPr>
              <a:t>continue(c)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0" dirty="0">
                <a:latin typeface="Arial" panose="020B0604020202020204" pitchFamily="34" charset="0"/>
                <a:cs typeface="Arial" panose="020B0604020202020204" pitchFamily="34" charset="0"/>
              </a:rPr>
              <a:t>продолжить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14" dirty="0">
                <a:latin typeface="Arial" panose="020B0604020202020204" pitchFamily="34" charset="0"/>
                <a:cs typeface="Arial" panose="020B0604020202020204" pitchFamily="34" charset="0"/>
              </a:rPr>
              <a:t>исполнение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35" dirty="0">
                <a:latin typeface="Arial" panose="020B0604020202020204" pitchFamily="34" charset="0"/>
                <a:cs typeface="Arial" panose="020B0604020202020204" pitchFamily="34" charset="0"/>
              </a:rPr>
              <a:t>(до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5" dirty="0">
                <a:latin typeface="Arial" panose="020B0604020202020204" pitchFamily="34" charset="0"/>
                <a:cs typeface="Arial" panose="020B0604020202020204" pitchFamily="34" charset="0"/>
              </a:rPr>
              <a:t>конца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95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0" dirty="0">
                <a:latin typeface="Arial" panose="020B0604020202020204" pitchFamily="34" charset="0"/>
                <a:cs typeface="Arial" panose="020B0604020202020204" pitchFamily="34" charset="0"/>
              </a:rPr>
              <a:t>следующего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00" dirty="0">
                <a:latin typeface="Arial" panose="020B0604020202020204" pitchFamily="34" charset="0"/>
                <a:cs typeface="Arial" panose="020B0604020202020204" pitchFamily="34" charset="0"/>
              </a:rPr>
              <a:t>breakpoint)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160" dirty="0">
                <a:latin typeface="Arial" panose="020B0604020202020204" pitchFamily="34" charset="0"/>
                <a:cs typeface="Arial" panose="020B0604020202020204" pitchFamily="34" charset="0"/>
              </a:rPr>
              <a:t>quit</a:t>
            </a:r>
            <a:r>
              <a:rPr sz="3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35" dirty="0">
                <a:latin typeface="Arial" panose="020B0604020202020204" pitchFamily="34" charset="0"/>
                <a:cs typeface="Arial" panose="020B0604020202020204" pitchFamily="34" charset="0"/>
              </a:rPr>
              <a:t>выйти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2585" indent="-350520">
              <a:lnSpc>
                <a:spcPct val="100000"/>
              </a:lnSpc>
              <a:spcBef>
                <a:spcPts val="1880"/>
              </a:spcBef>
              <a:buChar char="•"/>
              <a:tabLst>
                <a:tab pos="362585" algn="l"/>
                <a:tab pos="363220" algn="l"/>
              </a:tabLst>
            </a:pPr>
            <a:r>
              <a:rPr sz="3600" spc="60" dirty="0">
                <a:latin typeface="Arial" panose="020B0604020202020204" pitchFamily="34" charset="0"/>
                <a:cs typeface="Arial" panose="020B0604020202020204" pitchFamily="34" charset="0"/>
              </a:rPr>
              <a:t>Layout:</a:t>
            </a:r>
            <a:endParaRPr lang="en-US" sz="3600" spc="6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9785" lvl="1" indent="-350520">
              <a:spcBef>
                <a:spcPts val="1880"/>
              </a:spcBef>
              <a:buChar char="•"/>
              <a:tabLst>
                <a:tab pos="362585" algn="l"/>
                <a:tab pos="363220" algn="l"/>
              </a:tabLst>
            </a:pPr>
            <a:r>
              <a:rPr lang="en-US" sz="3600" b="1" spc="60" dirty="0">
                <a:latin typeface="Arial" panose="020B0604020202020204" pitchFamily="34" charset="0"/>
                <a:cs typeface="Arial" panose="020B0604020202020204" pitchFamily="34" charset="0"/>
              </a:rPr>
              <a:t>tui enable/disable (Ctrl + X A) / </a:t>
            </a:r>
            <a:r>
              <a:rPr lang="en-US" sz="3600" b="1" spc="60" dirty="0" err="1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3600" b="1" spc="60" dirty="0">
                <a:latin typeface="Arial" panose="020B0604020202020204" pitchFamily="34" charset="0"/>
                <a:cs typeface="Arial" panose="020B0604020202020204" pitchFamily="34" charset="0"/>
              </a:rPr>
              <a:t> –tui </a:t>
            </a:r>
            <a:r>
              <a:rPr lang="en-US" sz="3600" spc="6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3600" spc="60" dirty="0">
                <a:latin typeface="Arial" panose="020B0604020202020204" pitchFamily="34" charset="0"/>
                <a:cs typeface="Arial" panose="020B0604020202020204" pitchFamily="34" charset="0"/>
              </a:rPr>
              <a:t>запустить </a:t>
            </a:r>
            <a:r>
              <a:rPr lang="en-US" sz="3600" spc="60" dirty="0">
                <a:latin typeface="Arial" panose="020B0604020202020204" pitchFamily="34" charset="0"/>
                <a:cs typeface="Arial" panose="020B0604020202020204" pitchFamily="34" charset="0"/>
              </a:rPr>
              <a:t>tui (Text User Interface)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85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95" dirty="0">
                <a:latin typeface="Arial" panose="020B0604020202020204" pitchFamily="34" charset="0"/>
                <a:cs typeface="Arial" panose="020B0604020202020204" pitchFamily="34" charset="0"/>
              </a:rPr>
              <a:t>next(n)/prev(p)/src/asm/split/regs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75" dirty="0">
                <a:latin typeface="Arial" panose="020B0604020202020204" pitchFamily="34" charset="0"/>
                <a:cs typeface="Arial" panose="020B0604020202020204" pitchFamily="34" charset="0"/>
              </a:rPr>
              <a:t>изменить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85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110" dirty="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95" dirty="0">
                <a:latin typeface="Arial" panose="020B0604020202020204" pitchFamily="34" charset="0"/>
                <a:cs typeface="Arial" panose="020B0604020202020204" pitchFamily="34" charset="0"/>
              </a:rPr>
              <a:t>next(n)/prev(p)/src/asm/split/regs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3600" spc="-75" dirty="0">
                <a:latin typeface="Arial" panose="020B0604020202020204" pitchFamily="34" charset="0"/>
                <a:cs typeface="Arial" panose="020B0604020202020204" pitchFamily="34" charset="0"/>
              </a:rPr>
              <a:t>изменить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35" dirty="0">
                <a:latin typeface="Arial" panose="020B0604020202020204" pitchFamily="34" charset="0"/>
                <a:cs typeface="Arial" panose="020B0604020202020204" pitchFamily="34" charset="0"/>
              </a:rPr>
              <a:t>фокус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6660" y="625475"/>
            <a:ext cx="497078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25" dirty="0"/>
              <a:t>GDB</a:t>
            </a:r>
            <a:r>
              <a:rPr lang="en-US" spc="-325" dirty="0"/>
              <a:t> (layout)</a:t>
            </a:r>
            <a:endParaRPr spc="-325" dirty="0"/>
          </a:p>
        </p:txBody>
      </p:sp>
      <p:sp>
        <p:nvSpPr>
          <p:cNvPr id="3" name="object 3"/>
          <p:cNvSpPr txBox="1"/>
          <p:nvPr/>
        </p:nvSpPr>
        <p:spPr>
          <a:xfrm>
            <a:off x="755650" y="2149475"/>
            <a:ext cx="17581245" cy="6390852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819785" lvl="1" indent="-350520">
              <a:spcBef>
                <a:spcPts val="1880"/>
              </a:spcBef>
              <a:buChar char="•"/>
              <a:tabLst>
                <a:tab pos="362585" algn="l"/>
                <a:tab pos="363220" algn="l"/>
              </a:tabLst>
            </a:pPr>
            <a:r>
              <a:rPr lang="en-US" sz="3600" b="1" spc="60" dirty="0">
                <a:latin typeface="Arial" panose="020B0604020202020204" pitchFamily="34" charset="0"/>
                <a:cs typeface="Arial" panose="020B0604020202020204" pitchFamily="34" charset="0"/>
              </a:rPr>
              <a:t>tui enable/disable (Ctrl + X A) / </a:t>
            </a:r>
            <a:r>
              <a:rPr lang="en-US" sz="3600" b="1" spc="60" dirty="0" err="1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3600" b="1" spc="60" dirty="0">
                <a:latin typeface="Arial" panose="020B0604020202020204" pitchFamily="34" charset="0"/>
                <a:cs typeface="Arial" panose="020B0604020202020204" pitchFamily="34" charset="0"/>
              </a:rPr>
              <a:t> –tui </a:t>
            </a:r>
            <a:r>
              <a:rPr lang="en-US" sz="3600" spc="6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3600" spc="60" dirty="0">
                <a:latin typeface="Arial" panose="020B0604020202020204" pitchFamily="34" charset="0"/>
                <a:cs typeface="Arial" panose="020B0604020202020204" pitchFamily="34" charset="0"/>
              </a:rPr>
              <a:t>запустить </a:t>
            </a:r>
            <a:r>
              <a:rPr lang="en-US" sz="3600" spc="60" dirty="0">
                <a:latin typeface="Arial" panose="020B0604020202020204" pitchFamily="34" charset="0"/>
                <a:cs typeface="Arial" panose="020B0604020202020204" pitchFamily="34" charset="0"/>
              </a:rPr>
              <a:t>tui (Text User Interface)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85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95" dirty="0">
                <a:latin typeface="Arial" panose="020B0604020202020204" pitchFamily="34" charset="0"/>
                <a:cs typeface="Arial" panose="020B0604020202020204" pitchFamily="34" charset="0"/>
              </a:rPr>
              <a:t>next(n)/prev(p)/src/asm/split/regs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75" dirty="0">
                <a:latin typeface="Arial" panose="020B0604020202020204" pitchFamily="34" charset="0"/>
                <a:cs typeface="Arial" panose="020B0604020202020204" pitchFamily="34" charset="0"/>
              </a:rPr>
              <a:t>изменить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85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sz="3600" b="1" spc="110" dirty="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95" dirty="0">
                <a:latin typeface="Arial" panose="020B0604020202020204" pitchFamily="34" charset="0"/>
                <a:cs typeface="Arial" panose="020B0604020202020204" pitchFamily="34" charset="0"/>
              </a:rPr>
              <a:t>next(n)/prev(p)/src/asm/split/regs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3600" spc="-75" dirty="0" err="1">
                <a:latin typeface="Arial" panose="020B0604020202020204" pitchFamily="34" charset="0"/>
                <a:cs typeface="Arial" panose="020B0604020202020204" pitchFamily="34" charset="0"/>
              </a:rPr>
              <a:t>изменить</a:t>
            </a:r>
            <a:r>
              <a:rPr sz="3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35" dirty="0" err="1">
                <a:latin typeface="Arial" panose="020B0604020202020204" pitchFamily="34" charset="0"/>
                <a:cs typeface="Arial" panose="020B0604020202020204" pitchFamily="34" charset="0"/>
              </a:rPr>
              <a:t>фокус</a:t>
            </a:r>
            <a:endParaRPr lang="en-US" sz="3600" spc="-3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lang="en-US" sz="3600" b="1" spc="-35" dirty="0">
                <a:latin typeface="Arial" panose="020B0604020202020204" pitchFamily="34" charset="0"/>
                <a:cs typeface="Arial" panose="020B0604020202020204" pitchFamily="34" charset="0"/>
              </a:rPr>
              <a:t>tui reg </a:t>
            </a:r>
            <a:r>
              <a:rPr lang="en-US" sz="3600" b="1" spc="-35" dirty="0" err="1">
                <a:latin typeface="Arial" panose="020B0604020202020204" pitchFamily="34" charset="0"/>
                <a:cs typeface="Arial" panose="020B0604020202020204" pitchFamily="34" charset="0"/>
              </a:rPr>
              <a:t>sse</a:t>
            </a:r>
            <a:r>
              <a:rPr lang="en-US" sz="3600" b="1" spc="-35" dirty="0">
                <a:latin typeface="Arial" panose="020B0604020202020204" pitchFamily="34" charset="0"/>
                <a:cs typeface="Arial" panose="020B0604020202020204" pitchFamily="34" charset="0"/>
              </a:rPr>
              <a:t>/float/… </a:t>
            </a:r>
            <a:r>
              <a:rPr lang="en-US" sz="3600" spc="-3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3600" spc="-35" dirty="0">
                <a:latin typeface="Arial" panose="020B0604020202020204" pitchFamily="34" charset="0"/>
                <a:cs typeface="Arial" panose="020B0604020202020204" pitchFamily="34" charset="0"/>
              </a:rPr>
              <a:t>добавить окно с определённым </a:t>
            </a:r>
            <a:r>
              <a:rPr lang="en-US" sz="3600" spc="-35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lang="ru-RU" sz="3600" spc="-3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endParaRPr lang="en-US" sz="3600" spc="-3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lang="en-US" sz="3600" b="1" spc="-35" dirty="0">
                <a:latin typeface="Arial" panose="020B0604020202020204" pitchFamily="34" charset="0"/>
                <a:cs typeface="Arial" panose="020B0604020202020204" pitchFamily="34" charset="0"/>
              </a:rPr>
              <a:t>Ctrl + X 2 </a:t>
            </a:r>
            <a:r>
              <a:rPr lang="en-US" sz="3600" spc="-35" dirty="0">
                <a:latin typeface="Arial" panose="020B0604020202020204" pitchFamily="34" charset="0"/>
                <a:cs typeface="Arial" panose="020B0604020202020204" pitchFamily="34" charset="0"/>
              </a:rPr>
              <a:t>– layout next</a:t>
            </a: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lang="en-US" sz="3600" b="1" spc="-35" dirty="0">
                <a:latin typeface="Arial" panose="020B0604020202020204" pitchFamily="34" charset="0"/>
                <a:cs typeface="Arial" panose="020B0604020202020204" pitchFamily="34" charset="0"/>
              </a:rPr>
              <a:t>Ctrl + P / N</a:t>
            </a:r>
            <a:r>
              <a:rPr lang="en-US" sz="3600" spc="-35" dirty="0">
                <a:latin typeface="Arial" panose="020B0604020202020204" pitchFamily="34" charset="0"/>
                <a:cs typeface="Arial" panose="020B0604020202020204" pitchFamily="34" charset="0"/>
              </a:rPr>
              <a:t> – previous/next command</a:t>
            </a:r>
          </a:p>
          <a:p>
            <a:pPr marL="822960" lvl="1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822960" algn="l"/>
                <a:tab pos="823594" algn="l"/>
              </a:tabLst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Ctrl + L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перерисовать экран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23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3618" y="832090"/>
            <a:ext cx="18643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25" dirty="0"/>
              <a:t>GDB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2685395" cy="6595395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b="1" spc="280" dirty="0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sz="395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145" dirty="0">
                <a:latin typeface="Arial" panose="020B0604020202020204" pitchFamily="34" charset="0"/>
                <a:cs typeface="Arial" panose="020B0604020202020204" pitchFamily="34" charset="0"/>
              </a:rPr>
              <a:t>-p</a:t>
            </a:r>
            <a:r>
              <a:rPr sz="395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95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-120" dirty="0">
                <a:latin typeface="Arial" panose="020B0604020202020204" pitchFamily="34" charset="0"/>
                <a:cs typeface="Arial" panose="020B0604020202020204" pitchFamily="34" charset="0"/>
              </a:rPr>
              <a:t>д</a:t>
            </a: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3950" spc="-5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3950" spc="-145" dirty="0">
                <a:latin typeface="Arial" panose="020B0604020202020204" pitchFamily="34" charset="0"/>
                <a:cs typeface="Arial" panose="020B0604020202020204" pitchFamily="34" charset="0"/>
              </a:rPr>
              <a:t>ю</a:t>
            </a:r>
            <a:r>
              <a:rPr sz="3950" spc="60" dirty="0">
                <a:latin typeface="Arial" panose="020B0604020202020204" pitchFamily="34" charset="0"/>
                <a:cs typeface="Arial" panose="020B0604020202020204" pitchFamily="34" charset="0"/>
              </a:rPr>
              <a:t>ч</a:t>
            </a:r>
            <a:r>
              <a:rPr sz="395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ь</a:t>
            </a:r>
            <a:r>
              <a:rPr sz="3950" spc="70" dirty="0">
                <a:latin typeface="Arial" panose="020B0604020202020204" pitchFamily="34" charset="0"/>
                <a:cs typeface="Arial" panose="020B0604020202020204" pitchFamily="34" charset="0"/>
              </a:rPr>
              <a:t>ся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45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sz="3950" spc="60" dirty="0">
                <a:latin typeface="Arial" panose="020B0604020202020204" pitchFamily="34" charset="0"/>
                <a:cs typeface="Arial" panose="020B0604020202020204" pitchFamily="34" charset="0"/>
              </a:rPr>
              <a:t>ж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0" dirty="0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950" spc="-235" dirty="0">
                <a:latin typeface="Arial" panose="020B0604020202020204" pitchFamily="34" charset="0"/>
                <a:cs typeface="Arial" panose="020B0604020202020204" pitchFamily="34" charset="0"/>
              </a:rPr>
              <a:t>ущ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нн</a:t>
            </a:r>
            <a:r>
              <a:rPr sz="395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3950" spc="-140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95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95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-385" dirty="0">
                <a:latin typeface="Arial" panose="020B0604020202020204" pitchFamily="34" charset="0"/>
                <a:cs typeface="Arial" panose="020B0604020202020204" pitchFamily="34" charset="0"/>
              </a:rPr>
              <a:t>ц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65" dirty="0">
                <a:latin typeface="Arial" panose="020B0604020202020204" pitchFamily="34" charset="0"/>
                <a:cs typeface="Arial" panose="020B0604020202020204" pitchFamily="34" charset="0"/>
              </a:rPr>
              <a:t>ссу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b="1" spc="170" dirty="0">
                <a:latin typeface="Arial" panose="020B0604020202020204" pitchFamily="34" charset="0"/>
                <a:cs typeface="Arial" panose="020B0604020202020204" pitchFamily="34" charset="0"/>
              </a:rPr>
              <a:t>detach</a:t>
            </a:r>
            <a:r>
              <a:rPr sz="395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95" dirty="0">
                <a:latin typeface="Arial" panose="020B0604020202020204" pitchFamily="34" charset="0"/>
                <a:cs typeface="Arial" panose="020B0604020202020204" pitchFamily="34" charset="0"/>
              </a:rPr>
              <a:t>отсоединиться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39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55" dirty="0">
                <a:latin typeface="Arial" panose="020B0604020202020204" pitchFamily="34" charset="0"/>
                <a:cs typeface="Arial" panose="020B0604020202020204" pitchFamily="34" charset="0"/>
              </a:rPr>
              <a:t>процесса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b="1" spc="135" dirty="0">
                <a:latin typeface="Arial" panose="020B0604020202020204" pitchFamily="34" charset="0"/>
                <a:cs typeface="Arial" panose="020B0604020202020204" pitchFamily="34" charset="0"/>
              </a:rPr>
              <a:t>backtrace(bt)</a:t>
            </a:r>
            <a:r>
              <a:rPr sz="395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стек</a:t>
            </a:r>
            <a:r>
              <a:rPr sz="39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5" dirty="0">
                <a:latin typeface="Arial" panose="020B0604020202020204" pitchFamily="34" charset="0"/>
                <a:cs typeface="Arial" panose="020B0604020202020204" pitchFamily="34" charset="0"/>
              </a:rPr>
              <a:t>вызовов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b="1" spc="155" dirty="0">
                <a:latin typeface="Arial" panose="020B0604020202020204" pitchFamily="34" charset="0"/>
                <a:cs typeface="Arial" panose="020B0604020202020204" pitchFamily="34" charset="0"/>
              </a:rPr>
              <a:t>print(p)</a:t>
            </a:r>
            <a:r>
              <a:rPr sz="395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114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3950" b="1" spc="55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395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95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950" spc="-160" dirty="0">
                <a:latin typeface="Arial" panose="020B0604020202020204" pitchFamily="34" charset="0"/>
                <a:cs typeface="Arial" panose="020B0604020202020204" pitchFamily="34" charset="0"/>
              </a:rPr>
              <a:t>сп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60" dirty="0">
                <a:latin typeface="Arial" panose="020B0604020202020204" pitchFamily="34" charset="0"/>
                <a:cs typeface="Arial" panose="020B0604020202020204" pitchFamily="34" charset="0"/>
              </a:rPr>
              <a:t>ч</a:t>
            </a:r>
            <a:r>
              <a:rPr sz="395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950" spc="20" dirty="0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ть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зн</a:t>
            </a:r>
            <a:r>
              <a:rPr sz="395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950" spc="60" dirty="0">
                <a:latin typeface="Arial" panose="020B0604020202020204" pitchFamily="34" charset="0"/>
                <a:cs typeface="Arial" panose="020B0604020202020204" pitchFamily="34" charset="0"/>
              </a:rPr>
              <a:t>ч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95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14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3950" spc="-105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75" dirty="0">
                <a:latin typeface="Arial" panose="020B0604020202020204" pitchFamily="34" charset="0"/>
                <a:cs typeface="Arial" panose="020B0604020202020204" pitchFamily="34" charset="0"/>
              </a:rPr>
              <a:t>нн</a:t>
            </a:r>
            <a:r>
              <a:rPr sz="395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-170" dirty="0"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114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3950" spc="55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3950" b="1" spc="110" dirty="0"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9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45" dirty="0"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sz="3950" spc="-170" dirty="0"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sz="3950" spc="-70" dirty="0">
                <a:latin typeface="Arial" panose="020B0604020202020204" pitchFamily="34" charset="0"/>
                <a:cs typeface="Arial" panose="020B0604020202020204" pitchFamily="34" charset="0"/>
              </a:rPr>
              <a:t>ти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45" dirty="0"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65" dirty="0">
                <a:latin typeface="Arial" panose="020B0604020202020204" pitchFamily="34" charset="0"/>
                <a:cs typeface="Arial" panose="020B0604020202020204" pitchFamily="34" charset="0"/>
              </a:rPr>
              <a:t>конца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70" dirty="0" err="1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950" spc="-160" dirty="0" err="1">
                <a:latin typeface="Arial" panose="020B0604020202020204" pitchFamily="34" charset="0"/>
                <a:cs typeface="Arial" panose="020B0604020202020204" pitchFamily="34" charset="0"/>
              </a:rPr>
              <a:t>сп</a:t>
            </a:r>
            <a:r>
              <a:rPr sz="3950" spc="-229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-55" dirty="0" err="1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3950" spc="-275" dirty="0" err="1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950" dirty="0" err="1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275" dirty="0" err="1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950" spc="-170" dirty="0" err="1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950" spc="190" dirty="0" err="1"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00" dirty="0" err="1">
                <a:latin typeface="Arial" panose="020B0604020202020204" pitchFamily="34" charset="0"/>
                <a:cs typeface="Arial" panose="020B0604020202020204" pitchFamily="34" charset="0"/>
              </a:rPr>
              <a:t>фу</a:t>
            </a:r>
            <a:r>
              <a:rPr sz="3950" spc="-90" dirty="0" err="1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950" spc="45" dirty="0" err="1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3950" spc="-385" dirty="0" err="1">
                <a:latin typeface="Arial" panose="020B0604020202020204" pitchFamily="34" charset="0"/>
                <a:cs typeface="Arial" panose="020B0604020202020204" pitchFamily="34" charset="0"/>
              </a:rPr>
              <a:t>ц</a:t>
            </a:r>
            <a:r>
              <a:rPr sz="3950" spc="-170" dirty="0" err="1">
                <a:latin typeface="Arial" panose="020B0604020202020204" pitchFamily="34" charset="0"/>
                <a:cs typeface="Arial" panose="020B0604020202020204" pitchFamily="34" charset="0"/>
              </a:rPr>
              <a:t>ии</a:t>
            </a:r>
            <a:endParaRPr lang="en-US" sz="3950" spc="-1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3950" b="1" spc="-17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US" sz="3950" spc="-17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3950" spc="-170" dirty="0">
                <a:latin typeface="Arial" panose="020B0604020202020204" pitchFamily="34" charset="0"/>
                <a:cs typeface="Arial" panose="020B0604020202020204" pitchFamily="34" charset="0"/>
              </a:rPr>
              <a:t>выйти из функции</a:t>
            </a:r>
            <a:endParaRPr lang="en-US" sz="3950" spc="-1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3950" b="1" dirty="0">
                <a:latin typeface="Arial" panose="020B0604020202020204" pitchFamily="34" charset="0"/>
                <a:cs typeface="Arial" panose="020B0604020202020204" pitchFamily="34" charset="0"/>
              </a:rPr>
              <a:t>set disassembly-flavor intel (</a:t>
            </a:r>
            <a:r>
              <a:rPr lang="en-US" sz="3950" b="1" dirty="0" err="1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r>
              <a:rPr lang="en-US" sz="395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950" dirty="0">
                <a:latin typeface="Arial" panose="020B0604020202020204" pitchFamily="34" charset="0"/>
                <a:cs typeface="Arial" panose="020B0604020202020204" pitchFamily="34" charset="0"/>
              </a:rPr>
              <a:t>(&gt;&gt; ~/.</a:t>
            </a:r>
            <a:r>
              <a:rPr lang="en-US" sz="3950" dirty="0" err="1">
                <a:latin typeface="Arial" panose="020B0604020202020204" pitchFamily="34" charset="0"/>
                <a:cs typeface="Arial" panose="020B0604020202020204" pitchFamily="34" charset="0"/>
              </a:rPr>
              <a:t>gdbinit</a:t>
            </a:r>
            <a:r>
              <a:rPr lang="en-US" sz="39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CF4D-0838-4ED1-A003-08094AB4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449" y="930276"/>
            <a:ext cx="8077200" cy="1143000"/>
          </a:xfrm>
        </p:spPr>
        <p:txBody>
          <a:bodyPr/>
          <a:lstStyle/>
          <a:p>
            <a:r>
              <a:rPr lang="en-US" dirty="0"/>
              <a:t>GDB (Breakpoints)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784CE-9E71-4E8A-BAD6-2FAABC01B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513916"/>
            <a:ext cx="17951555" cy="2954655"/>
          </a:xfrm>
        </p:spPr>
        <p:txBody>
          <a:bodyPr/>
          <a:lstStyle/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• 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break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(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b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) </a:t>
            </a:r>
            <a:r>
              <a:rPr lang="en-US" sz="4800" b="1" i="0" u="none" strike="noStrike" baseline="0" dirty="0" err="1">
                <a:solidFill>
                  <a:srgbClr val="000000"/>
                </a:solidFill>
                <a:latin typeface="AAAAAD+Arial-BoldMT"/>
              </a:rPr>
              <a:t>func_name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/line/...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– </a:t>
            </a:r>
            <a:r>
              <a:rPr lang="ru-RU" sz="4800" dirty="0">
                <a:solidFill>
                  <a:srgbClr val="000000"/>
                </a:solidFill>
                <a:latin typeface="AAAAAB+ArialMT"/>
              </a:rPr>
              <a:t>установить </a:t>
            </a:r>
            <a:r>
              <a:rPr lang="en-US" sz="4800" dirty="0">
                <a:solidFill>
                  <a:srgbClr val="000000"/>
                </a:solidFill>
                <a:latin typeface="AAAAAB+ArialMT"/>
              </a:rPr>
              <a:t>breakpoint</a:t>
            </a:r>
            <a:endParaRPr lang="en-US" sz="4800" b="0" i="0" u="none" strike="noStrike" baseline="0" dirty="0">
              <a:solidFill>
                <a:srgbClr val="000000"/>
              </a:solidFill>
              <a:latin typeface="AAAAAB+ArialMT"/>
            </a:endParaRPr>
          </a:p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• 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info break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– 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AAAAB+ArialMT"/>
              </a:rPr>
              <a:t>получить список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breakpoints</a:t>
            </a:r>
          </a:p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• 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delete *</a:t>
            </a:r>
            <a:r>
              <a:rPr lang="en-US" sz="4800" b="1" i="0" u="none" strike="noStrike" baseline="0" dirty="0" err="1">
                <a:solidFill>
                  <a:srgbClr val="000000"/>
                </a:solidFill>
                <a:latin typeface="AAAAAD+Arial-BoldMT"/>
              </a:rPr>
              <a:t>break_num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*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–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AAAAB+ArialMT"/>
              </a:rPr>
              <a:t> удалить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breakpoint </a:t>
            </a:r>
            <a:endParaRPr lang="en-US" sz="4800" dirty="0">
              <a:solidFill>
                <a:srgbClr val="000000"/>
              </a:solidFill>
              <a:latin typeface="AAAAAB+ArialMT"/>
            </a:endParaRPr>
          </a:p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• 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enable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/ 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D+Arial-BoldMT"/>
              </a:rPr>
              <a:t>disable 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B+ArialMT"/>
              </a:rPr>
              <a:t>*</a:t>
            </a:r>
            <a:r>
              <a:rPr lang="en-US" sz="4800" b="1" i="0" u="none" strike="noStrike" baseline="0" dirty="0" err="1">
                <a:solidFill>
                  <a:srgbClr val="000000"/>
                </a:solidFill>
                <a:latin typeface="AAAAAB+ArialMT"/>
              </a:rPr>
              <a:t>break_num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AAAAB+ArialMT"/>
              </a:rPr>
              <a:t>*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– 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AAAAB+ArialMT"/>
              </a:rPr>
              <a:t>включить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/ 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AAAAB+ArialMT"/>
              </a:rPr>
              <a:t>отключить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breakpoint</a:t>
            </a:r>
          </a:p>
        </p:txBody>
      </p:sp>
    </p:spTree>
    <p:extLst>
      <p:ext uri="{BB962C8B-B14F-4D97-AF65-F5344CB8AC3E}">
        <p14:creationId xmlns:p14="http://schemas.microsoft.com/office/powerpoint/2010/main" val="410882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C95E-8142-436C-9736-EC883D585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8703" y="625475"/>
            <a:ext cx="5426692" cy="2123658"/>
          </a:xfrm>
        </p:spPr>
        <p:txBody>
          <a:bodyPr/>
          <a:lstStyle/>
          <a:p>
            <a:pPr algn="ctr"/>
            <a:r>
              <a:rPr lang="en-US" dirty="0"/>
              <a:t>GDB (Stack)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2292C-0C7A-49C1-82F4-512E7F66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513916"/>
            <a:ext cx="17951555" cy="5909310"/>
          </a:xfrm>
        </p:spPr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bt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распечатать </a:t>
            </a:r>
            <a:r>
              <a:rPr lang="en-US" sz="4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распечатать </a:t>
            </a:r>
            <a:r>
              <a:rPr lang="en-US" sz="4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локальные переменные</a:t>
            </a:r>
            <a:endParaRPr lang="en-US" sz="4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*</a:t>
            </a:r>
            <a:r>
              <a:rPr lang="en-US" sz="4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func_name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*/*line range*/...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распечатать код</a:t>
            </a:r>
            <a:endParaRPr lang="en-US" sz="4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 </a:t>
            </a:r>
            <a:r>
              <a:rPr lang="en-US" sz="4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4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распечатать аргументы функции</a:t>
            </a:r>
            <a:endParaRPr lang="en-US" sz="48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4800" b="1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nfo locals </a:t>
            </a:r>
            <a:r>
              <a:rPr lang="ru-RU" sz="4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распечатать локальные переменные</a:t>
            </a:r>
            <a:endParaRPr lang="en-US" sz="4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b="1" i="0" u="none" strike="noStrike" baseline="0" dirty="0">
              <a:solidFill>
                <a:srgbClr val="000000"/>
              </a:solidFill>
              <a:latin typeface="AAAAAB+ArialMT"/>
            </a:endParaRPr>
          </a:p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AAAAB+ArialMT"/>
              </a:rPr>
              <a:t> 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55822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65C6-9B41-4C62-8D0F-034EB155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GDB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7B215-BC65-4D52-AD05-028BEBF0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513915"/>
            <a:ext cx="17951555" cy="6093976"/>
          </a:xfrm>
        </p:spPr>
        <p:txBody>
          <a:bodyPr/>
          <a:lstStyle/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4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var *</a:t>
            </a:r>
            <a:r>
              <a:rPr lang="en-US" sz="44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var_name</a:t>
            </a:r>
            <a:r>
              <a:rPr lang="en-US" sz="4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*=*value* </a:t>
            </a:r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установить значение переменной</a:t>
            </a:r>
            <a:endParaRPr lang="en-US" sz="4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x/</a:t>
            </a:r>
            <a:r>
              <a:rPr lang="en-US" sz="4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nfu</a:t>
            </a:r>
            <a:r>
              <a:rPr 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</a:t>
            </a:r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xamine memory</a:t>
            </a:r>
            <a:endParaRPr lang="en-US" sz="4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4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/format *</a:t>
            </a:r>
            <a:r>
              <a:rPr lang="en-US" sz="44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var_name</a:t>
            </a:r>
            <a:r>
              <a:rPr lang="en-US" sz="4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display a variable </a:t>
            </a:r>
          </a:p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Format:</a:t>
            </a:r>
          </a:p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a – pointer </a:t>
            </a:r>
          </a:p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d – decimal</a:t>
            </a:r>
          </a:p>
          <a:p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x – hexadecimal</a:t>
            </a:r>
          </a:p>
          <a:p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 – floating point value</a:t>
            </a:r>
          </a:p>
          <a:p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4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... 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5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3EA2-7E76-4FF9-8FE5-11B0549C0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1603" y="701675"/>
            <a:ext cx="4740892" cy="2123658"/>
          </a:xfrm>
        </p:spPr>
        <p:txBody>
          <a:bodyPr/>
          <a:lstStyle/>
          <a:p>
            <a:r>
              <a:rPr lang="en-US" dirty="0" err="1"/>
              <a:t>Coredump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7AFC8-3952-42C0-943F-8F8FCA12D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513916"/>
            <a:ext cx="17951555" cy="338554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sysctl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kernel.core_pattern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"./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установить сохранение корок в текущей директории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ulimit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-c unlimited; ./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a.out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убрать ограничения на размер корок и собрать </a:t>
            </a:r>
            <a:r>
              <a:rPr lang="en-US" sz="44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endParaRPr lang="en-US" sz="4400" b="0" i="0" dirty="0">
              <a:solidFill>
                <a:srgbClr val="1F23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./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a.out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./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r>
              <a:rPr lang="ru-RU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запустить </a:t>
            </a:r>
            <a:r>
              <a:rPr lang="en-US" sz="44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отладчике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05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309F-C22A-410F-8027-7C78B81B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45A87-1838-486E-843B-B74B47A71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513916"/>
            <a:ext cx="17951555" cy="2708434"/>
          </a:xfrm>
        </p:spPr>
        <p:txBody>
          <a:bodyPr/>
          <a:lstStyle/>
          <a:p>
            <a:r>
              <a:rPr lang="en-US" sz="4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GDB cheat sheet </a:t>
            </a:r>
            <a:endParaRPr lang="en-US" sz="4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One more </a:t>
            </a:r>
            <a:endParaRPr lang="en-US" sz="4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Занятная статья на </a:t>
            </a:r>
            <a:r>
              <a:rPr lang="ru-RU" sz="44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Хабре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TUI documentation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39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0558" y="832090"/>
            <a:ext cx="4436092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pc="-185" dirty="0"/>
              <a:t>S</a:t>
            </a:r>
            <a:r>
              <a:rPr spc="-185" dirty="0"/>
              <a:t>anitizers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9050" y="3153349"/>
            <a:ext cx="10210800" cy="5002652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1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105" dirty="0">
                <a:latin typeface="Arial" panose="020B0604020202020204" pitchFamily="34" charset="0"/>
                <a:cs typeface="Arial" panose="020B0604020202020204" pitchFamily="34" charset="0"/>
              </a:rPr>
              <a:t>-fsanitize=…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20"/>
              </a:spcBef>
              <a:buChar char="•"/>
              <a:tabLst>
                <a:tab pos="933450" algn="l"/>
                <a:tab pos="934719" algn="l"/>
              </a:tabLst>
            </a:pPr>
            <a:r>
              <a:rPr lang="en-US" sz="4400" spc="7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4400" spc="75" dirty="0">
                <a:latin typeface="Arial" panose="020B0604020202020204" pitchFamily="34" charset="0"/>
                <a:cs typeface="Arial" panose="020B0604020202020204" pitchFamily="34" charset="0"/>
              </a:rPr>
              <a:t>ddress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4400" spc="160" dirty="0">
                <a:latin typeface="Arial" panose="020B0604020202020204" pitchFamily="34" charset="0"/>
                <a:cs typeface="Arial" panose="020B0604020202020204" pitchFamily="34" charset="0"/>
              </a:rPr>
              <a:t>unde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4400" spc="150" dirty="0">
                <a:latin typeface="Arial" panose="020B0604020202020204" pitchFamily="34" charset="0"/>
                <a:cs typeface="Arial" panose="020B0604020202020204" pitchFamily="34" charset="0"/>
              </a:rPr>
              <a:t>ined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4400" spc="45" dirty="0">
                <a:latin typeface="Arial" panose="020B0604020202020204" pitchFamily="34" charset="0"/>
                <a:cs typeface="Arial" panose="020B0604020202020204" pitchFamily="34" charset="0"/>
              </a:rPr>
              <a:t>leak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4400" spc="145" dirty="0">
                <a:latin typeface="Arial" panose="020B0604020202020204" pitchFamily="34" charset="0"/>
                <a:cs typeface="Arial" panose="020B0604020202020204" pitchFamily="34" charset="0"/>
              </a:rPr>
              <a:t>thread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209A-C80D-4B2E-B68C-0CD6E797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603" y="854075"/>
            <a:ext cx="7788892" cy="1164985"/>
          </a:xfrm>
        </p:spPr>
        <p:txBody>
          <a:bodyPr/>
          <a:lstStyle/>
          <a:p>
            <a:r>
              <a:rPr lang="en-US" dirty="0"/>
              <a:t>How does it work?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608E9-0EB9-4825-BB3A-7A0543AA4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666316"/>
            <a:ext cx="17951555" cy="2215991"/>
          </a:xfrm>
        </p:spPr>
        <p:txBody>
          <a:bodyPr/>
          <a:lstStyle/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malloc/free wrappers</a:t>
            </a:r>
          </a:p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memory access wrappers </a:t>
            </a:r>
          </a:p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stack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48EDC-9EA1-426F-91FD-CAADD7733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495" y="1443975"/>
            <a:ext cx="5874456" cy="3771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2A7C74-AFD0-41B8-8163-89C29CDC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450" y="5431582"/>
            <a:ext cx="6705600" cy="567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20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787C-080D-416A-AC29-3FBEEEDB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Sources: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F8646-53E9-4324-A82C-F5132111D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513916"/>
            <a:ext cx="17951555" cy="2708434"/>
          </a:xfrm>
        </p:spPr>
        <p:txBody>
          <a:bodyPr/>
          <a:lstStyle/>
          <a:p>
            <a:r>
              <a:rPr lang="en-US" sz="4400" dirty="0">
                <a:hlinkClick r:id="rId2"/>
              </a:rPr>
              <a:t>Address sanitizer</a:t>
            </a:r>
            <a:endParaRPr lang="en-US" sz="4400" dirty="0"/>
          </a:p>
          <a:p>
            <a:r>
              <a:rPr lang="en-US" sz="4400" dirty="0">
                <a:hlinkClick r:id="rId3"/>
              </a:rPr>
              <a:t>Address sanitizer algorithm</a:t>
            </a:r>
            <a:endParaRPr lang="en-US" sz="4400" dirty="0"/>
          </a:p>
          <a:p>
            <a:r>
              <a:rPr lang="en-US" sz="4400" dirty="0">
                <a:hlinkClick r:id="rId4"/>
              </a:rPr>
              <a:t>Presentation/Slides/Paper</a:t>
            </a:r>
            <a:endParaRPr lang="en-US" sz="4400" dirty="0"/>
          </a:p>
          <a:p>
            <a:r>
              <a:rPr lang="en-US" sz="4400" dirty="0">
                <a:hlinkClick r:id="rId5"/>
              </a:rPr>
              <a:t>Stack use after return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620964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2467" y="832090"/>
            <a:ext cx="25266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strace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290292"/>
            <a:ext cx="10563225" cy="3364383"/>
          </a:xfrm>
          <a:prstGeom prst="rect">
            <a:avLst/>
          </a:prstGeom>
        </p:spPr>
        <p:txBody>
          <a:bodyPr vert="horz" wrap="square" lIns="0" tIns="309245" rIns="0" bIns="0" rtlCol="0">
            <a:spAutoFit/>
          </a:bodyPr>
          <a:lstStyle/>
          <a:p>
            <a:pPr marL="426720" indent="-414655">
              <a:lnSpc>
                <a:spcPct val="100000"/>
              </a:lnSpc>
              <a:spcBef>
                <a:spcPts val="2435"/>
              </a:spcBef>
              <a:buChar char="•"/>
              <a:tabLst>
                <a:tab pos="426720" algn="l"/>
                <a:tab pos="427355" algn="l"/>
              </a:tabLst>
            </a:pPr>
            <a:r>
              <a:rPr sz="4000" spc="160" dirty="0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sz="4000" spc="19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4000" spc="80" dirty="0">
                <a:latin typeface="Arial" panose="020B0604020202020204" pitchFamily="34" charset="0"/>
                <a:cs typeface="Arial" panose="020B0604020202020204" pitchFamily="34" charset="0"/>
              </a:rPr>
              <a:t>ace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50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000" spc="-20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000" spc="-325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40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000" spc="-254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000" spc="-45" dirty="0">
                <a:latin typeface="Arial" panose="020B0604020202020204" pitchFamily="34" charset="0"/>
                <a:cs typeface="Arial" panose="020B0604020202020204" pitchFamily="34" charset="0"/>
              </a:rPr>
              <a:t>уе</a:t>
            </a:r>
            <a:r>
              <a:rPr sz="4000" spc="25" dirty="0"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40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8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000" spc="5" dirty="0">
                <a:latin typeface="Arial" panose="020B0604020202020204" pitchFamily="34" charset="0"/>
                <a:cs typeface="Arial" panose="020B0604020202020204" pitchFamily="34" charset="0"/>
              </a:rPr>
              <a:t>ы</a:t>
            </a:r>
            <a:r>
              <a:rPr sz="4000" spc="-65" dirty="0">
                <a:latin typeface="Arial" panose="020B0604020202020204" pitchFamily="34" charset="0"/>
                <a:cs typeface="Arial" panose="020B0604020202020204" pitchFamily="34" charset="0"/>
              </a:rPr>
              <a:t>зо</a:t>
            </a:r>
            <a:r>
              <a:rPr sz="4000" spc="8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0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140" dirty="0">
                <a:latin typeface="Arial" panose="020B0604020202020204" pitchFamily="34" charset="0"/>
                <a:cs typeface="Arial" panose="020B0604020202020204" pitchFamily="34" charset="0"/>
              </a:rPr>
              <a:t>б</a:t>
            </a:r>
            <a:r>
              <a:rPr sz="40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000" spc="-140" dirty="0">
                <a:latin typeface="Arial" panose="020B0604020202020204" pitchFamily="34" charset="0"/>
                <a:cs typeface="Arial" panose="020B0604020202020204" pitchFamily="34" charset="0"/>
              </a:rPr>
              <a:t>б</a:t>
            </a:r>
            <a:r>
              <a:rPr sz="4000" spc="-50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0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000" spc="-20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000" spc="10" dirty="0">
                <a:latin typeface="Arial" panose="020B0604020202020204" pitchFamily="34" charset="0"/>
                <a:cs typeface="Arial" panose="020B0604020202020204" pitchFamily="34" charset="0"/>
              </a:rPr>
              <a:t>те</a:t>
            </a:r>
            <a:r>
              <a:rPr sz="4000" spc="55" dirty="0">
                <a:latin typeface="Arial" panose="020B0604020202020204" pitchFamily="34" charset="0"/>
                <a:cs typeface="Arial" panose="020B0604020202020204" pitchFamily="34" charset="0"/>
              </a:rPr>
              <a:t>ч</a:t>
            </a:r>
            <a:r>
              <a:rPr sz="4000" spc="-245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4000" spc="5" dirty="0">
                <a:latin typeface="Arial" panose="020B0604020202020204" pitchFamily="34" charset="0"/>
                <a:cs typeface="Arial" panose="020B0604020202020204" pitchFamily="34" charset="0"/>
              </a:rPr>
              <a:t>ы</a:t>
            </a:r>
            <a:r>
              <a:rPr sz="4000" spc="-400" dirty="0">
                <a:latin typeface="Arial" panose="020B0604020202020204" pitchFamily="34" charset="0"/>
                <a:cs typeface="Arial" panose="020B0604020202020204" pitchFamily="34" charset="0"/>
              </a:rPr>
              <a:t>х</a:t>
            </a:r>
            <a:r>
              <a:rPr sz="40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85" dirty="0">
                <a:latin typeface="Arial" panose="020B0604020202020204" pitchFamily="34" charset="0"/>
                <a:cs typeface="Arial" panose="020B0604020202020204" pitchFamily="34" charset="0"/>
              </a:rPr>
              <a:t>фу</a:t>
            </a:r>
            <a:r>
              <a:rPr sz="4000" spc="-75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4000" spc="4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000" spc="-340" dirty="0">
                <a:latin typeface="Arial" panose="020B0604020202020204" pitchFamily="34" charset="0"/>
                <a:cs typeface="Arial" panose="020B0604020202020204" pitchFamily="34" charset="0"/>
              </a:rPr>
              <a:t>ц</a:t>
            </a:r>
            <a:r>
              <a:rPr sz="4000" spc="-150" dirty="0">
                <a:latin typeface="Arial" panose="020B0604020202020204" pitchFamily="34" charset="0"/>
                <a:cs typeface="Arial" panose="020B0604020202020204" pitchFamily="34" charset="0"/>
              </a:rPr>
              <a:t>ий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6720" indent="-414655">
              <a:lnSpc>
                <a:spcPct val="100000"/>
              </a:lnSpc>
              <a:spcBef>
                <a:spcPts val="2340"/>
              </a:spcBef>
              <a:buChar char="•"/>
              <a:tabLst>
                <a:tab pos="426720" algn="l"/>
                <a:tab pos="427355" algn="l"/>
              </a:tabLst>
            </a:pPr>
            <a:r>
              <a:rPr sz="4000" spc="125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4000" spc="9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4000" spc="80" dirty="0">
                <a:latin typeface="Arial" panose="020B0604020202020204" pitchFamily="34" charset="0"/>
                <a:cs typeface="Arial" panose="020B0604020202020204" pitchFamily="34" charset="0"/>
              </a:rPr>
              <a:t>ace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50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000" spc="-20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000" spc="-325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40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000" spc="-254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000" spc="-45" dirty="0">
                <a:latin typeface="Arial" panose="020B0604020202020204" pitchFamily="34" charset="0"/>
                <a:cs typeface="Arial" panose="020B0604020202020204" pitchFamily="34" charset="0"/>
              </a:rPr>
              <a:t>уе</a:t>
            </a:r>
            <a:r>
              <a:rPr sz="4000" spc="25" dirty="0"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40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8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000" spc="5" dirty="0">
                <a:latin typeface="Arial" panose="020B0604020202020204" pitchFamily="34" charset="0"/>
                <a:cs typeface="Arial" panose="020B0604020202020204" pitchFamily="34" charset="0"/>
              </a:rPr>
              <a:t>ы</a:t>
            </a:r>
            <a:r>
              <a:rPr sz="4000" spc="-65" dirty="0">
                <a:latin typeface="Arial" panose="020B0604020202020204" pitchFamily="34" charset="0"/>
                <a:cs typeface="Arial" panose="020B0604020202020204" pitchFamily="34" charset="0"/>
              </a:rPr>
              <a:t>зо</a:t>
            </a:r>
            <a:r>
              <a:rPr sz="4000" spc="8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0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1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4000" spc="55" dirty="0">
                <a:latin typeface="Arial" panose="020B0604020202020204" pitchFamily="34" charset="0"/>
                <a:cs typeface="Arial" panose="020B0604020202020204" pitchFamily="34" charset="0"/>
              </a:rPr>
              <a:t>yscalls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lang="en-US" sz="4000" spc="-45" dirty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sz="4000" spc="-4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4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100" dirty="0">
                <a:latin typeface="Arial" panose="020B0604020202020204" pitchFamily="34" charset="0"/>
                <a:cs typeface="Arial" panose="020B0604020202020204" pitchFamily="34" charset="0"/>
              </a:rPr>
              <a:t>strace</a:t>
            </a:r>
            <a:r>
              <a:rPr sz="4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105" dirty="0">
                <a:latin typeface="Arial" panose="020B0604020202020204" pitchFamily="34" charset="0"/>
                <a:cs typeface="Arial" panose="020B0604020202020204" pitchFamily="34" charset="0"/>
              </a:rPr>
              <a:t>./a.out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8972" y="5843406"/>
            <a:ext cx="11496675" cy="5029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9"/>
              </a:lnSpc>
              <a:tabLst>
                <a:tab pos="2348230" algn="l"/>
                <a:tab pos="7045959" algn="l"/>
                <a:tab pos="10438765" algn="l"/>
              </a:tabLst>
            </a:pPr>
            <a:r>
              <a:rPr sz="3400" spc="10" dirty="0">
                <a:solidFill>
                  <a:srgbClr val="EFEF1C"/>
                </a:solidFill>
                <a:latin typeface="Courier New"/>
                <a:cs typeface="Courier New"/>
              </a:rPr>
              <a:t>write(</a:t>
            </a:r>
            <a:r>
              <a:rPr sz="3400" spc="10" dirty="0">
                <a:solidFill>
                  <a:srgbClr val="FF4CFF"/>
                </a:solidFill>
                <a:latin typeface="Courier New"/>
                <a:cs typeface="Courier New"/>
              </a:rPr>
              <a:t>1	"Hello,</a:t>
            </a:r>
            <a:r>
              <a:rPr sz="3400" spc="40" dirty="0">
                <a:solidFill>
                  <a:srgbClr val="FF4CFF"/>
                </a:solidFill>
                <a:latin typeface="Courier New"/>
                <a:cs typeface="Courier New"/>
              </a:rPr>
              <a:t> </a:t>
            </a:r>
            <a:r>
              <a:rPr sz="3400" spc="10" dirty="0">
                <a:solidFill>
                  <a:srgbClr val="FF4CFF"/>
                </a:solidFill>
                <a:latin typeface="Courier New"/>
                <a:cs typeface="Courier New"/>
              </a:rPr>
              <a:t>world</a:t>
            </a:r>
            <a:r>
              <a:rPr sz="3400" spc="10" dirty="0">
                <a:solidFill>
                  <a:srgbClr val="FFE0E0"/>
                </a:solidFill>
                <a:latin typeface="Courier New"/>
                <a:cs typeface="Courier New"/>
              </a:rPr>
              <a:t>\n</a:t>
            </a:r>
            <a:r>
              <a:rPr sz="3400" spc="10" dirty="0">
                <a:solidFill>
                  <a:srgbClr val="FF4CFF"/>
                </a:solidFill>
                <a:latin typeface="Courier New"/>
                <a:cs typeface="Courier New"/>
              </a:rPr>
              <a:t>"	13</a:t>
            </a:r>
            <a:r>
              <a:rPr sz="3400" spc="10" dirty="0">
                <a:solidFill>
                  <a:srgbClr val="EFEF1C"/>
                </a:solidFill>
                <a:latin typeface="Courier New"/>
                <a:cs typeface="Courier New"/>
              </a:rPr>
              <a:t>)	</a:t>
            </a:r>
            <a:r>
              <a:rPr sz="3400" spc="10" dirty="0">
                <a:solidFill>
                  <a:srgbClr val="8EFFB6"/>
                </a:solidFill>
                <a:latin typeface="Courier New"/>
                <a:cs typeface="Courier New"/>
              </a:rPr>
              <a:t>=</a:t>
            </a:r>
            <a:r>
              <a:rPr sz="3400" spc="-65" dirty="0">
                <a:solidFill>
                  <a:srgbClr val="8EFFB6"/>
                </a:solidFill>
                <a:latin typeface="Courier New"/>
                <a:cs typeface="Courier New"/>
              </a:rPr>
              <a:t> </a:t>
            </a:r>
            <a:r>
              <a:rPr sz="3400" spc="10" dirty="0">
                <a:solidFill>
                  <a:srgbClr val="8EFFB6"/>
                </a:solidFill>
                <a:latin typeface="Courier New"/>
                <a:cs typeface="Courier New"/>
              </a:rPr>
              <a:t>13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272" y="6721475"/>
            <a:ext cx="15039340" cy="411798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020"/>
              </a:lnSpc>
              <a:spcBef>
                <a:spcPts val="110"/>
              </a:spcBef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Флаги</a:t>
            </a:r>
            <a:r>
              <a:rPr sz="4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strace: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9575" indent="-397510">
              <a:lnSpc>
                <a:spcPts val="3954"/>
              </a:lnSpc>
              <a:buChar char="•"/>
              <a:tabLst>
                <a:tab pos="410209" algn="l"/>
              </a:tabLst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-v (verbose)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подробный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9575" indent="-397510">
              <a:lnSpc>
                <a:spcPts val="3960"/>
              </a:lnSpc>
              <a:buChar char="•"/>
              <a:tabLst>
                <a:tab pos="410209" algn="l"/>
              </a:tabLst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-f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следить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том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числе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дочерних</a:t>
            </a:r>
            <a:r>
              <a:rPr sz="4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процессов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9575" indent="-397510">
              <a:lnSpc>
                <a:spcPts val="3960"/>
              </a:lnSpc>
              <a:buChar char="•"/>
              <a:tabLst>
                <a:tab pos="410209" algn="l"/>
              </a:tabLst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-с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статистика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системным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вызовам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9575" indent="-397510">
              <a:lnSpc>
                <a:spcPts val="3954"/>
              </a:lnSpc>
              <a:buChar char="•"/>
              <a:tabLst>
                <a:tab pos="410209" algn="l"/>
              </a:tabLst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-e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*syscall</a:t>
            </a:r>
            <a:r>
              <a:rPr sz="4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name*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отследить</a:t>
            </a:r>
            <a:r>
              <a:rPr sz="44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конкретный</a:t>
            </a:r>
            <a:r>
              <a:rPr sz="4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системный</a:t>
            </a:r>
            <a:r>
              <a:rPr sz="44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вызов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9575" indent="-397510">
              <a:lnSpc>
                <a:spcPts val="3954"/>
              </a:lnSpc>
              <a:buChar char="•"/>
              <a:tabLst>
                <a:tab pos="410209" algn="l"/>
              </a:tabLst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-p -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подключиться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процессу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9575" indent="-397510">
              <a:lnSpc>
                <a:spcPts val="4020"/>
              </a:lnSpc>
              <a:buChar char="•"/>
              <a:tabLst>
                <a:tab pos="410209" algn="l"/>
              </a:tabLst>
            </a:pP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-t добавить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отметки</a:t>
            </a:r>
            <a:r>
              <a:rPr sz="4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" dirty="0">
                <a:latin typeface="Arial" panose="020B0604020202020204" pitchFamily="34" charset="0"/>
                <a:cs typeface="Arial" panose="020B0604020202020204" pitchFamily="34" charset="0"/>
              </a:rPr>
              <a:t>времени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5430" y="821620"/>
            <a:ext cx="564070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0" dirty="0"/>
              <a:t>Раздел</a:t>
            </a:r>
            <a:r>
              <a:rPr spc="-15" dirty="0"/>
              <a:t>ы</a:t>
            </a:r>
            <a:r>
              <a:rPr spc="-800" dirty="0"/>
              <a:t> </a:t>
            </a:r>
            <a:r>
              <a:rPr spc="-90" dirty="0"/>
              <a:t>man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13916"/>
            <a:ext cx="17891178" cy="47865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17165" indent="-984250">
              <a:lnSpc>
                <a:spcPts val="3775"/>
              </a:lnSpc>
              <a:spcBef>
                <a:spcPts val="114"/>
              </a:spcBef>
              <a:buAutoNum type="arabicPlain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Executable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programs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or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shell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commands</a:t>
            </a:r>
            <a:endParaRPr sz="3200" dirty="0">
              <a:latin typeface="Courier New"/>
              <a:cs typeface="Courier New"/>
            </a:endParaRPr>
          </a:p>
          <a:p>
            <a:pPr marL="2717165" indent="-984250">
              <a:lnSpc>
                <a:spcPts val="3710"/>
              </a:lnSpc>
              <a:buAutoNum type="arabicPlain"/>
              <a:tabLst>
                <a:tab pos="2716530" algn="l"/>
                <a:tab pos="2717800" algn="l"/>
              </a:tabLst>
            </a:pPr>
            <a:r>
              <a:rPr sz="3200" b="1" spc="15" dirty="0">
                <a:latin typeface="Courier New"/>
                <a:cs typeface="Courier New"/>
              </a:rPr>
              <a:t>System</a:t>
            </a:r>
            <a:r>
              <a:rPr sz="3200" b="1" dirty="0">
                <a:latin typeface="Courier New"/>
                <a:cs typeface="Courier New"/>
              </a:rPr>
              <a:t> </a:t>
            </a:r>
            <a:r>
              <a:rPr sz="3200" b="1" spc="15" dirty="0">
                <a:latin typeface="Courier New"/>
                <a:cs typeface="Courier New"/>
              </a:rPr>
              <a:t>calls</a:t>
            </a:r>
            <a:r>
              <a:rPr sz="3200" b="1" spc="5" dirty="0">
                <a:latin typeface="Courier New"/>
                <a:cs typeface="Courier New"/>
              </a:rPr>
              <a:t> </a:t>
            </a:r>
            <a:r>
              <a:rPr sz="3200" b="1" spc="15" dirty="0">
                <a:latin typeface="Courier New"/>
                <a:cs typeface="Courier New"/>
              </a:rPr>
              <a:t>(functions</a:t>
            </a:r>
            <a:r>
              <a:rPr sz="3200" b="1" dirty="0">
                <a:latin typeface="Courier New"/>
                <a:cs typeface="Courier New"/>
              </a:rPr>
              <a:t> </a:t>
            </a:r>
            <a:r>
              <a:rPr sz="3200" b="1" spc="15" dirty="0">
                <a:latin typeface="Courier New"/>
                <a:cs typeface="Courier New"/>
              </a:rPr>
              <a:t>provided</a:t>
            </a:r>
            <a:r>
              <a:rPr sz="3200" b="1" spc="5" dirty="0">
                <a:latin typeface="Courier New"/>
                <a:cs typeface="Courier New"/>
              </a:rPr>
              <a:t> </a:t>
            </a:r>
            <a:r>
              <a:rPr sz="3200" b="1" spc="15" dirty="0">
                <a:latin typeface="Courier New"/>
                <a:cs typeface="Courier New"/>
              </a:rPr>
              <a:t>by</a:t>
            </a:r>
            <a:r>
              <a:rPr sz="3200" b="1" spc="5" dirty="0">
                <a:latin typeface="Courier New"/>
                <a:cs typeface="Courier New"/>
              </a:rPr>
              <a:t> </a:t>
            </a:r>
            <a:r>
              <a:rPr sz="3200" b="1" spc="15" dirty="0">
                <a:latin typeface="Courier New"/>
                <a:cs typeface="Courier New"/>
              </a:rPr>
              <a:t>the</a:t>
            </a:r>
            <a:r>
              <a:rPr sz="3200" b="1" dirty="0">
                <a:latin typeface="Courier New"/>
                <a:cs typeface="Courier New"/>
              </a:rPr>
              <a:t> </a:t>
            </a:r>
            <a:r>
              <a:rPr sz="3200" b="1" spc="15" dirty="0">
                <a:latin typeface="Courier New"/>
                <a:cs typeface="Courier New"/>
              </a:rPr>
              <a:t>kernel)</a:t>
            </a:r>
            <a:endParaRPr sz="3200" dirty="0">
              <a:latin typeface="Courier New"/>
              <a:cs typeface="Courier New"/>
            </a:endParaRPr>
          </a:p>
          <a:p>
            <a:pPr marL="2717165" indent="-984250">
              <a:lnSpc>
                <a:spcPts val="3710"/>
              </a:lnSpc>
              <a:buAutoNum type="arabicPlain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Library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calls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(functions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within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program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libraries)</a:t>
            </a:r>
            <a:endParaRPr sz="3200" dirty="0">
              <a:latin typeface="Courier New"/>
              <a:cs typeface="Courier New"/>
            </a:endParaRPr>
          </a:p>
          <a:p>
            <a:pPr marL="2717165" indent="-984250">
              <a:lnSpc>
                <a:spcPts val="3710"/>
              </a:lnSpc>
              <a:buAutoNum type="arabicPlain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Special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files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(usually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found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in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/dev</a:t>
            </a:r>
            <a:r>
              <a:rPr sz="3200" spc="10" dirty="0">
                <a:latin typeface="Courier New"/>
                <a:cs typeface="Courier New"/>
              </a:rPr>
              <a:t>)</a:t>
            </a:r>
            <a:endParaRPr sz="3200" dirty="0">
              <a:latin typeface="Courier New"/>
              <a:cs typeface="Courier New"/>
            </a:endParaRPr>
          </a:p>
          <a:p>
            <a:pPr marL="2717165" indent="-984250">
              <a:lnSpc>
                <a:spcPts val="3710"/>
              </a:lnSpc>
              <a:buAutoNum type="arabicPlain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File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formats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and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conventions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eg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u="heavy" spc="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/etc/passwd</a:t>
            </a:r>
            <a:endParaRPr sz="3200" dirty="0">
              <a:latin typeface="Courier New"/>
              <a:cs typeface="Courier New"/>
            </a:endParaRPr>
          </a:p>
          <a:p>
            <a:pPr marL="2717165" indent="-984250">
              <a:lnSpc>
                <a:spcPts val="3710"/>
              </a:lnSpc>
              <a:buAutoNum type="arabicPlain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Games</a:t>
            </a:r>
            <a:endParaRPr sz="3200" dirty="0">
              <a:latin typeface="Courier New"/>
              <a:cs typeface="Courier New"/>
            </a:endParaRPr>
          </a:p>
          <a:p>
            <a:pPr marL="2717165" indent="-984250">
              <a:lnSpc>
                <a:spcPts val="3710"/>
              </a:lnSpc>
              <a:buAutoNum type="arabicPlain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Miscellaneous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(including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macro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packages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and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conventions),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ts val="3710"/>
              </a:lnSpc>
            </a:pPr>
            <a:r>
              <a:rPr sz="3200" spc="15" dirty="0">
                <a:latin typeface="Courier New"/>
                <a:cs typeface="Courier New"/>
              </a:rPr>
              <a:t>e.g.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b="1" spc="10" dirty="0">
                <a:latin typeface="Courier New"/>
                <a:cs typeface="Courier New"/>
              </a:rPr>
              <a:t>man</a:t>
            </a:r>
            <a:r>
              <a:rPr sz="3200" spc="10" dirty="0">
                <a:latin typeface="Courier New"/>
                <a:cs typeface="Courier New"/>
              </a:rPr>
              <a:t>(7),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b="1" spc="10" dirty="0">
                <a:latin typeface="Courier New"/>
                <a:cs typeface="Courier New"/>
              </a:rPr>
              <a:t>groff</a:t>
            </a:r>
            <a:r>
              <a:rPr sz="3200" spc="10" dirty="0">
                <a:latin typeface="Courier New"/>
                <a:cs typeface="Courier New"/>
              </a:rPr>
              <a:t>(7)</a:t>
            </a:r>
            <a:endParaRPr sz="3200" dirty="0">
              <a:latin typeface="Courier New"/>
              <a:cs typeface="Courier New"/>
            </a:endParaRPr>
          </a:p>
          <a:p>
            <a:pPr marL="2717165" lvl="1" indent="-984250">
              <a:lnSpc>
                <a:spcPts val="3710"/>
              </a:lnSpc>
              <a:buAutoNum type="arabicPlain" startAt="8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System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administration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commands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(usually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only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for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root)</a:t>
            </a:r>
            <a:endParaRPr sz="3200" dirty="0">
              <a:latin typeface="Courier New"/>
              <a:cs typeface="Courier New"/>
            </a:endParaRPr>
          </a:p>
          <a:p>
            <a:pPr marL="2717165" lvl="1" indent="-984250">
              <a:lnSpc>
                <a:spcPts val="3775"/>
              </a:lnSpc>
              <a:buAutoNum type="arabicPlain" startAt="8"/>
              <a:tabLst>
                <a:tab pos="2717165" algn="l"/>
                <a:tab pos="2717800" algn="l"/>
              </a:tabLst>
            </a:pPr>
            <a:r>
              <a:rPr sz="3200" spc="15" dirty="0">
                <a:latin typeface="Courier New"/>
                <a:cs typeface="Courier New"/>
              </a:rPr>
              <a:t>Kernel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routines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[Non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standard]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272" y="9639385"/>
            <a:ext cx="3959860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15" dirty="0">
                <a:latin typeface="Courier New"/>
                <a:cs typeface="Courier New"/>
              </a:rPr>
              <a:t>(From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$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man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15" dirty="0">
                <a:latin typeface="Courier New"/>
                <a:cs typeface="Courier New"/>
              </a:rPr>
              <a:t>man)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3617" y="821637"/>
            <a:ext cx="26447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Конец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2939</TotalTime>
  <Words>805</Words>
  <Application>Microsoft Office PowerPoint</Application>
  <PresentationFormat>Custom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AAAAAB+ArialMT</vt:lpstr>
      <vt:lpstr>AAAAAD+Arial-BoldMT</vt:lpstr>
      <vt:lpstr>Arial</vt:lpstr>
      <vt:lpstr>Calibri</vt:lpstr>
      <vt:lpstr>Courier New</vt:lpstr>
      <vt:lpstr>Microsoft Sans Serif</vt:lpstr>
      <vt:lpstr>Office Theme</vt:lpstr>
      <vt:lpstr>Семинар 1 Инструменты разработки</vt:lpstr>
      <vt:lpstr>Этапы компиляции</vt:lpstr>
      <vt:lpstr>GDB</vt:lpstr>
      <vt:lpstr>GDB (layout)</vt:lpstr>
      <vt:lpstr>GDB</vt:lpstr>
      <vt:lpstr>GDB (Breakpoints)</vt:lpstr>
      <vt:lpstr>GDB (Stack)</vt:lpstr>
      <vt:lpstr>GDB</vt:lpstr>
      <vt:lpstr>Coredump</vt:lpstr>
      <vt:lpstr>Sources</vt:lpstr>
      <vt:lpstr>Sanitizers</vt:lpstr>
      <vt:lpstr>How does it work?</vt:lpstr>
      <vt:lpstr>Sources:</vt:lpstr>
      <vt:lpstr>strace</vt:lpstr>
      <vt:lpstr>Разделы man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caos_1</dc:title>
  <cp:lastModifiedBy>Konstantin Dragun</cp:lastModifiedBy>
  <cp:revision>22</cp:revision>
  <dcterms:created xsi:type="dcterms:W3CDTF">2024-09-12T19:21:22Z</dcterms:created>
  <dcterms:modified xsi:type="dcterms:W3CDTF">2025-09-10T08:35:16Z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2023-09-10T00:00:00Z</vt:filetime>
  </property>
  <property fmtid="{D5CDD505-2E9C-101B-9397-08002B2CF9AE}" pid="3" name="Creator">
    <vt:lpwstr>Keynote</vt:lpwstr>
  </property>
  <property fmtid="{D5CDD505-2E9C-101B-9397-08002B2CF9AE}" pid="4" name="LastSaved">
    <vt:filetime>2024-09-12T00:00:00Z</vt:filetime>
  </property>
</Properties>
</file>