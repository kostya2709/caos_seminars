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6" r:id="rId5"/>
    <p:sldId id="262" r:id="rId6"/>
    <p:sldId id="272" r:id="rId7"/>
    <p:sldId id="271" r:id="rId8"/>
    <p:sldId id="260" r:id="rId9"/>
    <p:sldId id="267" r:id="rId10"/>
    <p:sldId id="268" r:id="rId11"/>
    <p:sldId id="269" r:id="rId12"/>
    <p:sldId id="270" r:id="rId13"/>
    <p:sldId id="263" r:id="rId14"/>
    <p:sldId id="264" r:id="rId15"/>
    <p:sldId id="273" r:id="rId16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80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76408" y="832090"/>
            <a:ext cx="3151282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6272" y="2416468"/>
            <a:ext cx="17951555" cy="7719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ctor-yacovlev/fpmi-caos/tree/master/practice/aarch6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emu.org/download/#linux" TargetMode="External"/><Relationship Id="rId2" Type="http://schemas.openxmlformats.org/officeDocument/2006/relationships/hyperlink" Target="https://releases.linaro.org/components/toolchain/binaries/7.5-2019.12/aarch64-linux-gnu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eleases.linaro.org/components/toolchain/binaries/7.5-2019.12/aarch64-linux-gnu/sysroot-glibc-linaro-2.25-2019.12-aarch64-linux-gnu.tar.xz" TargetMode="External"/><Relationship Id="rId2" Type="http://schemas.openxmlformats.org/officeDocument/2006/relationships/hyperlink" Target="https://releases.linaro.org/components/toolchain/binaries/7.5-2019.12/aarch64-linux-gnu/gcc-linaro-7.5.0-2019.12-x86_64_aarch64-linux-gnu.tar.xz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blog.rchapman.org/posts/Linux_System_Call_Table_for_x86_64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www.codeproject.com/Articles/15971/Using-Inline-Assembly-in-C-C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metanit.com/assembler/arm64/4.8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91536" y="5853927"/>
            <a:ext cx="11921490" cy="16318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5250" spc="10" dirty="0"/>
              <a:t>Ассемблер</a:t>
            </a:r>
            <a:r>
              <a:rPr sz="5250" spc="-215" dirty="0"/>
              <a:t> </a:t>
            </a:r>
            <a:r>
              <a:rPr sz="5250" spc="-5" dirty="0"/>
              <a:t>и</a:t>
            </a:r>
            <a:r>
              <a:rPr sz="5250" spc="-210" dirty="0"/>
              <a:t> </a:t>
            </a:r>
            <a:r>
              <a:rPr sz="5250" spc="10" dirty="0"/>
              <a:t>память</a:t>
            </a:r>
            <a:r>
              <a:rPr sz="5250" b="0" spc="10" dirty="0">
                <a:latin typeface="Roboto Lt"/>
                <a:cs typeface="Roboto Lt"/>
              </a:rPr>
              <a:t>.</a:t>
            </a:r>
            <a:r>
              <a:rPr sz="5250" b="0" spc="-65" dirty="0">
                <a:latin typeface="Roboto Lt"/>
                <a:cs typeface="Roboto Lt"/>
              </a:rPr>
              <a:t> </a:t>
            </a:r>
            <a:r>
              <a:rPr sz="5250" spc="85" dirty="0" err="1"/>
              <a:t>Продолжение</a:t>
            </a:r>
            <a:br>
              <a:rPr lang="ru-RU" sz="5250" spc="85" dirty="0"/>
            </a:br>
            <a:r>
              <a:rPr lang="en-US" sz="5250" spc="85" dirty="0"/>
              <a:t>ARM</a:t>
            </a:r>
            <a:endParaRPr sz="5250" dirty="0">
              <a:latin typeface="Roboto Lt"/>
              <a:cs typeface="Roboto 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A48B1B-AAB0-4E44-8B48-B1DD069E4268}"/>
              </a:ext>
            </a:extLst>
          </p:cNvPr>
          <p:cNvSpPr txBox="1"/>
          <p:nvPr/>
        </p:nvSpPr>
        <p:spPr>
          <a:xfrm>
            <a:off x="5175250" y="1920875"/>
            <a:ext cx="97536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8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8800" dirty="0">
                <a:latin typeface="Arial" panose="020B0604020202020204" pitchFamily="34" charset="0"/>
                <a:cs typeface="Arial" panose="020B0604020202020204" pitchFamily="34" charset="0"/>
              </a:rPr>
              <a:t>Семинар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52929" y="832090"/>
            <a:ext cx="198564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ARM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9050" y="3140075"/>
            <a:ext cx="12054205" cy="5707973"/>
          </a:xfrm>
          <a:prstGeom prst="rect">
            <a:avLst/>
          </a:prstGeom>
        </p:spPr>
        <p:txBody>
          <a:bodyPr vert="horz" wrap="square" lIns="0" tIns="33401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53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lang="ru-RU" sz="4400" spc="12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Инструкция</a:t>
            </a: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4400" spc="125" dirty="0" err="1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С</a:t>
            </a:r>
            <a:r>
              <a:rPr sz="4400" spc="20" dirty="0" err="1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та</a:t>
            </a:r>
            <a:r>
              <a:rPr sz="4400" dirty="0" err="1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т</a:t>
            </a:r>
            <a:r>
              <a:rPr sz="4400" spc="-5" dirty="0" err="1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ь</a:t>
            </a:r>
            <a:r>
              <a:rPr sz="4400" spc="190" dirty="0" err="1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я</a:t>
            </a:r>
            <a:r>
              <a:rPr sz="4400" spc="-20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 </a:t>
            </a:r>
            <a:r>
              <a:rPr sz="4400" spc="-27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н</a:t>
            </a:r>
            <a:r>
              <a:rPr sz="4400" spc="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а</a:t>
            </a:r>
            <a:r>
              <a:rPr sz="4400" spc="-204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 </a:t>
            </a:r>
            <a:r>
              <a:rPr sz="4400" spc="-2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ха</a:t>
            </a:r>
            <a:r>
              <a:rPr sz="4400" spc="-15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б</a:t>
            </a:r>
            <a:r>
              <a:rPr sz="4400" spc="-29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р</a:t>
            </a:r>
            <a:r>
              <a:rPr sz="440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е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4400" spc="155" dirty="0">
                <a:latin typeface="Arial" panose="020B0604020202020204" pitchFamily="34" charset="0"/>
                <a:cs typeface="Arial" panose="020B0604020202020204" pitchFamily="34" charset="0"/>
              </a:rPr>
              <a:t>Ка</a:t>
            </a:r>
            <a:r>
              <a:rPr sz="4400" spc="45" dirty="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50" dirty="0"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sz="4400" spc="-275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4400" spc="-75" dirty="0">
                <a:latin typeface="Arial" panose="020B0604020202020204" pitchFamily="34" charset="0"/>
                <a:cs typeface="Arial" panose="020B0604020202020204" pitchFamily="34" charset="0"/>
              </a:rPr>
              <a:t>усти</a:t>
            </a:r>
            <a:r>
              <a:rPr sz="4400" dirty="0">
                <a:latin typeface="Arial" panose="020B0604020202020204" pitchFamily="34" charset="0"/>
                <a:cs typeface="Arial" panose="020B0604020202020204" pitchFamily="34" charset="0"/>
              </a:rPr>
              <a:t>ть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275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440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4400" spc="-229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4400" spc="-365" dirty="0">
                <a:latin typeface="Arial" panose="020B0604020202020204" pitchFamily="34" charset="0"/>
                <a:cs typeface="Arial" panose="020B0604020202020204" pitchFamily="34" charset="0"/>
              </a:rPr>
              <a:t>г</a:t>
            </a:r>
            <a:r>
              <a:rPr sz="440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4400" spc="1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4400" spc="-215" dirty="0">
                <a:latin typeface="Arial" panose="020B0604020202020204" pitchFamily="34" charset="0"/>
                <a:cs typeface="Arial" panose="020B0604020202020204" pitchFamily="34" charset="0"/>
              </a:rPr>
              <a:t>мм</a:t>
            </a:r>
            <a:r>
              <a:rPr sz="4400" spc="-150" dirty="0"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254" dirty="0">
                <a:latin typeface="Arial" panose="020B0604020202020204" pitchFamily="34" charset="0"/>
                <a:cs typeface="Arial" panose="020B0604020202020204" pitchFamily="34" charset="0"/>
              </a:rPr>
              <a:t>под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125" dirty="0">
                <a:latin typeface="Arial" panose="020B0604020202020204" pitchFamily="34" charset="0"/>
                <a:cs typeface="Arial" panose="020B0604020202020204" pitchFamily="34" charset="0"/>
              </a:rPr>
              <a:t>ARM?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11630" lvl="1" indent="-866775">
              <a:lnSpc>
                <a:spcPct val="100000"/>
              </a:lnSpc>
              <a:spcBef>
                <a:spcPts val="2535"/>
              </a:spcBef>
              <a:buFont typeface="Microsoft Sans Serif"/>
              <a:buAutoNum type="alphaUcPeriod"/>
              <a:tabLst>
                <a:tab pos="1611630" algn="l"/>
                <a:tab pos="1612265" algn="l"/>
              </a:tabLst>
            </a:pPr>
            <a:r>
              <a:rPr sz="4400" spc="45" dirty="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4400" spc="-190" dirty="0">
                <a:latin typeface="Arial" panose="020B0604020202020204" pitchFamily="34" charset="0"/>
                <a:cs typeface="Arial" panose="020B0604020202020204" pitchFamily="34" charset="0"/>
              </a:rPr>
              <a:t>уп</a:t>
            </a:r>
            <a:r>
              <a:rPr sz="4400" spc="-17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4400" dirty="0">
                <a:latin typeface="Arial" panose="020B0604020202020204" pitchFamily="34" charset="0"/>
                <a:cs typeface="Arial" panose="020B0604020202020204" pitchFamily="34" charset="0"/>
              </a:rPr>
              <a:t>ть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130" dirty="0"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sz="4400" spc="-9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4400" spc="45" dirty="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130" dirty="0" err="1"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265" dirty="0">
                <a:latin typeface="Arial" panose="020B0604020202020204" pitchFamily="34" charset="0"/>
                <a:cs typeface="Arial" panose="020B0604020202020204" pitchFamily="34" charset="0"/>
              </a:rPr>
              <a:t>M1</a:t>
            </a:r>
            <a:r>
              <a:rPr lang="en-US" sz="4400" spc="-5" dirty="0">
                <a:latin typeface="Arial" panose="020B0604020202020204" pitchFamily="34" charset="0"/>
                <a:cs typeface="Arial" panose="020B0604020202020204" pitchFamily="34" charset="0"/>
              </a:rPr>
              <a:t>-M4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78280" lvl="1" indent="-733425">
              <a:lnSpc>
                <a:spcPct val="100000"/>
              </a:lnSpc>
              <a:spcBef>
                <a:spcPts val="2555"/>
              </a:spcBef>
              <a:buFont typeface="Microsoft Sans Serif"/>
              <a:buAutoNum type="alphaUcPeriod"/>
              <a:tabLst>
                <a:tab pos="1478280" algn="l"/>
                <a:tab pos="1478915" algn="l"/>
              </a:tabLst>
            </a:pPr>
            <a:r>
              <a:rPr sz="4400" spc="-7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4400" spc="-160" dirty="0">
                <a:latin typeface="Arial" panose="020B0604020202020204" pitchFamily="34" charset="0"/>
                <a:cs typeface="Arial" panose="020B0604020202020204" pitchFamily="34" charset="0"/>
              </a:rPr>
              <a:t>сп</a:t>
            </a:r>
            <a:r>
              <a:rPr sz="4400" spc="-229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4400" spc="-55" dirty="0">
                <a:latin typeface="Arial" panose="020B0604020202020204" pitchFamily="34" charset="0"/>
                <a:cs typeface="Arial" panose="020B0604020202020204" pitchFamily="34" charset="0"/>
              </a:rPr>
              <a:t>л</a:t>
            </a:r>
            <a:r>
              <a:rPr sz="4400" spc="-25" dirty="0">
                <a:latin typeface="Arial" panose="020B0604020202020204" pitchFamily="34" charset="0"/>
                <a:cs typeface="Arial" panose="020B0604020202020204" pitchFamily="34" charset="0"/>
              </a:rPr>
              <a:t>ь</a:t>
            </a:r>
            <a:r>
              <a:rPr sz="4400" spc="-75" dirty="0">
                <a:latin typeface="Arial" panose="020B0604020202020204" pitchFamily="34" charset="0"/>
                <a:cs typeface="Arial" panose="020B0604020202020204" pitchFamily="34" charset="0"/>
              </a:rPr>
              <a:t>зо</a:t>
            </a:r>
            <a:r>
              <a:rPr sz="4400" spc="90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4400" spc="1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4400" dirty="0">
                <a:latin typeface="Arial" panose="020B0604020202020204" pitchFamily="34" charset="0"/>
                <a:cs typeface="Arial" panose="020B0604020202020204" pitchFamily="34" charset="0"/>
              </a:rPr>
              <a:t>ть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45" dirty="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440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4400" spc="-229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4400" spc="-45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z="4400" spc="-50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z="440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4400" spc="45" dirty="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4400" spc="-229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4400" spc="-280" dirty="0"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sz="4400" spc="-235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4400" spc="-17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4400" spc="-55" dirty="0">
                <a:latin typeface="Arial" panose="020B0604020202020204" pitchFamily="34" charset="0"/>
                <a:cs typeface="Arial" panose="020B0604020202020204" pitchFamily="34" charset="0"/>
              </a:rPr>
              <a:t>л</a:t>
            </a:r>
            <a:r>
              <a:rPr sz="4400" spc="190" dirty="0">
                <a:latin typeface="Arial" panose="020B0604020202020204" pitchFamily="34" charset="0"/>
                <a:cs typeface="Arial" panose="020B0604020202020204" pitchFamily="34" charset="0"/>
              </a:rPr>
              <a:t>я</a:t>
            </a:r>
            <a:r>
              <a:rPr sz="4400" spc="-100" dirty="0">
                <a:latin typeface="Arial" panose="020B0604020202020204" pitchFamily="34" charset="0"/>
                <a:cs typeface="Arial" panose="020B0604020202020204" pitchFamily="34" charset="0"/>
              </a:rPr>
              <a:t>то</a:t>
            </a:r>
            <a:r>
              <a:rPr sz="440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17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5" dirty="0">
                <a:latin typeface="Arial" panose="020B0604020202020204" pitchFamily="34" charset="0"/>
                <a:cs typeface="Arial" panose="020B0604020202020204" pitchFamily="34" charset="0"/>
              </a:rPr>
              <a:t>э</a:t>
            </a:r>
            <a:r>
              <a:rPr sz="4400" spc="-135" dirty="0">
                <a:latin typeface="Arial" panose="020B0604020202020204" pitchFamily="34" charset="0"/>
                <a:cs typeface="Arial" panose="020B0604020202020204" pitchFamily="34" charset="0"/>
              </a:rPr>
              <a:t>му</a:t>
            </a:r>
            <a:r>
              <a:rPr sz="4400" spc="-125" dirty="0">
                <a:latin typeface="Arial" panose="020B0604020202020204" pitchFamily="34" charset="0"/>
                <a:cs typeface="Arial" panose="020B0604020202020204" pitchFamily="34" charset="0"/>
              </a:rPr>
              <a:t>л</a:t>
            </a:r>
            <a:r>
              <a:rPr sz="4400" spc="190" dirty="0">
                <a:latin typeface="Arial" panose="020B0604020202020204" pitchFamily="34" charset="0"/>
                <a:cs typeface="Arial" panose="020B0604020202020204" pitchFamily="34" charset="0"/>
              </a:rPr>
              <a:t>я</a:t>
            </a:r>
            <a:r>
              <a:rPr sz="4400" spc="-100" dirty="0">
                <a:latin typeface="Arial" panose="020B0604020202020204" pitchFamily="34" charset="0"/>
                <a:cs typeface="Arial" panose="020B0604020202020204" pitchFamily="34" charset="0"/>
              </a:rPr>
              <a:t>то</a:t>
            </a:r>
            <a:r>
              <a:rPr sz="440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4558" y="320675"/>
            <a:ext cx="8134984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65" dirty="0"/>
              <a:t>Кросс-компиляция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7550" y="1402080"/>
            <a:ext cx="18669000" cy="8085547"/>
          </a:xfrm>
          <a:prstGeom prst="rect">
            <a:avLst/>
          </a:prstGeom>
        </p:spPr>
        <p:txBody>
          <a:bodyPr vert="horz" wrap="square" lIns="0" tIns="252730" rIns="0" bIns="0" rtlCol="0">
            <a:spAutoFit/>
          </a:bodyPr>
          <a:lstStyle/>
          <a:p>
            <a:pPr marL="362585" indent="-350520">
              <a:lnSpc>
                <a:spcPct val="100000"/>
              </a:lnSpc>
              <a:spcBef>
                <a:spcPts val="1990"/>
              </a:spcBef>
              <a:buChar char="•"/>
              <a:tabLst>
                <a:tab pos="362585" algn="l"/>
                <a:tab pos="363220" algn="l"/>
              </a:tabLst>
            </a:pPr>
            <a:r>
              <a:rPr sz="3200" spc="-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Скачиваем</a:t>
            </a:r>
            <a:r>
              <a:rPr sz="32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35" dirty="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3200" spc="-170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3200" spc="-195" dirty="0">
                <a:latin typeface="Arial" panose="020B0604020202020204" pitchFamily="34" charset="0"/>
                <a:cs typeface="Arial" panose="020B0604020202020204" pitchFamily="34" charset="0"/>
              </a:rPr>
              <a:t>мп</a:t>
            </a:r>
            <a:r>
              <a:rPr sz="3200" spc="-125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3200" spc="-45" dirty="0">
                <a:latin typeface="Arial" panose="020B0604020202020204" pitchFamily="34" charset="0"/>
                <a:cs typeface="Arial" panose="020B0604020202020204" pitchFamily="34" charset="0"/>
              </a:rPr>
              <a:t>л</a:t>
            </a:r>
            <a:r>
              <a:rPr sz="3200" spc="145" dirty="0">
                <a:latin typeface="Arial" panose="020B0604020202020204" pitchFamily="34" charset="0"/>
                <a:cs typeface="Arial" panose="020B0604020202020204" pitchFamily="34" charset="0"/>
              </a:rPr>
              <a:t>я</a:t>
            </a:r>
            <a:r>
              <a:rPr sz="3200" spc="-75" dirty="0">
                <a:latin typeface="Arial" panose="020B0604020202020204" pitchFamily="34" charset="0"/>
                <a:cs typeface="Arial" panose="020B0604020202020204" pitchFamily="34" charset="0"/>
              </a:rPr>
              <a:t>то</a:t>
            </a:r>
            <a:r>
              <a:rPr sz="3200" spc="-22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32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20" dirty="0">
                <a:latin typeface="Arial" panose="020B0604020202020204" pitchFamily="34" charset="0"/>
                <a:cs typeface="Arial" panose="020B0604020202020204" pitchFamily="34" charset="0"/>
              </a:rPr>
              <a:t>gcc</a:t>
            </a:r>
            <a:r>
              <a:rPr sz="32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25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32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25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3200" spc="-60" dirty="0" err="1">
                <a:latin typeface="Arial" panose="020B0604020202020204" pitchFamily="34" charset="0"/>
                <a:cs typeface="Arial" panose="020B0604020202020204" pitchFamily="34" charset="0"/>
              </a:rPr>
              <a:t>ys</a:t>
            </a:r>
            <a:r>
              <a:rPr sz="3200" spc="-95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3200" spc="-40" dirty="0" err="1">
                <a:latin typeface="Arial" panose="020B0604020202020204" pitchFamily="34" charset="0"/>
                <a:cs typeface="Arial" panose="020B0604020202020204" pitchFamily="34" charset="0"/>
              </a:rPr>
              <a:t>oot</a:t>
            </a:r>
            <a:r>
              <a:rPr lang="en-US" sz="3200" spc="-4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62585" indent="-350520">
              <a:lnSpc>
                <a:spcPct val="100000"/>
              </a:lnSpc>
              <a:spcBef>
                <a:spcPts val="1889"/>
              </a:spcBef>
              <a:buChar char="•"/>
              <a:tabLst>
                <a:tab pos="362585" algn="l"/>
                <a:tab pos="363220" algn="l"/>
              </a:tabLst>
            </a:pPr>
            <a:r>
              <a:rPr sz="3200" spc="-10" dirty="0" err="1">
                <a:latin typeface="Arial" panose="020B0604020202020204" pitchFamily="34" charset="0"/>
                <a:cs typeface="Arial" panose="020B0604020202020204" pitchFamily="34" charset="0"/>
              </a:rPr>
              <a:t>Распаковываем</a:t>
            </a:r>
            <a:r>
              <a:rPr sz="3200" spc="-1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50520">
              <a:lnSpc>
                <a:spcPct val="100000"/>
              </a:lnSpc>
              <a:spcBef>
                <a:spcPts val="1875"/>
              </a:spcBef>
              <a:buChar char="•"/>
              <a:tabLst>
                <a:tab pos="822960" algn="l"/>
                <a:tab pos="823594" algn="l"/>
              </a:tabLst>
            </a:pPr>
            <a:r>
              <a:rPr sz="3200" b="1" spc="275" dirty="0">
                <a:latin typeface="Arial" panose="020B0604020202020204" pitchFamily="34" charset="0"/>
                <a:cs typeface="Arial" panose="020B0604020202020204" pitchFamily="34" charset="0"/>
              </a:rPr>
              <a:t>$</a:t>
            </a:r>
            <a:r>
              <a:rPr sz="3200" b="1" spc="-2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17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3200" b="1" spc="90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3200" b="1" spc="-2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3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200" b="1" spc="145" dirty="0">
                <a:latin typeface="Arial" panose="020B0604020202020204" pitchFamily="34" charset="0"/>
                <a:cs typeface="Arial" panose="020B0604020202020204" pitchFamily="34" charset="0"/>
              </a:rPr>
              <a:t>xf</a:t>
            </a:r>
            <a:r>
              <a:rPr sz="3200" b="1" spc="-2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145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3200" b="1" spc="80" dirty="0">
                <a:latin typeface="Arial" panose="020B0604020202020204" pitchFamily="34" charset="0"/>
                <a:cs typeface="Arial" panose="020B0604020202020204" pitchFamily="34" charset="0"/>
              </a:rPr>
              <a:t>nam</a:t>
            </a:r>
            <a:r>
              <a:rPr sz="3200" b="1" spc="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3200" b="1" spc="155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3200" b="1" spc="-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3200" b="1" spc="17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3200" b="1" spc="7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3200" b="1" spc="-7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3200" b="1" spc="4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3200" b="1" spc="14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2585" indent="-350520">
              <a:lnSpc>
                <a:spcPts val="3585"/>
              </a:lnSpc>
              <a:spcBef>
                <a:spcPts val="1875"/>
              </a:spcBef>
              <a:buChar char="•"/>
              <a:tabLst>
                <a:tab pos="362585" algn="l"/>
                <a:tab pos="363220" algn="l"/>
              </a:tabLst>
            </a:pPr>
            <a:r>
              <a:rPr sz="3200" spc="280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32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70" dirty="0">
                <a:latin typeface="Arial" panose="020B0604020202020204" pitchFamily="34" charset="0"/>
                <a:cs typeface="Arial" panose="020B0604020202020204" pitchFamily="34" charset="0"/>
              </a:rPr>
              <a:t>~/.bash</a:t>
            </a:r>
            <a:r>
              <a:rPr sz="3200" spc="-18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3200" spc="17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32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210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3200" spc="-22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3200" spc="-170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3200" spc="-210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3200" spc="-125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3200" spc="-20" dirty="0">
                <a:latin typeface="Arial" panose="020B0604020202020204" pitchFamily="34" charset="0"/>
                <a:cs typeface="Arial" panose="020B0604020202020204" pitchFamily="34" charset="0"/>
              </a:rPr>
              <a:t>сы</a:t>
            </a:r>
            <a:r>
              <a:rPr sz="3200" spc="70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3200" spc="1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3200" spc="-180" dirty="0"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sz="3200" spc="-7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0">
              <a:lnSpc>
                <a:spcPts val="2895"/>
              </a:lnSpc>
            </a:pPr>
            <a:r>
              <a:rPr sz="3200" b="1" dirty="0">
                <a:latin typeface="Arial" panose="020B0604020202020204" pitchFamily="34" charset="0"/>
                <a:cs typeface="Arial" panose="020B0604020202020204" pitchFamily="34" charset="0"/>
              </a:rPr>
              <a:t>PATH</a:t>
            </a:r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=“$PATH:/home/…/gcc-linaro/bin”</a:t>
            </a:r>
          </a:p>
          <a:p>
            <a:pPr marL="1143000">
              <a:lnSpc>
                <a:spcPts val="2915"/>
              </a:lnSpc>
            </a:pPr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export</a:t>
            </a:r>
            <a:r>
              <a:rPr sz="32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dirty="0">
                <a:latin typeface="Arial" panose="020B0604020202020204" pitchFamily="34" charset="0"/>
                <a:cs typeface="Arial" panose="020B0604020202020204" pitchFamily="34" charset="0"/>
              </a:rPr>
              <a:t>LINARO_SYSROOT</a:t>
            </a:r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=“/home/…/sysroot-glibc-linaro”</a:t>
            </a:r>
          </a:p>
          <a:p>
            <a:pPr marL="362585" indent="-350520">
              <a:lnSpc>
                <a:spcPct val="100000"/>
              </a:lnSpc>
              <a:spcBef>
                <a:spcPts val="1875"/>
              </a:spcBef>
              <a:buChar char="•"/>
              <a:tabLst>
                <a:tab pos="362585" algn="l"/>
                <a:tab pos="363220" algn="l"/>
              </a:tabLst>
            </a:pPr>
            <a:r>
              <a:rPr sz="3200" spc="25" dirty="0">
                <a:latin typeface="Arial" panose="020B0604020202020204" pitchFamily="34" charset="0"/>
                <a:cs typeface="Arial" panose="020B0604020202020204" pitchFamily="34" charset="0"/>
              </a:rPr>
              <a:t>Ко</a:t>
            </a:r>
            <a:r>
              <a:rPr sz="3200" spc="-195" dirty="0">
                <a:latin typeface="Arial" panose="020B0604020202020204" pitchFamily="34" charset="0"/>
                <a:cs typeface="Arial" panose="020B0604020202020204" pitchFamily="34" charset="0"/>
              </a:rPr>
              <a:t>мп</a:t>
            </a:r>
            <a:r>
              <a:rPr sz="3200" spc="-125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3200" spc="-45" dirty="0">
                <a:latin typeface="Arial" panose="020B0604020202020204" pitchFamily="34" charset="0"/>
                <a:cs typeface="Arial" panose="020B0604020202020204" pitchFamily="34" charset="0"/>
              </a:rPr>
              <a:t>л</a:t>
            </a:r>
            <a:r>
              <a:rPr sz="3200" spc="-125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3200" spc="-22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3200" spc="-40" dirty="0">
                <a:latin typeface="Arial" panose="020B0604020202020204" pitchFamily="34" charset="0"/>
                <a:cs typeface="Arial" panose="020B0604020202020204" pitchFamily="34" charset="0"/>
              </a:rPr>
              <a:t>уе</a:t>
            </a:r>
            <a:r>
              <a:rPr sz="3200" spc="-175" dirty="0"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sz="3200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50" dirty="0">
                <a:latin typeface="Arial" panose="020B0604020202020204" pitchFamily="34" charset="0"/>
                <a:cs typeface="Arial" panose="020B0604020202020204" pitchFamily="34" charset="0"/>
              </a:rPr>
              <a:t>ф</a:t>
            </a:r>
            <a:r>
              <a:rPr sz="3200" spc="3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3200" spc="-125" dirty="0"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sz="3200" spc="-45" dirty="0">
                <a:latin typeface="Arial" panose="020B0604020202020204" pitchFamily="34" charset="0"/>
                <a:cs typeface="Arial" panose="020B0604020202020204" pitchFamily="34" charset="0"/>
              </a:rPr>
              <a:t>л</a:t>
            </a:r>
            <a:r>
              <a:rPr sz="3200" spc="-7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4560" indent="-452120">
              <a:lnSpc>
                <a:spcPct val="100000"/>
              </a:lnSpc>
              <a:spcBef>
                <a:spcPts val="1875"/>
              </a:spcBef>
              <a:buFont typeface="Lucida Sans Unicode"/>
              <a:buChar char="•"/>
              <a:tabLst>
                <a:tab pos="924560" algn="l"/>
                <a:tab pos="925194" algn="l"/>
              </a:tabLst>
            </a:pPr>
            <a:r>
              <a:rPr sz="3200" b="1" spc="100" dirty="0">
                <a:latin typeface="Arial" panose="020B0604020202020204" pitchFamily="34" charset="0"/>
                <a:cs typeface="Arial" panose="020B0604020202020204" pitchFamily="34" charset="0"/>
              </a:rPr>
              <a:t>aarch64-linux-gnu-gcc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2585" indent="-350520">
              <a:lnSpc>
                <a:spcPct val="100000"/>
              </a:lnSpc>
              <a:spcBef>
                <a:spcPts val="1875"/>
              </a:spcBef>
              <a:buChar char="•"/>
              <a:tabLst>
                <a:tab pos="362585" algn="l"/>
                <a:tab pos="363220" algn="l"/>
              </a:tabLst>
            </a:pPr>
            <a:r>
              <a:rPr sz="3200" spc="2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Уста</a:t>
            </a:r>
            <a:r>
              <a:rPr sz="3200" spc="-2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н</a:t>
            </a:r>
            <a:r>
              <a:rPr sz="3200" spc="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а</a:t>
            </a:r>
            <a:r>
              <a:rPr sz="3200" spc="7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в</a:t>
            </a:r>
            <a:r>
              <a:rPr sz="3200" spc="-4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л</a:t>
            </a:r>
            <a:r>
              <a:rPr sz="3200" spc="-12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и</a:t>
            </a:r>
            <a:r>
              <a:rPr sz="3200" spc="7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в</a:t>
            </a:r>
            <a:r>
              <a:rPr sz="3200" spc="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а</a:t>
            </a:r>
            <a:r>
              <a:rPr sz="320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е</a:t>
            </a:r>
            <a:r>
              <a:rPr sz="3200" spc="-17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м</a:t>
            </a:r>
            <a:r>
              <a:rPr sz="3200" spc="-36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 </a:t>
            </a:r>
            <a:r>
              <a:rPr sz="3200" b="1" spc="60" dirty="0">
                <a:latin typeface="Arial" panose="020B0604020202020204" pitchFamily="34" charset="0"/>
                <a:cs typeface="Arial" panose="020B0604020202020204" pitchFamily="34" charset="0"/>
              </a:rPr>
              <a:t>qemu: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98525" lvl="1" indent="-426084">
              <a:lnSpc>
                <a:spcPct val="100000"/>
              </a:lnSpc>
              <a:spcBef>
                <a:spcPts val="1875"/>
              </a:spcBef>
              <a:buFont typeface="Lucida Sans Unicode"/>
              <a:buChar char="•"/>
              <a:tabLst>
                <a:tab pos="898525" algn="l"/>
                <a:tab pos="899160" algn="l"/>
              </a:tabLst>
            </a:pPr>
            <a:r>
              <a:rPr sz="3200" b="1" spc="275" dirty="0">
                <a:latin typeface="Arial" panose="020B0604020202020204" pitchFamily="34" charset="0"/>
                <a:cs typeface="Arial" panose="020B0604020202020204" pitchFamily="34" charset="0"/>
              </a:rPr>
              <a:t>$</a:t>
            </a:r>
            <a:r>
              <a:rPr sz="3200" b="1" spc="-2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sudo</a:t>
            </a:r>
            <a:r>
              <a:rPr sz="3200" b="1" spc="-2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125" dirty="0">
                <a:latin typeface="Arial" panose="020B0604020202020204" pitchFamily="34" charset="0"/>
                <a:cs typeface="Arial" panose="020B0604020202020204" pitchFamily="34" charset="0"/>
              </a:rPr>
              <a:t>apt-get</a:t>
            </a:r>
            <a:r>
              <a:rPr sz="3200" b="1" spc="-2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40" dirty="0">
                <a:latin typeface="Arial" panose="020B0604020202020204" pitchFamily="34" charset="0"/>
                <a:cs typeface="Arial" panose="020B0604020202020204" pitchFamily="34" charset="0"/>
              </a:rPr>
              <a:t>ins</a:t>
            </a:r>
            <a:r>
              <a:rPr sz="3200" b="1" spc="3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3200" b="1" spc="55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sz="3200" b="1" spc="-2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65" dirty="0">
                <a:latin typeface="Arial" panose="020B0604020202020204" pitchFamily="34" charset="0"/>
                <a:cs typeface="Arial" panose="020B0604020202020204" pitchFamily="34" charset="0"/>
              </a:rPr>
              <a:t>qemu-us</a:t>
            </a:r>
            <a:r>
              <a:rPr sz="3200" b="1" spc="14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3200" b="1" spc="8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3200" b="1" spc="15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200" b="1" spc="3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3200" b="1" spc="2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3200" b="1" spc="6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3200" b="1" spc="100" dirty="0">
                <a:latin typeface="Arial" panose="020B0604020202020204" pitchFamily="34" charset="0"/>
                <a:cs typeface="Arial" panose="020B0604020202020204" pitchFamily="34" charset="0"/>
              </a:rPr>
              <a:t>tic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2585" indent="-350520">
              <a:lnSpc>
                <a:spcPct val="100000"/>
              </a:lnSpc>
              <a:spcBef>
                <a:spcPts val="1880"/>
              </a:spcBef>
              <a:buChar char="•"/>
              <a:tabLst>
                <a:tab pos="362585" algn="l"/>
                <a:tab pos="363220" algn="l"/>
              </a:tabLst>
            </a:pPr>
            <a:r>
              <a:rPr sz="3200" spc="-5" dirty="0">
                <a:latin typeface="Arial" panose="020B0604020202020204" pitchFamily="34" charset="0"/>
                <a:cs typeface="Arial" panose="020B0604020202020204" pitchFamily="34" charset="0"/>
              </a:rPr>
              <a:t>Запускаем</a:t>
            </a:r>
            <a:r>
              <a:rPr sz="32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10" dirty="0">
                <a:latin typeface="Arial" panose="020B0604020202020204" pitchFamily="34" charset="0"/>
                <a:cs typeface="Arial" panose="020B0604020202020204" pitchFamily="34" charset="0"/>
              </a:rPr>
              <a:t>бинарь: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0" lvl="1" indent="-350520">
              <a:lnSpc>
                <a:spcPct val="100000"/>
              </a:lnSpc>
              <a:spcBef>
                <a:spcPts val="1875"/>
              </a:spcBef>
              <a:buFont typeface="Lucida Sans Unicode"/>
              <a:buChar char="•"/>
              <a:tabLst>
                <a:tab pos="822960" algn="l"/>
                <a:tab pos="823594" algn="l"/>
              </a:tabLst>
            </a:pPr>
            <a:r>
              <a:rPr sz="3200" b="1" spc="125" dirty="0">
                <a:latin typeface="Arial" panose="020B0604020202020204" pitchFamily="34" charset="0"/>
                <a:cs typeface="Arial" panose="020B0604020202020204" pitchFamily="34" charset="0"/>
              </a:rPr>
              <a:t>$qemu-aa</a:t>
            </a:r>
            <a:r>
              <a:rPr sz="3200" b="1" spc="6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3200" b="1" spc="165" dirty="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sz="3200" b="1" spc="145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sz="3200" b="1" spc="325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sz="3200" b="1" spc="2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200" b="1" spc="3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3200" b="1" spc="2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3200" b="1" spc="6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3200" b="1" spc="100" dirty="0">
                <a:latin typeface="Arial" panose="020B0604020202020204" pitchFamily="34" charset="0"/>
                <a:cs typeface="Arial" panose="020B0604020202020204" pitchFamily="34" charset="0"/>
              </a:rPr>
              <a:t>tic</a:t>
            </a:r>
            <a:r>
              <a:rPr sz="3200" b="1" spc="-2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0" dirty="0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sz="3200" b="1" spc="-2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90" dirty="0">
                <a:latin typeface="Arial" panose="020B0604020202020204" pitchFamily="34" charset="0"/>
                <a:cs typeface="Arial" panose="020B0604020202020204" pitchFamily="34" charset="0"/>
              </a:rPr>
              <a:t>$LINA</a:t>
            </a:r>
            <a:r>
              <a:rPr sz="3200" b="1" spc="8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3200" b="1" spc="-120" dirty="0">
                <a:latin typeface="Arial" panose="020B0604020202020204" pitchFamily="34" charset="0"/>
                <a:cs typeface="Arial" panose="020B0604020202020204" pitchFamily="34" charset="0"/>
              </a:rPr>
              <a:t>O_</a:t>
            </a:r>
            <a:r>
              <a:rPr sz="3200" b="1" spc="-18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3200" b="1" spc="-75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3200" b="1" spc="-6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3200" b="1" spc="-10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3200" b="1" spc="12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3200" b="1" spc="4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3200" b="1" spc="-2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9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3200" b="1" spc="-2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3200" b="1" spc="8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80326-00D3-40CE-BA87-27D7313A6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408" y="832090"/>
            <a:ext cx="4547442" cy="2123658"/>
          </a:xfrm>
        </p:spPr>
        <p:txBody>
          <a:bodyPr/>
          <a:lstStyle/>
          <a:p>
            <a:r>
              <a:rPr lang="ru-RU" dirty="0"/>
              <a:t>Все сразу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77F99-1AA5-4203-8225-835E20766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2" y="1893919"/>
            <a:ext cx="17951555" cy="9633406"/>
          </a:xfrm>
        </p:spPr>
        <p:txBody>
          <a:bodyPr/>
          <a:lstStyle/>
          <a:p>
            <a:pPr marL="819785" lvl="1" indent="-350520">
              <a:spcBef>
                <a:spcPts val="1990"/>
              </a:spcBef>
              <a:buChar char="•"/>
              <a:tabLst>
                <a:tab pos="362585" algn="l"/>
                <a:tab pos="363220" algn="l"/>
              </a:tabLst>
            </a:pP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$ mkdir cross_compile; cd cross_compile</a:t>
            </a:r>
          </a:p>
          <a:p>
            <a:pPr marL="819785" lvl="1" indent="-350520">
              <a:spcBef>
                <a:spcPts val="1990"/>
              </a:spcBef>
              <a:buChar char="•"/>
              <a:tabLst>
                <a:tab pos="362585" algn="l"/>
                <a:tab pos="363220" algn="l"/>
              </a:tabLst>
            </a:pP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$ wget </a:t>
            </a: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https://releases.linaro.org/components/toolchain/binaries/7.5-2019.12/aarch64-linux-gnu/gcc-linaro-7.5.0-2019.12-x86_64_aarch64-linux-gnu.tar.xz</a:t>
            </a:r>
            <a:endParaRPr lang="da-DK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19785" lvl="1" indent="-350520">
              <a:spcBef>
                <a:spcPts val="1990"/>
              </a:spcBef>
              <a:buChar char="•"/>
              <a:tabLst>
                <a:tab pos="362585" algn="l"/>
                <a:tab pos="363220" algn="l"/>
              </a:tabLst>
            </a:pP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$ wget </a:t>
            </a: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https://releases.linaro.org/components/toolchain/binaries/7.5-2019.12/aarch64-linux-gnu/sysroot-glibc-linaro-2.25-2019.12-aarch64-linux-gnu.tar.xz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19785" lvl="1" indent="-350520">
              <a:spcBef>
                <a:spcPts val="1990"/>
              </a:spcBef>
              <a:buChar char="•"/>
              <a:tabLst>
                <a:tab pos="362585" algn="l"/>
                <a:tab pos="363220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$ </a:t>
            </a: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tar -xf sysroot-glibc-linaro-2.25-2019.12-aarch64-linux-gnu.tar.xz</a:t>
            </a:r>
          </a:p>
          <a:p>
            <a:pPr marL="819785" lvl="1" indent="-350520">
              <a:spcBef>
                <a:spcPts val="1990"/>
              </a:spcBef>
              <a:buChar char="•"/>
              <a:tabLst>
                <a:tab pos="362585" algn="l"/>
                <a:tab pos="363220" algn="l"/>
              </a:tabLst>
            </a:pP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$ tar –xf gcc-linaro-7.5.0-2019.12-x86_64_aarch64-linux-gnu.tar.xz</a:t>
            </a:r>
          </a:p>
          <a:p>
            <a:pPr marL="819785" lvl="1" indent="-350520">
              <a:spcBef>
                <a:spcPts val="1990"/>
              </a:spcBef>
              <a:buChar char="•"/>
              <a:tabLst>
                <a:tab pos="362585" algn="l"/>
                <a:tab pos="363220" algn="l"/>
              </a:tabLst>
            </a:pP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$ vim ~/.bashrc</a:t>
            </a:r>
          </a:p>
          <a:p>
            <a:pPr marL="1276985" lvl="2" indent="-350520">
              <a:spcBef>
                <a:spcPts val="1990"/>
              </a:spcBef>
              <a:buChar char="•"/>
              <a:tabLst>
                <a:tab pos="362585" algn="l"/>
                <a:tab pos="363220" algn="l"/>
              </a:tabLst>
            </a:pP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export ARM_GCC=~/cross_compile/gcc-linaro-7.5.0-2019.12-x86_64_aarch64-linux-gnu/bin</a:t>
            </a:r>
          </a:p>
          <a:p>
            <a:pPr marL="1276985" lvl="2" indent="-350520">
              <a:spcBef>
                <a:spcPts val="1990"/>
              </a:spcBef>
              <a:buChar char="•"/>
              <a:tabLst>
                <a:tab pos="362585" algn="l"/>
                <a:tab pos="363220" algn="l"/>
              </a:tabLst>
            </a:pP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export LINARO_SYSROOT=~/cross_compile/sysroot-glibc-linaro-2.25-2019.12-aarch64-linux-gnu</a:t>
            </a:r>
          </a:p>
          <a:p>
            <a:pPr marL="1276985" lvl="2" indent="-350520">
              <a:spcBef>
                <a:spcPts val="1990"/>
              </a:spcBef>
              <a:buChar char="•"/>
              <a:tabLst>
                <a:tab pos="362585" algn="l"/>
                <a:tab pos="363220" algn="l"/>
              </a:tabLst>
            </a:pP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alias agcc=‘${ARM_GCC}/aarch64-linux-gnu-gcc'</a:t>
            </a:r>
          </a:p>
          <a:p>
            <a:pPr marL="1276985" lvl="2" indent="-350520">
              <a:spcBef>
                <a:spcPts val="1990"/>
              </a:spcBef>
              <a:buChar char="•"/>
              <a:tabLst>
                <a:tab pos="362585" algn="l"/>
                <a:tab pos="363220" algn="l"/>
              </a:tabLst>
            </a:pP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alias agdb=‘${ARM_GCC}/aarch64-linux-gnu-gdb'</a:t>
            </a:r>
          </a:p>
          <a:p>
            <a:pPr marL="1276985" lvl="2" indent="-350520">
              <a:spcBef>
                <a:spcPts val="1990"/>
              </a:spcBef>
              <a:buChar char="•"/>
              <a:tabLst>
                <a:tab pos="362585" algn="l"/>
                <a:tab pos="363220" algn="l"/>
              </a:tabLst>
            </a:pP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alias aobjdump=‘${ARM_GCC}/aarch64-linux-gnu-objdump'</a:t>
            </a:r>
          </a:p>
          <a:p>
            <a:pPr marL="1276985" lvl="2" indent="-350520">
              <a:spcBef>
                <a:spcPts val="1990"/>
              </a:spcBef>
              <a:buChar char="•"/>
              <a:tabLst>
                <a:tab pos="362585" algn="l"/>
                <a:tab pos="363220" algn="l"/>
              </a:tabLst>
            </a:pP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alias arun='qemu-aarch64 -L ${LINARO_SYSROOT}’</a:t>
            </a:r>
          </a:p>
          <a:p>
            <a:pPr marL="755015" lvl="1" indent="-285750">
              <a:spcBef>
                <a:spcPts val="1990"/>
              </a:spcBef>
              <a:buFont typeface="Arial" panose="020B0604020202020204" pitchFamily="34" charset="0"/>
              <a:buChar char="•"/>
              <a:tabLst>
                <a:tab pos="362585" algn="l"/>
                <a:tab pos="363220" algn="l"/>
              </a:tabLst>
            </a:pP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$ source ~/.bashrc</a:t>
            </a:r>
          </a:p>
          <a:p>
            <a:pPr marL="755015" lvl="1" indent="-285750">
              <a:spcBef>
                <a:spcPts val="1990"/>
              </a:spcBef>
              <a:buFont typeface="Arial" panose="020B0604020202020204" pitchFamily="34" charset="0"/>
              <a:buChar char="•"/>
              <a:tabLst>
                <a:tab pos="362585" algn="l"/>
                <a:tab pos="363220" algn="l"/>
              </a:tabLst>
            </a:pP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$ agcc main.S</a:t>
            </a:r>
          </a:p>
          <a:p>
            <a:pPr marL="755015" lvl="1" indent="-285750">
              <a:spcBef>
                <a:spcPts val="1990"/>
              </a:spcBef>
              <a:buFont typeface="Arial" panose="020B0604020202020204" pitchFamily="34" charset="0"/>
              <a:buChar char="•"/>
              <a:tabLst>
                <a:tab pos="362585" algn="l"/>
                <a:tab pos="363220" algn="l"/>
              </a:tabLst>
            </a:pPr>
            <a:r>
              <a:rPr lang="da-DK" sz="2000" dirty="0">
                <a:latin typeface="Arial" panose="020B0604020202020204" pitchFamily="34" charset="0"/>
                <a:cs typeface="Arial" panose="020B0604020202020204" pitchFamily="34" charset="0"/>
              </a:rPr>
              <a:t>$ arun a.out  </a:t>
            </a:r>
          </a:p>
          <a:p>
            <a:pPr marL="819785" lvl="1" indent="-350520">
              <a:spcBef>
                <a:spcPts val="1990"/>
              </a:spcBef>
              <a:buChar char="•"/>
              <a:tabLst>
                <a:tab pos="362585" algn="l"/>
                <a:tab pos="363220" algn="l"/>
              </a:tabLst>
            </a:pPr>
            <a:endParaRPr lang="da-DK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5167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48972" y="821620"/>
            <a:ext cx="500634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5" dirty="0"/>
              <a:t>А</a:t>
            </a:r>
            <a:r>
              <a:rPr spc="-800" dirty="0"/>
              <a:t> </a:t>
            </a:r>
            <a:r>
              <a:rPr spc="-175" dirty="0"/>
              <a:t>есл</a:t>
            </a:r>
            <a:r>
              <a:rPr spc="35" dirty="0"/>
              <a:t>и</a:t>
            </a:r>
            <a:r>
              <a:rPr spc="-800" dirty="0"/>
              <a:t> </a:t>
            </a:r>
            <a:r>
              <a:rPr spc="15" dirty="0"/>
              <a:t>мак</a:t>
            </a:r>
            <a:r>
              <a:rPr spc="-535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8484" y="5022753"/>
            <a:ext cx="702183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10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130" dirty="0">
                <a:latin typeface="Lucida Sans Unicode"/>
                <a:cs typeface="Lucida Sans Unicode"/>
              </a:rPr>
              <a:t>Т</a:t>
            </a:r>
            <a:r>
              <a:rPr sz="3950" spc="-125" dirty="0">
                <a:latin typeface="Lucida Sans Unicode"/>
                <a:cs typeface="Lucida Sans Unicode"/>
              </a:rPr>
              <a:t>и</a:t>
            </a:r>
            <a:r>
              <a:rPr sz="3950" spc="-235" dirty="0">
                <a:latin typeface="Lucida Sans Unicode"/>
                <a:cs typeface="Lucida Sans Unicode"/>
              </a:rPr>
              <a:t>м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80" dirty="0">
                <a:latin typeface="Lucida Sans Unicode"/>
                <a:cs typeface="Lucida Sans Unicode"/>
              </a:rPr>
              <a:t>Кук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20" dirty="0">
                <a:latin typeface="Lucida Sans Unicode"/>
                <a:cs typeface="Lucida Sans Unicode"/>
              </a:rPr>
              <a:t>вас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50" dirty="0">
                <a:latin typeface="Lucida Sans Unicode"/>
                <a:cs typeface="Lucida Sans Unicode"/>
              </a:rPr>
              <a:t>за</a:t>
            </a:r>
            <a:r>
              <a:rPr sz="3950" spc="-155" dirty="0">
                <a:latin typeface="Lucida Sans Unicode"/>
                <a:cs typeface="Lucida Sans Unicode"/>
              </a:rPr>
              <a:t>б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70" dirty="0">
                <a:latin typeface="Lucida Sans Unicode"/>
                <a:cs typeface="Lucida Sans Unicode"/>
              </a:rPr>
              <a:t>ти</a:t>
            </a:r>
            <a:r>
              <a:rPr sz="3950" spc="55" dirty="0">
                <a:latin typeface="Lucida Sans Unicode"/>
                <a:cs typeface="Lucida Sans Unicode"/>
              </a:rPr>
              <a:t>тс</a:t>
            </a:r>
            <a:r>
              <a:rPr sz="3950" spc="50" dirty="0">
                <a:latin typeface="Lucida Sans Unicode"/>
                <a:cs typeface="Lucida Sans Unicode"/>
              </a:rPr>
              <a:t>я</a:t>
            </a:r>
            <a:r>
              <a:rPr sz="3950" spc="30" dirty="0">
                <a:latin typeface="Microsoft Sans Serif"/>
                <a:cs typeface="Microsoft Sans Serif"/>
              </a:rPr>
              <a:t>!</a:t>
            </a:r>
            <a:endParaRPr sz="39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4707" y="2307694"/>
            <a:ext cx="10317914" cy="82396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8F4BC-0412-4C3B-9AC3-B4D3E5D7B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228" y="325618"/>
            <a:ext cx="3861642" cy="2123658"/>
          </a:xfrm>
        </p:spPr>
        <p:txBody>
          <a:bodyPr/>
          <a:lstStyle/>
          <a:p>
            <a:r>
              <a:rPr lang="ru-RU" dirty="0"/>
              <a:t>Отладка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907D4-6E1D-4A8C-B7C1-905799313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1860" y="3500239"/>
            <a:ext cx="7680378" cy="4308872"/>
          </a:xfrm>
        </p:spPr>
        <p:txBody>
          <a:bodyPr/>
          <a:lstStyle/>
          <a:p>
            <a:r>
              <a:rPr lang="en-US" sz="4000" dirty="0"/>
              <a:t>$ </a:t>
            </a:r>
            <a:r>
              <a:rPr lang="en-US" sz="4000" dirty="0" err="1"/>
              <a:t>agcc</a:t>
            </a:r>
            <a:r>
              <a:rPr lang="en-US" sz="4000" dirty="0"/>
              <a:t> –g </a:t>
            </a:r>
            <a:r>
              <a:rPr lang="en-US" sz="4000" dirty="0" err="1"/>
              <a:t>main.S</a:t>
            </a:r>
            <a:endParaRPr lang="en-US" sz="4000" dirty="0"/>
          </a:p>
          <a:p>
            <a:r>
              <a:rPr lang="en-US" sz="4000" dirty="0"/>
              <a:t>$ </a:t>
            </a:r>
            <a:r>
              <a:rPr lang="en-US" sz="4000" dirty="0" err="1"/>
              <a:t>arun</a:t>
            </a:r>
            <a:r>
              <a:rPr lang="en-US" sz="4000" dirty="0"/>
              <a:t> -g 1234 ./</a:t>
            </a:r>
            <a:r>
              <a:rPr lang="en-US" sz="4000" dirty="0" err="1"/>
              <a:t>a.out</a:t>
            </a:r>
            <a:endParaRPr lang="en-US" sz="4000" dirty="0"/>
          </a:p>
          <a:p>
            <a:endParaRPr lang="en-US" sz="4000" dirty="0"/>
          </a:p>
          <a:p>
            <a:r>
              <a:rPr lang="ru-RU" sz="4000" dirty="0"/>
              <a:t>В другом терминале</a:t>
            </a:r>
            <a:r>
              <a:rPr lang="en-US" sz="4000" dirty="0"/>
              <a:t>:</a:t>
            </a:r>
          </a:p>
          <a:p>
            <a:r>
              <a:rPr lang="en-US" sz="4000" dirty="0"/>
              <a:t>$ </a:t>
            </a:r>
            <a:r>
              <a:rPr lang="en-US" sz="4000" dirty="0" err="1"/>
              <a:t>agdb</a:t>
            </a:r>
            <a:r>
              <a:rPr lang="en-US" sz="4000" dirty="0"/>
              <a:t> </a:t>
            </a:r>
            <a:r>
              <a:rPr lang="en-US" sz="4000" dirty="0" err="1"/>
              <a:t>a.out</a:t>
            </a:r>
            <a:endParaRPr lang="en-US" sz="4000" dirty="0"/>
          </a:p>
          <a:p>
            <a:r>
              <a:rPr lang="en-US" sz="4000" dirty="0"/>
              <a:t>(</a:t>
            </a:r>
            <a:r>
              <a:rPr lang="en-US" sz="4000" dirty="0" err="1"/>
              <a:t>gdb</a:t>
            </a:r>
            <a:r>
              <a:rPr lang="en-US" sz="4000" dirty="0"/>
              <a:t>) target remote localhost:1234</a:t>
            </a:r>
          </a:p>
          <a:p>
            <a:r>
              <a:rPr lang="en-US" sz="4000" dirty="0"/>
              <a:t>(</a:t>
            </a:r>
            <a:r>
              <a:rPr lang="en-US" sz="4000" dirty="0" err="1"/>
              <a:t>gdb</a:t>
            </a:r>
            <a:r>
              <a:rPr lang="en-US" sz="4000" dirty="0"/>
              <a:t>) c</a:t>
            </a:r>
          </a:p>
        </p:txBody>
      </p:sp>
    </p:spTree>
    <p:extLst>
      <p:ext uri="{BB962C8B-B14F-4D97-AF65-F5344CB8AC3E}">
        <p14:creationId xmlns:p14="http://schemas.microsoft.com/office/powerpoint/2010/main" val="1646470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A97A9-F777-4598-BD12-0FB4731B8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849" y="473075"/>
            <a:ext cx="12344400" cy="2123658"/>
          </a:xfrm>
        </p:spPr>
        <p:txBody>
          <a:bodyPr/>
          <a:lstStyle/>
          <a:p>
            <a:r>
              <a:rPr lang="ru-RU" dirty="0"/>
              <a:t>Арифметические операции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788B2-22A2-465B-B1DE-1EAB53F7D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2" y="2416468"/>
            <a:ext cx="17951555" cy="6155531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op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rs1, rs2		//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= rs1 op rs2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add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Xb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		//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Xb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madd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Xb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	//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Xb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asr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Xb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		//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&gt;&gt;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Xb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– арифметический сдвиг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вправо</a:t>
            </a:r>
          </a:p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lsr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Xb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		//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&gt;&gt;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Xb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логический сдвиг вправо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lsl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Xb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		//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&lt;&lt;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Xb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логический сдвиг влево</a:t>
            </a: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sxtb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			//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[0:7] –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знаковое копирование 1 байта</a:t>
            </a:r>
          </a:p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uxth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			//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[0:15] –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беззнаковое копирование 2 байт</a:t>
            </a:r>
          </a:p>
        </p:txBody>
      </p:sp>
    </p:spTree>
    <p:extLst>
      <p:ext uri="{BB962C8B-B14F-4D97-AF65-F5344CB8AC3E}">
        <p14:creationId xmlns:p14="http://schemas.microsoft.com/office/powerpoint/2010/main" val="1677967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99655" y="832090"/>
            <a:ext cx="770509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0" dirty="0"/>
              <a:t>C</a:t>
            </a:r>
            <a:r>
              <a:rPr spc="-95" dirty="0"/>
              <a:t>a</a:t>
            </a:r>
            <a:r>
              <a:rPr spc="-190" dirty="0"/>
              <a:t>ll</a:t>
            </a:r>
            <a:r>
              <a:rPr spc="-185" dirty="0"/>
              <a:t>i</a:t>
            </a:r>
            <a:r>
              <a:rPr spc="-170" dirty="0"/>
              <a:t>n</a:t>
            </a:r>
            <a:r>
              <a:rPr spc="185" dirty="0"/>
              <a:t>g</a:t>
            </a:r>
            <a:r>
              <a:rPr spc="-800" dirty="0"/>
              <a:t> </a:t>
            </a:r>
            <a:r>
              <a:rPr dirty="0"/>
              <a:t>C</a:t>
            </a:r>
            <a:r>
              <a:rPr spc="-160" dirty="0"/>
              <a:t>o</a:t>
            </a:r>
            <a:r>
              <a:rPr spc="-254" dirty="0"/>
              <a:t>n</a:t>
            </a:r>
            <a:r>
              <a:rPr spc="-250" dirty="0"/>
              <a:t>v</a:t>
            </a:r>
            <a:r>
              <a:rPr spc="15" dirty="0"/>
              <a:t>e</a:t>
            </a:r>
            <a:r>
              <a:rPr spc="-170" dirty="0"/>
              <a:t>n</a:t>
            </a:r>
            <a:r>
              <a:rPr spc="100" dirty="0"/>
              <a:t>t</a:t>
            </a:r>
            <a:r>
              <a:rPr spc="-185" dirty="0"/>
              <a:t>i</a:t>
            </a:r>
            <a:r>
              <a:rPr spc="-160" dirty="0"/>
              <a:t>o</a:t>
            </a:r>
            <a:r>
              <a:rPr spc="40" dirty="0"/>
              <a:t>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D3ECC-92B8-41F6-B2A0-7D7BE12F4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872" y="2454275"/>
            <a:ext cx="18074356" cy="68249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61E9-6688-4757-84F0-464BCF60C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2129" y="854075"/>
            <a:ext cx="4699842" cy="2123658"/>
          </a:xfrm>
        </p:spPr>
        <p:txBody>
          <a:bodyPr/>
          <a:lstStyle/>
          <a:p>
            <a:r>
              <a:rPr lang="ru-RU" dirty="0"/>
              <a:t>Переходы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9C600A-2339-41F6-8A7B-5E09249DFC78}"/>
              </a:ext>
            </a:extLst>
          </p:cNvPr>
          <p:cNvSpPr txBox="1"/>
          <p:nvPr/>
        </p:nvSpPr>
        <p:spPr>
          <a:xfrm>
            <a:off x="1365250" y="3292475"/>
            <a:ext cx="1569720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 LABEL / b x –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безусловный переход (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jmp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bl LABEL / bl x  -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переход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+ link (x30 :=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адрес возврата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beq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bne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/ … -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условные переходы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ret –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прыжок на адрес из регистра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x30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7788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F87B0-316A-469A-8821-FD23BB75B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0850" y="549275"/>
            <a:ext cx="3962400" cy="2123658"/>
          </a:xfrm>
        </p:spPr>
        <p:txBody>
          <a:bodyPr/>
          <a:lstStyle/>
          <a:p>
            <a:r>
              <a:rPr lang="ru-RU" dirty="0"/>
              <a:t>Условия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1949A4-6101-492F-BA93-81B32FFE868B}"/>
              </a:ext>
            </a:extLst>
          </p:cNvPr>
          <p:cNvSpPr txBox="1"/>
          <p:nvPr/>
        </p:nvSpPr>
        <p:spPr>
          <a:xfrm>
            <a:off x="5327650" y="3673475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452DA0-7A23-4982-A347-220F0F02ED7C}"/>
              </a:ext>
            </a:extLst>
          </p:cNvPr>
          <p:cNvSpPr txBox="1"/>
          <p:nvPr/>
        </p:nvSpPr>
        <p:spPr>
          <a:xfrm>
            <a:off x="1670050" y="2454275"/>
            <a:ext cx="171450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EQ       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  	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equal  (Z)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NE       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not equal  (!Z)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CS or HS 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carry set / unsigned higher or same  (C)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CC or LO 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carry clear / unsigned lower  (!C)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MI       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minus / negative  (N)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PL       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plus / positive or zero  (!N)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VS       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overflow set  (V)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VC       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overflow clear  (!V)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HI       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unsigned higher  (C &amp;&amp; !Z)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LS       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unsigned lower or same  (!C || Z)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GE       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signed greater than or equal  (N == V)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LT       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signed less than  (N != V)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GT       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signed greater than  (!Z &amp;&amp; (N == V))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LE       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signed less than or equal  (Z || (N != V))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489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8951E-F47C-43C2-A621-7CDE6EB0B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439" y="473075"/>
            <a:ext cx="8179221" cy="1061829"/>
          </a:xfrm>
        </p:spPr>
        <p:txBody>
          <a:bodyPr/>
          <a:lstStyle/>
          <a:p>
            <a:r>
              <a:rPr lang="ru-RU" dirty="0"/>
              <a:t>Работа с памятью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F64A33-2A70-43FF-896E-919EE46E89B5}"/>
              </a:ext>
            </a:extLst>
          </p:cNvPr>
          <p:cNvSpPr txBox="1"/>
          <p:nvPr/>
        </p:nvSpPr>
        <p:spPr>
          <a:xfrm>
            <a:off x="527050" y="2073275"/>
            <a:ext cx="19577050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ldr</a:t>
            </a:r>
            <a:r>
              <a:rPr lang="en-US" sz="44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Rd, [</a:t>
            </a:r>
            <a:r>
              <a:rPr lang="en-US" sz="44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44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чтение из память по адресу </a:t>
            </a:r>
            <a:r>
              <a:rPr lang="en-US" sz="4400" b="0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Xa</a:t>
            </a:r>
            <a:r>
              <a:rPr lang="en-US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запись в регистр </a:t>
            </a:r>
            <a:r>
              <a:rPr lang="en-US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</a:p>
          <a:p>
            <a:r>
              <a:rPr lang="en-US" sz="44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 Ra, [</a:t>
            </a:r>
            <a:r>
              <a:rPr lang="en-US" sz="44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Xd</a:t>
            </a:r>
            <a:r>
              <a:rPr lang="en-US" sz="44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запись в память по адресу </a:t>
            </a:r>
            <a:r>
              <a:rPr lang="en-US" sz="4400" b="0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Xd</a:t>
            </a:r>
            <a:r>
              <a:rPr lang="en-US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из регистра </a:t>
            </a:r>
            <a:r>
              <a:rPr lang="en-US" sz="4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</a:p>
          <a:p>
            <a:endParaRPr lang="en-US" sz="4400" dirty="0">
              <a:solidFill>
                <a:srgbClr val="1F23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 err="1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ldr</a:t>
            </a:r>
            <a:r>
              <a:rPr lang="en-US" sz="44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str + [-/s] + [b/h/w] – </a:t>
            </a:r>
            <a:r>
              <a:rPr lang="ru-RU" sz="44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сохранить </a:t>
            </a:r>
            <a:r>
              <a:rPr lang="en-US" sz="44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44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загрузить </a:t>
            </a:r>
            <a:r>
              <a:rPr lang="en-US" sz="44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(</a:t>
            </a:r>
            <a:r>
              <a:rPr lang="ru-RU" sz="44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</a:t>
            </a:r>
            <a:r>
              <a:rPr lang="en-US" sz="44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)/</a:t>
            </a:r>
            <a:r>
              <a:rPr lang="ru-RU" sz="44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знаковое + ширина</a:t>
            </a:r>
            <a:endParaRPr lang="en-US" sz="4400" dirty="0">
              <a:solidFill>
                <a:srgbClr val="1F23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ldrb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strb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-&gt; uint8_t</a:t>
            </a:r>
          </a:p>
          <a:p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ldrsw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strsw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-&gt; int32_t</a:t>
            </a:r>
          </a:p>
          <a:p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4400" dirty="0" err="1">
                <a:latin typeface="Arial" panose="020B0604020202020204" pitchFamily="34" charset="0"/>
                <a:cs typeface="Arial" panose="020B0604020202020204" pitchFamily="34" charset="0"/>
              </a:rPr>
              <a:t>ldr</a:t>
            </a:r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  x0, [x1, 8]       // x0 = *(x1 + 8)</a:t>
            </a:r>
          </a:p>
          <a:p>
            <a:r>
              <a:rPr lang="ru-RU" sz="4400" dirty="0" err="1">
                <a:latin typeface="Arial" panose="020B0604020202020204" pitchFamily="34" charset="0"/>
                <a:cs typeface="Arial" panose="020B0604020202020204" pitchFamily="34" charset="0"/>
              </a:rPr>
              <a:t>ldr</a:t>
            </a:r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  x0, [x1, x2, </a:t>
            </a:r>
            <a:r>
              <a:rPr lang="ru-RU" sz="4400" dirty="0" err="1">
                <a:latin typeface="Arial" panose="020B0604020202020204" pitchFamily="34" charset="0"/>
                <a:cs typeface="Arial" panose="020B0604020202020204" pitchFamily="34" charset="0"/>
              </a:rPr>
              <a:t>lsl</a:t>
            </a:r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 3]  // x0 = *(x1 + x2 * (1 &lt;&lt; 3))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ldur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x0, [x1, 5]  	// x0 = *(x1 + 5)</a:t>
            </a:r>
          </a:p>
          <a:p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4400" dirty="0">
                <a:latin typeface="Arial" panose="020B0604020202020204" pitchFamily="34" charset="0"/>
                <a:cs typeface="Arial" panose="020B0604020202020204" pitchFamily="34" charset="0"/>
              </a:rPr>
              <a:t>stp x19, x20, [x8], #16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 	// </a:t>
            </a:r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stp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x19, x20, [x8] + add x8, x8, #16</a:t>
            </a:r>
          </a:p>
          <a:p>
            <a:r>
              <a:rPr lang="pl-PL" sz="4400" dirty="0">
                <a:latin typeface="Arial" panose="020B0604020202020204" pitchFamily="34" charset="0"/>
                <a:cs typeface="Arial" panose="020B0604020202020204" pitchFamily="34" charset="0"/>
              </a:rPr>
              <a:t>stp x19, x20, [x8, #16]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		// </a:t>
            </a:r>
            <a:r>
              <a:rPr lang="nn-NO" sz="4400" dirty="0">
                <a:latin typeface="Arial" panose="020B0604020202020204" pitchFamily="34" charset="0"/>
                <a:cs typeface="Arial" panose="020B0604020202020204" pitchFamily="34" charset="0"/>
              </a:rPr>
              <a:t>add x8, x8, #16 + stp x19, x20, [x8]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09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2925-891E-47A1-83B1-262BA84C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929" y="854075"/>
            <a:ext cx="8662242" cy="1143000"/>
          </a:xfrm>
        </p:spPr>
        <p:txBody>
          <a:bodyPr/>
          <a:lstStyle/>
          <a:p>
            <a:r>
              <a:rPr lang="ru-RU" dirty="0"/>
              <a:t>Сохранение на стек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4E814-1D6F-426E-929B-514538BF06CE}"/>
              </a:ext>
            </a:extLst>
          </p:cNvPr>
          <p:cNvSpPr txBox="1"/>
          <p:nvPr/>
        </p:nvSpPr>
        <p:spPr>
          <a:xfrm>
            <a:off x="6171989" y="3444875"/>
            <a:ext cx="77601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/>
              <a:t>some_func</a:t>
            </a:r>
            <a:r>
              <a:rPr lang="en-US" sz="4400" dirty="0"/>
              <a:t>:</a:t>
            </a:r>
          </a:p>
          <a:p>
            <a:r>
              <a:rPr lang="en-US" sz="4400" dirty="0"/>
              <a:t>    </a:t>
            </a:r>
            <a:r>
              <a:rPr lang="en-US" sz="4400" dirty="0" err="1"/>
              <a:t>stp</a:t>
            </a:r>
            <a:r>
              <a:rPr lang="en-US" sz="4400" dirty="0"/>
              <a:t> x29, x30, [</a:t>
            </a:r>
            <a:r>
              <a:rPr lang="en-US" sz="4400" dirty="0" err="1"/>
              <a:t>sp</a:t>
            </a:r>
            <a:r>
              <a:rPr lang="en-US" sz="4400" dirty="0"/>
              <a:t>, #</a:t>
            </a:r>
            <a:r>
              <a:rPr lang="ru-RU" sz="4400" dirty="0"/>
              <a:t>16</a:t>
            </a:r>
            <a:r>
              <a:rPr lang="en-US" sz="4400" dirty="0"/>
              <a:t>]!</a:t>
            </a:r>
          </a:p>
          <a:p>
            <a:r>
              <a:rPr lang="en-US" sz="4400" dirty="0"/>
              <a:t>    // ...</a:t>
            </a:r>
          </a:p>
          <a:p>
            <a:r>
              <a:rPr lang="en-US" sz="4400" dirty="0"/>
              <a:t>    </a:t>
            </a:r>
            <a:r>
              <a:rPr lang="en-US" sz="4400" dirty="0" err="1"/>
              <a:t>ldp</a:t>
            </a:r>
            <a:r>
              <a:rPr lang="en-US" sz="4400" dirty="0"/>
              <a:t> x29, x30, [</a:t>
            </a:r>
            <a:r>
              <a:rPr lang="en-US" sz="4400" dirty="0" err="1"/>
              <a:t>sp</a:t>
            </a:r>
            <a:r>
              <a:rPr lang="en-US" sz="4400" dirty="0"/>
              <a:t>], #0x</a:t>
            </a:r>
            <a:r>
              <a:rPr lang="ru-RU" sz="4400" dirty="0"/>
              <a:t>16</a:t>
            </a:r>
            <a:endParaRPr lang="en-US" sz="4400" dirty="0"/>
          </a:p>
          <a:p>
            <a:r>
              <a:rPr lang="en-US" sz="4400" dirty="0"/>
              <a:t>    ret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185196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45" dirty="0"/>
              <a:t>s</a:t>
            </a:r>
            <a:r>
              <a:rPr spc="-365" dirty="0"/>
              <a:t>y</a:t>
            </a:r>
            <a:r>
              <a:rPr spc="-560" dirty="0"/>
              <a:t>s</a:t>
            </a:r>
            <a:r>
              <a:rPr spc="-30" dirty="0"/>
              <a:t>c</a:t>
            </a:r>
            <a:r>
              <a:rPr spc="-145" dirty="0"/>
              <a:t>a</a:t>
            </a:r>
            <a:r>
              <a:rPr spc="-190" dirty="0"/>
              <a:t>ll</a:t>
            </a:r>
            <a:r>
              <a:rPr spc="-36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6340652"/>
            <a:ext cx="8411845" cy="34781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0820" marR="1162050">
              <a:lnSpc>
                <a:spcPct val="112200"/>
              </a:lnSpc>
              <a:spcBef>
                <a:spcPts val="95"/>
              </a:spcBef>
            </a:pPr>
            <a:r>
              <a:rPr sz="3950" spc="-35" dirty="0">
                <a:latin typeface="Microsoft Sans Serif"/>
                <a:cs typeface="Microsoft Sans Serif"/>
              </a:rPr>
              <a:t>N.B.</a:t>
            </a:r>
            <a:r>
              <a:rPr sz="3950" spc="30" dirty="0">
                <a:latin typeface="Microsoft Sans Serif"/>
                <a:cs typeface="Microsoft Sans Serif"/>
              </a:rPr>
              <a:t>!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45" dirty="0">
                <a:latin typeface="Lucida Sans Unicode"/>
                <a:cs typeface="Lucida Sans Unicode"/>
              </a:rPr>
              <a:t>П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190" dirty="0">
                <a:latin typeface="Lucida Sans Unicode"/>
                <a:cs typeface="Lucida Sans Unicode"/>
              </a:rPr>
              <a:t>я</a:t>
            </a:r>
            <a:r>
              <a:rPr sz="3950" spc="-245" dirty="0">
                <a:latin typeface="Lucida Sans Unicode"/>
                <a:cs typeface="Lucida Sans Unicode"/>
              </a:rPr>
              <a:t>до</a:t>
            </a:r>
            <a:r>
              <a:rPr sz="3950" spc="45" dirty="0">
                <a:latin typeface="Lucida Sans Unicode"/>
                <a:cs typeface="Lucida Sans Unicode"/>
              </a:rPr>
              <a:t>к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365" dirty="0">
                <a:latin typeface="Lucida Sans Unicode"/>
                <a:cs typeface="Lucida Sans Unicode"/>
              </a:rPr>
              <a:t>г</a:t>
            </a:r>
            <a:r>
              <a:rPr sz="3950" spc="-114" dirty="0">
                <a:latin typeface="Lucida Sans Unicode"/>
                <a:cs typeface="Lucida Sans Unicode"/>
              </a:rPr>
              <a:t>уме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100" dirty="0">
                <a:latin typeface="Lucida Sans Unicode"/>
                <a:cs typeface="Lucida Sans Unicode"/>
              </a:rPr>
              <a:t>то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14" dirty="0">
                <a:latin typeface="Lucida Sans Unicode"/>
                <a:cs typeface="Lucida Sans Unicode"/>
              </a:rPr>
              <a:t>и  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140" dirty="0">
                <a:latin typeface="Lucida Sans Unicode"/>
                <a:cs typeface="Lucida Sans Unicode"/>
              </a:rPr>
              <a:t>м</a:t>
            </a:r>
            <a:r>
              <a:rPr sz="3950" spc="-105" dirty="0">
                <a:latin typeface="Lucida Sans Unicode"/>
                <a:cs typeface="Lucida Sans Unicode"/>
              </a:rPr>
              <a:t>е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05" dirty="0">
                <a:latin typeface="Lucida Sans Unicode"/>
                <a:cs typeface="Lucida Sans Unicode"/>
              </a:rPr>
              <a:t>си</a:t>
            </a:r>
            <a:r>
              <a:rPr sz="3950" dirty="0">
                <a:latin typeface="Lucida Sans Unicode"/>
                <a:cs typeface="Lucida Sans Unicode"/>
              </a:rPr>
              <a:t>с</a:t>
            </a:r>
            <a:r>
              <a:rPr sz="3950" spc="-5" dirty="0">
                <a:latin typeface="Lucida Sans Unicode"/>
                <a:cs typeface="Lucida Sans Unicode"/>
              </a:rPr>
              <a:t>к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15" dirty="0">
                <a:latin typeface="Lucida Sans Unicode"/>
                <a:cs typeface="Lucida Sans Unicode"/>
              </a:rPr>
              <a:t>тл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60" dirty="0">
                <a:latin typeface="Lucida Sans Unicode"/>
                <a:cs typeface="Lucida Sans Unicode"/>
              </a:rPr>
              <a:t>ч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145" dirty="0">
                <a:latin typeface="Lucida Sans Unicode"/>
                <a:cs typeface="Lucida Sans Unicode"/>
              </a:rPr>
              <a:t>ю</a:t>
            </a:r>
            <a:r>
              <a:rPr sz="3950" spc="45" dirty="0">
                <a:latin typeface="Lucida Sans Unicode"/>
                <a:cs typeface="Lucida Sans Unicode"/>
              </a:rPr>
              <a:t>тся  </a:t>
            </a:r>
            <a:r>
              <a:rPr sz="3950" spc="-120" dirty="0">
                <a:latin typeface="Lucida Sans Unicode"/>
                <a:cs typeface="Lucida Sans Unicode"/>
              </a:rPr>
              <a:t>да</a:t>
            </a:r>
            <a:r>
              <a:rPr sz="3950" spc="210" dirty="0">
                <a:latin typeface="Lucida Sans Unicode"/>
                <a:cs typeface="Lucida Sans Unicode"/>
              </a:rPr>
              <a:t>ж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40" dirty="0">
                <a:latin typeface="Lucida Sans Unicode"/>
                <a:cs typeface="Lucida Sans Unicode"/>
              </a:rPr>
              <a:t>м</a:t>
            </a:r>
            <a:r>
              <a:rPr sz="3950" spc="-105" dirty="0">
                <a:latin typeface="Lucida Sans Unicode"/>
                <a:cs typeface="Lucida Sans Unicode"/>
              </a:rPr>
              <a:t>е</a:t>
            </a:r>
            <a:r>
              <a:rPr sz="3950" spc="210" dirty="0">
                <a:latin typeface="Lucida Sans Unicode"/>
                <a:cs typeface="Lucida Sans Unicode"/>
              </a:rPr>
              <a:t>ж</a:t>
            </a:r>
            <a:r>
              <a:rPr sz="3950" spc="-180" dirty="0">
                <a:latin typeface="Lucida Sans Unicode"/>
                <a:cs typeface="Lucida Sans Unicode"/>
              </a:rPr>
              <a:t>ду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150" dirty="0">
                <a:latin typeface="Microsoft Sans Serif"/>
                <a:cs typeface="Microsoft Sans Serif"/>
              </a:rPr>
              <a:t>x</a:t>
            </a:r>
            <a:r>
              <a:rPr sz="3950" spc="105" dirty="0">
                <a:latin typeface="Microsoft Sans Serif"/>
                <a:cs typeface="Microsoft Sans Serif"/>
              </a:rPr>
              <a:t>8</a:t>
            </a:r>
            <a:r>
              <a:rPr sz="3950" spc="250" dirty="0">
                <a:latin typeface="Microsoft Sans Serif"/>
                <a:cs typeface="Microsoft Sans Serif"/>
              </a:rPr>
              <a:t>6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150" dirty="0">
                <a:latin typeface="Microsoft Sans Serif"/>
                <a:cs typeface="Microsoft Sans Serif"/>
              </a:rPr>
              <a:t>x</a:t>
            </a:r>
            <a:r>
              <a:rPr sz="3950" spc="105" dirty="0">
                <a:latin typeface="Microsoft Sans Serif"/>
                <a:cs typeface="Microsoft Sans Serif"/>
              </a:rPr>
              <a:t>8</a:t>
            </a:r>
            <a:r>
              <a:rPr sz="3950" spc="-40" dirty="0">
                <a:latin typeface="Microsoft Sans Serif"/>
                <a:cs typeface="Microsoft Sans Serif"/>
              </a:rPr>
              <a:t>6_</a:t>
            </a:r>
            <a:r>
              <a:rPr sz="3950" spc="-80" dirty="0">
                <a:latin typeface="Microsoft Sans Serif"/>
                <a:cs typeface="Microsoft Sans Serif"/>
              </a:rPr>
              <a:t>6</a:t>
            </a:r>
            <a:r>
              <a:rPr sz="3950" spc="135" dirty="0">
                <a:latin typeface="Microsoft Sans Serif"/>
                <a:cs typeface="Microsoft Sans Serif"/>
              </a:rPr>
              <a:t>4!</a:t>
            </a:r>
            <a:endParaRPr sz="39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5300" dirty="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9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Табли</a:t>
            </a:r>
            <a:r>
              <a:rPr sz="3950" spc="-38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ц</a:t>
            </a:r>
            <a:r>
              <a:rPr sz="3950" spc="1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а</a:t>
            </a:r>
            <a:r>
              <a:rPr sz="3950" spc="-204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3950" spc="-4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с</a:t>
            </a:r>
            <a:r>
              <a:rPr sz="3950" spc="-204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3950" spc="1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а</a:t>
            </a:r>
            <a:r>
              <a:rPr sz="3950" spc="-29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р</a:t>
            </a:r>
            <a:r>
              <a:rPr sz="3950" spc="-36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г</a:t>
            </a:r>
            <a:r>
              <a:rPr sz="3950" spc="-114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уме</a:t>
            </a:r>
            <a:r>
              <a:rPr sz="3950" spc="-27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н</a:t>
            </a:r>
            <a:r>
              <a:rPr sz="3950" spc="2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та</a:t>
            </a:r>
            <a:r>
              <a:rPr sz="3950" spc="-24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м</a:t>
            </a:r>
            <a:r>
              <a:rPr sz="3950" spc="-17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и</a:t>
            </a:r>
            <a:r>
              <a:rPr sz="3950" spc="-204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3950" spc="-10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си</a:t>
            </a:r>
            <a:r>
              <a:rPr sz="395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с</a:t>
            </a:r>
            <a:r>
              <a:rPr sz="3950" spc="-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к</a:t>
            </a:r>
            <a:r>
              <a:rPr sz="3950" spc="-229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о</a:t>
            </a:r>
            <a:r>
              <a:rPr sz="3950" spc="-5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л</a:t>
            </a:r>
            <a:r>
              <a:rPr sz="3950" spc="-229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о</a:t>
            </a:r>
            <a:r>
              <a:rPr sz="3950" spc="9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в</a:t>
            </a:r>
            <a:endParaRPr sz="3950" dirty="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139" y="3206432"/>
            <a:ext cx="8905852" cy="23551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59590" y="3255490"/>
            <a:ext cx="8847898" cy="246065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80177" y="6194227"/>
            <a:ext cx="9086212" cy="35227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40581" y="832090"/>
            <a:ext cx="661035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0" dirty="0"/>
              <a:t>inlin</a:t>
            </a:r>
            <a:r>
              <a:rPr spc="80" dirty="0"/>
              <a:t>e</a:t>
            </a:r>
            <a:r>
              <a:rPr spc="-800" dirty="0"/>
              <a:t> </a:t>
            </a:r>
            <a:r>
              <a:rPr spc="-360" dirty="0"/>
              <a:t>a</a:t>
            </a:r>
            <a:r>
              <a:rPr spc="-345" dirty="0"/>
              <a:t>s</a:t>
            </a:r>
            <a:r>
              <a:rPr spc="-560" dirty="0"/>
              <a:t>ss</a:t>
            </a:r>
            <a:r>
              <a:rPr spc="-55" dirty="0"/>
              <a:t>embly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9766306"/>
            <a:ext cx="3505200" cy="610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59105" indent="-447040">
              <a:lnSpc>
                <a:spcPct val="100000"/>
              </a:lnSpc>
              <a:spcBef>
                <a:spcPts val="135"/>
              </a:spcBef>
              <a:buChar char="•"/>
              <a:tabLst>
                <a:tab pos="459105" algn="l"/>
                <a:tab pos="459740" algn="l"/>
              </a:tabLst>
            </a:pPr>
            <a:r>
              <a:rPr sz="3800" spc="-25" dirty="0">
                <a:latin typeface="Lucida Sans Unicode"/>
                <a:cs typeface="Lucida Sans Unicode"/>
              </a:rPr>
              <a:t>Почитать</a:t>
            </a:r>
            <a:r>
              <a:rPr sz="3800" spc="-254" dirty="0">
                <a:latin typeface="Lucida Sans Unicode"/>
                <a:cs typeface="Lucida Sans Unicode"/>
              </a:rPr>
              <a:t> </a:t>
            </a:r>
            <a:r>
              <a:rPr sz="38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тут</a:t>
            </a:r>
            <a:endParaRPr sz="3800" dirty="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4367" y="3404759"/>
            <a:ext cx="16975368" cy="44990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F5F69-0756-4A6D-BB41-D45AB8A08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23B25-DB2F-403C-BDB5-81960FC8B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8672" y="2607687"/>
            <a:ext cx="9890178" cy="6647974"/>
          </a:xfrm>
        </p:spPr>
        <p:txBody>
          <a:bodyPr/>
          <a:lstStyle/>
          <a:p>
            <a:r>
              <a:rPr lang="en-US" sz="3600" dirty="0"/>
              <a:t>.macro CONDITIONAL_ADD, </a:t>
            </a:r>
            <a:r>
              <a:rPr lang="en-US" sz="3600" dirty="0" err="1"/>
              <a:t>cond</a:t>
            </a:r>
            <a:r>
              <a:rPr lang="en-US" sz="3600" dirty="0"/>
              <a:t>, </a:t>
            </a:r>
            <a:r>
              <a:rPr lang="en-US" sz="3600" dirty="0" err="1"/>
              <a:t>dest</a:t>
            </a:r>
            <a:r>
              <a:rPr lang="en-US" sz="3600" dirty="0"/>
              <a:t>, src1, src2</a:t>
            </a:r>
          </a:p>
          <a:p>
            <a:r>
              <a:rPr lang="en-US" sz="3600" dirty="0"/>
              <a:t>    .if \</a:t>
            </a:r>
            <a:r>
              <a:rPr lang="en-US" sz="3600" dirty="0" err="1"/>
              <a:t>cond</a:t>
            </a:r>
            <a:r>
              <a:rPr lang="en-US" sz="3600" dirty="0"/>
              <a:t> == 1</a:t>
            </a:r>
          </a:p>
          <a:p>
            <a:r>
              <a:rPr lang="en-US" sz="3600" dirty="0"/>
              <a:t>        ADD \</a:t>
            </a:r>
            <a:r>
              <a:rPr lang="en-US" sz="3600" dirty="0" err="1"/>
              <a:t>dest</a:t>
            </a:r>
            <a:r>
              <a:rPr lang="en-US" sz="3600" dirty="0"/>
              <a:t>, \src1, \src2</a:t>
            </a:r>
          </a:p>
          <a:p>
            <a:r>
              <a:rPr lang="en-US" sz="3600" dirty="0"/>
              <a:t>    .else</a:t>
            </a:r>
          </a:p>
          <a:p>
            <a:r>
              <a:rPr lang="en-US" sz="3600" dirty="0"/>
              <a:t>        SUB \</a:t>
            </a:r>
            <a:r>
              <a:rPr lang="en-US" sz="3600" dirty="0" err="1"/>
              <a:t>dest</a:t>
            </a:r>
            <a:r>
              <a:rPr lang="en-US" sz="3600" dirty="0"/>
              <a:t>, \src1, \src2</a:t>
            </a:r>
          </a:p>
          <a:p>
            <a:r>
              <a:rPr lang="en-US" sz="3600" dirty="0"/>
              <a:t>    .endif</a:t>
            </a:r>
          </a:p>
          <a:p>
            <a:r>
              <a:rPr lang="en-US" sz="3600" dirty="0"/>
              <a:t>.</a:t>
            </a:r>
            <a:r>
              <a:rPr lang="en-US" sz="3600" dirty="0" err="1"/>
              <a:t>endm</a:t>
            </a:r>
            <a:endParaRPr lang="en-US" sz="3600" dirty="0"/>
          </a:p>
          <a:p>
            <a:endParaRPr lang="ru-RU" sz="3600" dirty="0"/>
          </a:p>
          <a:p>
            <a:endParaRPr lang="en-US" sz="3600" dirty="0"/>
          </a:p>
          <a:p>
            <a:r>
              <a:rPr lang="en-US" sz="3600" dirty="0"/>
              <a:t>.macro </a:t>
            </a:r>
            <a:r>
              <a:rPr lang="en-US" sz="3600" dirty="0" err="1"/>
              <a:t>add_regs</a:t>
            </a:r>
            <a:r>
              <a:rPr lang="en-US" sz="3600" dirty="0"/>
              <a:t> </a:t>
            </a:r>
            <a:r>
              <a:rPr lang="en-US" sz="3600" dirty="0" err="1"/>
              <a:t>dest</a:t>
            </a:r>
            <a:r>
              <a:rPr lang="en-US" sz="3600" dirty="0"/>
              <a:t>, src1, src2=0</a:t>
            </a:r>
          </a:p>
          <a:p>
            <a:r>
              <a:rPr lang="en-US" sz="3600" dirty="0"/>
              <a:t>    add \</a:t>
            </a:r>
            <a:r>
              <a:rPr lang="en-US" sz="3600" dirty="0" err="1"/>
              <a:t>dest</a:t>
            </a:r>
            <a:r>
              <a:rPr lang="en-US" sz="3600" dirty="0"/>
              <a:t>, \src1, \src2</a:t>
            </a:r>
          </a:p>
          <a:p>
            <a:r>
              <a:rPr lang="en-US" sz="3600" dirty="0"/>
              <a:t>.</a:t>
            </a:r>
            <a:r>
              <a:rPr lang="en-US" sz="3600" dirty="0" err="1"/>
              <a:t>endm</a:t>
            </a:r>
            <a:endParaRPr lang="ru-RU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14E183-5E42-4670-8623-512A0558C841}"/>
              </a:ext>
            </a:extLst>
          </p:cNvPr>
          <p:cNvSpPr txBox="1"/>
          <p:nvPr/>
        </p:nvSpPr>
        <p:spPr>
          <a:xfrm flipH="1">
            <a:off x="14928850" y="9464675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hlinkClick r:id="rId2"/>
              </a:rPr>
              <a:t>Базовые макросы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12149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9378</TotalTime>
  <Words>971</Words>
  <Application>Microsoft Office PowerPoint</Application>
  <PresentationFormat>Custom</PresentationFormat>
  <Paragraphs>121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Lucida Sans Unicode</vt:lpstr>
      <vt:lpstr>Microsoft Sans Serif</vt:lpstr>
      <vt:lpstr>Roboto Lt</vt:lpstr>
      <vt:lpstr>Office Theme</vt:lpstr>
      <vt:lpstr>Ассемблер и память. Продолжение ARM</vt:lpstr>
      <vt:lpstr>ARM</vt:lpstr>
      <vt:lpstr>Кросс-компиляция</vt:lpstr>
      <vt:lpstr>Все сразу</vt:lpstr>
      <vt:lpstr>А если мак?</vt:lpstr>
      <vt:lpstr>Отладка</vt:lpstr>
      <vt:lpstr>Арифметические операции</vt:lpstr>
      <vt:lpstr>Calling Convention</vt:lpstr>
      <vt:lpstr>Переходы</vt:lpstr>
      <vt:lpstr>Условия</vt:lpstr>
      <vt:lpstr>Работа с памятью</vt:lpstr>
      <vt:lpstr>Сохранение на стек</vt:lpstr>
      <vt:lpstr>syscalls</vt:lpstr>
      <vt:lpstr>inline asssembly</vt:lpstr>
      <vt:lpstr>macro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caos_5</dc:title>
  <dc:creator>Konstantin Dragun</dc:creator>
  <cp:lastModifiedBy>Konstantin Dragun</cp:lastModifiedBy>
  <cp:revision>26</cp:revision>
  <dcterms:created xsi:type="dcterms:W3CDTF">2024-10-10T19:09:31Z</dcterms:created>
  <dcterms:modified xsi:type="dcterms:W3CDTF">2025-10-09T15:38:08Z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2023-10-23T00:00:00Z</vt:filetime>
  </property>
  <property fmtid="{D5CDD505-2E9C-101B-9397-08002B2CF9AE}" pid="3" name="Creator">
    <vt:lpwstr>Keynote</vt:lpwstr>
  </property>
  <property fmtid="{D5CDD505-2E9C-101B-9397-08002B2CF9AE}" pid="4" name="LastSaved">
    <vt:filetime>2024-10-10T00:00:00Z</vt:filetime>
  </property>
</Properties>
</file>