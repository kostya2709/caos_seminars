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305" r:id="rId15"/>
    <p:sldId id="268" r:id="rId16"/>
    <p:sldId id="269" r:id="rId17"/>
    <p:sldId id="272" r:id="rId18"/>
    <p:sldId id="270" r:id="rId19"/>
    <p:sldId id="273" r:id="rId20"/>
    <p:sldId id="277" r:id="rId21"/>
    <p:sldId id="278" r:id="rId22"/>
    <p:sldId id="274" r:id="rId23"/>
    <p:sldId id="279" r:id="rId24"/>
    <p:sldId id="280" r:id="rId25"/>
    <p:sldId id="281" r:id="rId26"/>
    <p:sldId id="304" r:id="rId27"/>
    <p:sldId id="282" r:id="rId28"/>
    <p:sldId id="285" r:id="rId29"/>
    <p:sldId id="286" r:id="rId30"/>
    <p:sldId id="294" r:id="rId31"/>
    <p:sldId id="296" r:id="rId32"/>
    <p:sldId id="297" r:id="rId33"/>
    <p:sldId id="295" r:id="rId34"/>
    <p:sldId id="298" r:id="rId35"/>
    <p:sldId id="299" r:id="rId36"/>
    <p:sldId id="300" r:id="rId37"/>
    <p:sldId id="301" r:id="rId38"/>
    <p:sldId id="302" r:id="rId39"/>
    <p:sldId id="303" r:id="rId40"/>
    <p:sldId id="275" r:id="rId41"/>
    <p:sldId id="276" r:id="rId42"/>
    <p:sldId id="283" r:id="rId43"/>
    <p:sldId id="287" r:id="rId44"/>
    <p:sldId id="292" r:id="rId45"/>
    <p:sldId id="293" r:id="rId46"/>
    <p:sldId id="288" r:id="rId47"/>
    <p:sldId id="289" r:id="rId48"/>
    <p:sldId id="290" r:id="rId49"/>
    <p:sldId id="291" r:id="rId50"/>
    <p:sldId id="284" r:id="rId51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>
      <p:cViewPr>
        <p:scale>
          <a:sx n="40" d="100"/>
          <a:sy n="40" d="100"/>
        </p:scale>
        <p:origin x="62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33655" y="821620"/>
            <a:ext cx="7036789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6272" y="3281021"/>
            <a:ext cx="17951555" cy="648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sm.sourceforge.net/articles/linasm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metanit.com/assembler/tutorial/2.6.ph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en.wikipedia.org/wiki/FLAGS_register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odbolt.org/z/EK8n1x4Er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uclibc.org/docs/psABI-x86_64.pdf" TargetMode="External"/><Relationship Id="rId2" Type="http://schemas.openxmlformats.org/officeDocument/2006/relationships/hyperlink" Target="https://en.wikipedia.org/wiki/X86_calling_convention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source.apple.com/source/gdb/gdb-213/doc/gdb.html/gdb_9.html" TargetMode="External"/><Relationship Id="rId2" Type="http://schemas.openxmlformats.org/officeDocument/2006/relationships/hyperlink" Target="https://gist.github.com/chrislongo/3351197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aruence.com/sse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princeton.edu/courses/archive/spr18/cos217/reading/x86-64-2.pdf" TargetMode="External"/><Relationship Id="rId2" Type="http://schemas.openxmlformats.org/officeDocument/2006/relationships/hyperlink" Target="https://pdos.csail.mit.edu/6.828/2007/readings/ia32/IA32-1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s.lmu.edu/~ray/notes/nasmtutorial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cc.gnu.org/onlinedocs/gcc/Optimize-Options.html" TargetMode="External"/><Relationship Id="rId2" Type="http://schemas.openxmlformats.org/officeDocument/2006/relationships/hyperlink" Target="https://en.cppreference.com/w/cpp/language/attributes/likely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blog.man7.org/2012/10/how-much-do-builtinexpect-likely-and.html" TargetMode="External"/><Relationship Id="rId4" Type="http://schemas.openxmlformats.org/officeDocument/2006/relationships/hyperlink" Target="https://habr.com/ru/companies/stc_spb/articles/752974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chip.org/wiki/intel/microarchitectures/skylake_(server)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7810" y="4769143"/>
            <a:ext cx="9669145" cy="1914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АКО</a:t>
            </a:r>
            <a:r>
              <a:rPr spc="215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pc="-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705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z="5250" spc="10" dirty="0">
                <a:latin typeface="Arial" panose="020B0604020202020204" pitchFamily="34" charset="0"/>
                <a:cs typeface="Arial" panose="020B0604020202020204" pitchFamily="34" charset="0"/>
              </a:rPr>
              <a:t>Ассемблер</a:t>
            </a:r>
            <a:r>
              <a:rPr sz="5250" spc="-2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250" spc="-5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5250" spc="-2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250" spc="10" dirty="0">
                <a:latin typeface="Arial" panose="020B0604020202020204" pitchFamily="34" charset="0"/>
                <a:cs typeface="Arial" panose="020B0604020202020204" pitchFamily="34" charset="0"/>
              </a:rPr>
              <a:t>память</a:t>
            </a:r>
            <a:r>
              <a:rPr sz="5250" b="0" spc="1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5250" b="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5250" spc="10" dirty="0">
                <a:latin typeface="Arial" panose="020B0604020202020204" pitchFamily="34" charset="0"/>
                <a:cs typeface="Arial" panose="020B0604020202020204" pitchFamily="34" charset="0"/>
              </a:rPr>
              <a:t>Начало</a:t>
            </a:r>
            <a:endParaRPr sz="5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6086" y="821620"/>
            <a:ext cx="1221994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90" dirty="0"/>
              <a:t>Стади</a:t>
            </a:r>
            <a:r>
              <a:rPr spc="20" dirty="0"/>
              <a:t>и</a:t>
            </a:r>
            <a:r>
              <a:rPr spc="-800" dirty="0"/>
              <a:t> </a:t>
            </a:r>
            <a:r>
              <a:rPr spc="-195" dirty="0"/>
              <a:t>изучени</a:t>
            </a:r>
            <a:r>
              <a:rPr spc="15" dirty="0"/>
              <a:t>я</a:t>
            </a:r>
            <a:r>
              <a:rPr spc="-795" dirty="0"/>
              <a:t> </a:t>
            </a:r>
            <a:r>
              <a:rPr spc="-200" dirty="0"/>
              <a:t>ассемблера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0916" y="3690828"/>
            <a:ext cx="4166235" cy="3207385"/>
          </a:xfrm>
          <a:prstGeom prst="rect">
            <a:avLst/>
          </a:prstGeom>
        </p:spPr>
        <p:txBody>
          <a:bodyPr vert="horz" wrap="square" lIns="0" tIns="341630" rIns="0" bIns="0" rtlCol="0">
            <a:spAutoFit/>
          </a:bodyPr>
          <a:lstStyle/>
          <a:p>
            <a:pPr marL="901065" indent="-889000">
              <a:lnSpc>
                <a:spcPct val="100000"/>
              </a:lnSpc>
              <a:spcBef>
                <a:spcPts val="2690"/>
              </a:spcBef>
              <a:buFont typeface="Microsoft Sans Serif"/>
              <a:buAutoNum type="arabicPeriod"/>
              <a:tabLst>
                <a:tab pos="901065" algn="l"/>
                <a:tab pos="901700" algn="l"/>
              </a:tabLst>
            </a:pPr>
            <a:r>
              <a:rPr sz="4800" spc="-195" dirty="0">
                <a:latin typeface="Lucida Sans Unicode"/>
                <a:cs typeface="Lucida Sans Unicode"/>
              </a:rPr>
              <a:t>Понимание</a:t>
            </a:r>
            <a:endParaRPr sz="4800">
              <a:latin typeface="Lucida Sans Unicode"/>
              <a:cs typeface="Lucida Sans Unicode"/>
            </a:endParaRPr>
          </a:p>
          <a:p>
            <a:pPr marL="901065" indent="-889000">
              <a:lnSpc>
                <a:spcPct val="100000"/>
              </a:lnSpc>
              <a:spcBef>
                <a:spcPts val="2590"/>
              </a:spcBef>
              <a:buAutoNum type="arabicPeriod"/>
              <a:tabLst>
                <a:tab pos="901065" algn="l"/>
                <a:tab pos="901700" algn="l"/>
              </a:tabLst>
            </a:pPr>
            <a:r>
              <a:rPr sz="4800" spc="55" dirty="0">
                <a:latin typeface="Microsoft Sans Serif"/>
                <a:cs typeface="Microsoft Sans Serif"/>
              </a:rPr>
              <a:t>Read-only</a:t>
            </a:r>
            <a:endParaRPr sz="4800">
              <a:latin typeface="Microsoft Sans Serif"/>
              <a:cs typeface="Microsoft Sans Serif"/>
            </a:endParaRPr>
          </a:p>
          <a:p>
            <a:pPr marL="901065" indent="-889000">
              <a:lnSpc>
                <a:spcPct val="100000"/>
              </a:lnSpc>
              <a:spcBef>
                <a:spcPts val="2590"/>
              </a:spcBef>
              <a:buAutoNum type="arabicPeriod"/>
              <a:tabLst>
                <a:tab pos="901065" algn="l"/>
                <a:tab pos="901700" algn="l"/>
              </a:tabLst>
            </a:pPr>
            <a:r>
              <a:rPr sz="4800" spc="80" dirty="0">
                <a:latin typeface="Microsoft Sans Serif"/>
                <a:cs typeface="Microsoft Sans Serif"/>
              </a:rPr>
              <a:t>Read-write</a:t>
            </a:r>
            <a:endParaRPr sz="4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51680" y="3737983"/>
            <a:ext cx="4234180" cy="3795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8369" indent="-916305">
              <a:lnSpc>
                <a:spcPts val="5940"/>
              </a:lnSpc>
              <a:spcBef>
                <a:spcPts val="95"/>
              </a:spcBef>
              <a:buFont typeface="Microsoft Sans Serif"/>
              <a:buAutoNum type="arabicPeriod"/>
              <a:tabLst>
                <a:tab pos="928369" algn="l"/>
                <a:tab pos="929005" algn="l"/>
              </a:tabLst>
            </a:pPr>
            <a:r>
              <a:rPr sz="4950" spc="-180" dirty="0">
                <a:solidFill>
                  <a:srgbClr val="929292"/>
                </a:solidFill>
                <a:latin typeface="Lucida Sans Unicode"/>
                <a:cs typeface="Lucida Sans Unicode"/>
              </a:rPr>
              <a:t>Отрицание</a:t>
            </a:r>
            <a:endParaRPr sz="4950">
              <a:latin typeface="Lucida Sans Unicode"/>
              <a:cs typeface="Lucida Sans Unicode"/>
            </a:endParaRPr>
          </a:p>
          <a:p>
            <a:pPr marL="928369" indent="-916305">
              <a:lnSpc>
                <a:spcPts val="5935"/>
              </a:lnSpc>
              <a:buFont typeface="Microsoft Sans Serif"/>
              <a:buAutoNum type="arabicPeriod"/>
              <a:tabLst>
                <a:tab pos="928369" algn="l"/>
                <a:tab pos="929005" algn="l"/>
              </a:tabLst>
            </a:pPr>
            <a:r>
              <a:rPr sz="4950" spc="-55" dirty="0">
                <a:solidFill>
                  <a:srgbClr val="929292"/>
                </a:solidFill>
                <a:latin typeface="Lucida Sans Unicode"/>
                <a:cs typeface="Lucida Sans Unicode"/>
              </a:rPr>
              <a:t>Гнев</a:t>
            </a:r>
            <a:endParaRPr sz="4950">
              <a:latin typeface="Lucida Sans Unicode"/>
              <a:cs typeface="Lucida Sans Unicode"/>
            </a:endParaRPr>
          </a:p>
          <a:p>
            <a:pPr marL="928369" indent="-916305">
              <a:lnSpc>
                <a:spcPts val="5935"/>
              </a:lnSpc>
              <a:buFont typeface="Microsoft Sans Serif"/>
              <a:buAutoNum type="arabicPeriod"/>
              <a:tabLst>
                <a:tab pos="928369" algn="l"/>
                <a:tab pos="929005" algn="l"/>
              </a:tabLst>
            </a:pPr>
            <a:r>
              <a:rPr sz="4950" spc="-310" dirty="0">
                <a:solidFill>
                  <a:srgbClr val="929292"/>
                </a:solidFill>
                <a:latin typeface="Lucida Sans Unicode"/>
                <a:cs typeface="Lucida Sans Unicode"/>
              </a:rPr>
              <a:t>Торг</a:t>
            </a:r>
            <a:endParaRPr sz="4950">
              <a:latin typeface="Lucida Sans Unicode"/>
              <a:cs typeface="Lucida Sans Unicode"/>
            </a:endParaRPr>
          </a:p>
          <a:p>
            <a:pPr marL="928369" indent="-916305">
              <a:lnSpc>
                <a:spcPts val="5935"/>
              </a:lnSpc>
              <a:buFont typeface="Microsoft Sans Serif"/>
              <a:buAutoNum type="arabicPeriod"/>
              <a:tabLst>
                <a:tab pos="928369" algn="l"/>
                <a:tab pos="929005" algn="l"/>
              </a:tabLst>
            </a:pPr>
            <a:r>
              <a:rPr sz="4950" spc="-130" dirty="0">
                <a:solidFill>
                  <a:srgbClr val="929292"/>
                </a:solidFill>
                <a:latin typeface="Lucida Sans Unicode"/>
                <a:cs typeface="Lucida Sans Unicode"/>
              </a:rPr>
              <a:t>Депрессия</a:t>
            </a:r>
            <a:endParaRPr sz="4950">
              <a:latin typeface="Lucida Sans Unicode"/>
              <a:cs typeface="Lucida Sans Unicode"/>
            </a:endParaRPr>
          </a:p>
          <a:p>
            <a:pPr marL="928369" indent="-916305">
              <a:lnSpc>
                <a:spcPts val="5940"/>
              </a:lnSpc>
              <a:buFont typeface="Microsoft Sans Serif"/>
              <a:buAutoNum type="arabicPeriod"/>
              <a:tabLst>
                <a:tab pos="928369" algn="l"/>
                <a:tab pos="929005" algn="l"/>
              </a:tabLst>
            </a:pPr>
            <a:r>
              <a:rPr sz="4950" spc="-120" dirty="0">
                <a:solidFill>
                  <a:srgbClr val="929292"/>
                </a:solidFill>
                <a:latin typeface="Lucida Sans Unicode"/>
                <a:cs typeface="Lucida Sans Unicode"/>
              </a:rPr>
              <a:t>Принятие</a:t>
            </a:r>
            <a:endParaRPr sz="4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7731" y="821620"/>
            <a:ext cx="1271587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5" dirty="0"/>
              <a:t>Организаци</a:t>
            </a:r>
            <a:r>
              <a:rPr spc="45" dirty="0"/>
              <a:t>я</a:t>
            </a:r>
            <a:r>
              <a:rPr spc="-795" dirty="0"/>
              <a:t> </a:t>
            </a:r>
            <a:r>
              <a:rPr spc="-170" dirty="0"/>
              <a:t>памят</a:t>
            </a:r>
            <a:r>
              <a:rPr spc="40" dirty="0"/>
              <a:t>и</a:t>
            </a:r>
            <a:r>
              <a:rPr spc="-795" dirty="0"/>
              <a:t> </a:t>
            </a:r>
            <a:r>
              <a:rPr spc="-195" dirty="0"/>
              <a:t>процесса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9981" y="2319313"/>
            <a:ext cx="10734286" cy="88578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42606" y="821620"/>
            <a:ext cx="840613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40" dirty="0"/>
              <a:t>Ка</a:t>
            </a:r>
            <a:r>
              <a:rPr spc="470" dirty="0"/>
              <a:t>к</a:t>
            </a:r>
            <a:r>
              <a:rPr spc="-800" dirty="0"/>
              <a:t> </a:t>
            </a:r>
            <a:r>
              <a:rPr spc="-215" dirty="0"/>
              <a:t>посмотрет</a:t>
            </a:r>
            <a:r>
              <a:rPr spc="-5" dirty="0"/>
              <a:t>ь</a:t>
            </a:r>
            <a:r>
              <a:rPr spc="-795" dirty="0"/>
              <a:t> </a:t>
            </a:r>
            <a:r>
              <a:rPr spc="70" dirty="0"/>
              <a:t>код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99336"/>
            <a:ext cx="102774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10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229" dirty="0" err="1">
                <a:latin typeface="Microsoft Sans Serif"/>
                <a:cs typeface="Microsoft Sans Serif"/>
              </a:rPr>
              <a:t>objdump</a:t>
            </a:r>
            <a:r>
              <a:rPr sz="3950" spc="-10" dirty="0">
                <a:latin typeface="Microsoft Sans Serif"/>
                <a:cs typeface="Microsoft Sans Serif"/>
              </a:rPr>
              <a:t> </a:t>
            </a:r>
            <a:r>
              <a:rPr sz="3950" spc="50" dirty="0">
                <a:latin typeface="Microsoft Sans Serif"/>
                <a:cs typeface="Microsoft Sans Serif"/>
              </a:rPr>
              <a:t>-M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145" dirty="0">
                <a:latin typeface="Microsoft Sans Serif"/>
                <a:cs typeface="Microsoft Sans Serif"/>
              </a:rPr>
              <a:t>intel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165" dirty="0">
                <a:latin typeface="Microsoft Sans Serif"/>
                <a:cs typeface="Microsoft Sans Serif"/>
              </a:rPr>
              <a:t>intel-mnemonic</a:t>
            </a:r>
            <a:r>
              <a:rPr sz="3950" spc="-10" dirty="0">
                <a:latin typeface="Microsoft Sans Serif"/>
                <a:cs typeface="Microsoft Sans Serif"/>
              </a:rPr>
              <a:t> </a:t>
            </a:r>
            <a:r>
              <a:rPr lang="en-US" sz="3950" spc="-10" dirty="0">
                <a:latin typeface="Microsoft Sans Serif"/>
                <a:cs typeface="Microsoft Sans Serif"/>
              </a:rPr>
              <a:t>–d </a:t>
            </a:r>
            <a:r>
              <a:rPr sz="3950" spc="100" dirty="0" err="1">
                <a:latin typeface="Microsoft Sans Serif"/>
                <a:cs typeface="Microsoft Sans Serif"/>
              </a:rPr>
              <a:t>a.out</a:t>
            </a:r>
            <a:endParaRPr sz="395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9231" y="4875491"/>
            <a:ext cx="16749018" cy="49354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6496" y="821620"/>
            <a:ext cx="941832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45" dirty="0"/>
              <a:t>Основны</a:t>
            </a:r>
            <a:r>
              <a:rPr spc="-30" dirty="0"/>
              <a:t>е</a:t>
            </a:r>
            <a:r>
              <a:rPr spc="-795" dirty="0"/>
              <a:t> </a:t>
            </a:r>
            <a:r>
              <a:rPr spc="-120" dirty="0"/>
              <a:t>инструкции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2645" y="3275343"/>
            <a:ext cx="4745355" cy="15125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730"/>
              </a:spcBef>
            </a:pPr>
            <a:r>
              <a:rPr sz="4350" spc="-65" dirty="0">
                <a:latin typeface="Lucida Sans Unicode"/>
                <a:cs typeface="Lucida Sans Unicode"/>
              </a:rPr>
              <a:t>Арифметические</a:t>
            </a:r>
            <a:endParaRPr sz="435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4350" spc="150" dirty="0">
                <a:latin typeface="Microsoft Sans Serif"/>
                <a:cs typeface="Microsoft Sans Serif"/>
              </a:rPr>
              <a:t>add,</a:t>
            </a:r>
            <a:r>
              <a:rPr sz="4350" spc="-20" dirty="0">
                <a:latin typeface="Microsoft Sans Serif"/>
                <a:cs typeface="Microsoft Sans Serif"/>
              </a:rPr>
              <a:t> </a:t>
            </a:r>
            <a:r>
              <a:rPr sz="4350" spc="85" dirty="0">
                <a:latin typeface="Microsoft Sans Serif"/>
                <a:cs typeface="Microsoft Sans Serif"/>
              </a:rPr>
              <a:t>sub,</a:t>
            </a:r>
            <a:r>
              <a:rPr sz="4350" spc="-15" dirty="0">
                <a:latin typeface="Microsoft Sans Serif"/>
                <a:cs typeface="Microsoft Sans Serif"/>
              </a:rPr>
              <a:t> </a:t>
            </a:r>
            <a:r>
              <a:rPr sz="4350" spc="165" dirty="0">
                <a:latin typeface="Microsoft Sans Serif"/>
                <a:cs typeface="Microsoft Sans Serif"/>
              </a:rPr>
              <a:t>mul,</a:t>
            </a:r>
            <a:r>
              <a:rPr sz="4350" spc="-15" dirty="0">
                <a:latin typeface="Microsoft Sans Serif"/>
                <a:cs typeface="Microsoft Sans Serif"/>
              </a:rPr>
              <a:t> </a:t>
            </a:r>
            <a:r>
              <a:rPr sz="4350" spc="75" dirty="0">
                <a:latin typeface="Microsoft Sans Serif"/>
                <a:cs typeface="Microsoft Sans Serif"/>
              </a:rPr>
              <a:t>div,</a:t>
            </a:r>
            <a:endParaRPr sz="435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62038" y="3275343"/>
            <a:ext cx="3980179" cy="15125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4350" spc="-95" dirty="0">
                <a:latin typeface="Lucida Sans Unicode"/>
                <a:cs typeface="Lucida Sans Unicode"/>
              </a:rPr>
              <a:t>Логические</a:t>
            </a:r>
            <a:endParaRPr sz="43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4350" spc="55" dirty="0">
                <a:latin typeface="Microsoft Sans Serif"/>
                <a:cs typeface="Microsoft Sans Serif"/>
              </a:rPr>
              <a:t>or,</a:t>
            </a:r>
            <a:r>
              <a:rPr sz="4350" spc="-20" dirty="0">
                <a:latin typeface="Microsoft Sans Serif"/>
                <a:cs typeface="Microsoft Sans Serif"/>
              </a:rPr>
              <a:t> </a:t>
            </a:r>
            <a:r>
              <a:rPr sz="4350" spc="114" dirty="0">
                <a:latin typeface="Microsoft Sans Serif"/>
                <a:cs typeface="Microsoft Sans Serif"/>
              </a:rPr>
              <a:t>and,</a:t>
            </a:r>
            <a:r>
              <a:rPr sz="4350" spc="-15" dirty="0">
                <a:latin typeface="Microsoft Sans Serif"/>
                <a:cs typeface="Microsoft Sans Serif"/>
              </a:rPr>
              <a:t> </a:t>
            </a:r>
            <a:r>
              <a:rPr sz="4350" spc="45" dirty="0">
                <a:latin typeface="Microsoft Sans Serif"/>
                <a:cs typeface="Microsoft Sans Serif"/>
              </a:rPr>
              <a:t>xor,</a:t>
            </a:r>
            <a:r>
              <a:rPr sz="4350" spc="-15" dirty="0">
                <a:latin typeface="Microsoft Sans Serif"/>
                <a:cs typeface="Microsoft Sans Serif"/>
              </a:rPr>
              <a:t> </a:t>
            </a:r>
            <a:r>
              <a:rPr sz="4350" spc="140" dirty="0">
                <a:latin typeface="Microsoft Sans Serif"/>
                <a:cs typeface="Microsoft Sans Serif"/>
              </a:rPr>
              <a:t>inv</a:t>
            </a:r>
            <a:endParaRPr sz="43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361" y="6526803"/>
            <a:ext cx="6381750" cy="15125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4350" spc="-40" dirty="0">
                <a:latin typeface="Lucida Sans Unicode"/>
                <a:cs typeface="Lucida Sans Unicode"/>
              </a:rPr>
              <a:t>Прыжки</a:t>
            </a:r>
            <a:endParaRPr sz="43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4350" spc="105" dirty="0">
                <a:latin typeface="Microsoft Sans Serif"/>
                <a:cs typeface="Microsoft Sans Serif"/>
              </a:rPr>
              <a:t>call,</a:t>
            </a:r>
            <a:r>
              <a:rPr sz="4350" spc="-10" dirty="0">
                <a:latin typeface="Microsoft Sans Serif"/>
                <a:cs typeface="Microsoft Sans Serif"/>
              </a:rPr>
              <a:t> </a:t>
            </a:r>
            <a:r>
              <a:rPr sz="4350" spc="135" dirty="0">
                <a:latin typeface="Microsoft Sans Serif"/>
                <a:cs typeface="Microsoft Sans Serif"/>
              </a:rPr>
              <a:t>ret,</a:t>
            </a:r>
            <a:r>
              <a:rPr sz="4350" spc="-5" dirty="0">
                <a:latin typeface="Microsoft Sans Serif"/>
                <a:cs typeface="Microsoft Sans Serif"/>
              </a:rPr>
              <a:t> </a:t>
            </a:r>
            <a:r>
              <a:rPr sz="4350" spc="180" dirty="0">
                <a:latin typeface="Microsoft Sans Serif"/>
                <a:cs typeface="Microsoft Sans Serif"/>
              </a:rPr>
              <a:t>jmp,</a:t>
            </a:r>
            <a:r>
              <a:rPr sz="4350" spc="-5" dirty="0">
                <a:latin typeface="Microsoft Sans Serif"/>
                <a:cs typeface="Microsoft Sans Serif"/>
              </a:rPr>
              <a:t> </a:t>
            </a:r>
            <a:r>
              <a:rPr sz="4350" spc="60" dirty="0">
                <a:latin typeface="Microsoft Sans Serif"/>
                <a:cs typeface="Microsoft Sans Serif"/>
              </a:rPr>
              <a:t>je,</a:t>
            </a:r>
            <a:r>
              <a:rPr sz="4350" spc="-10" dirty="0">
                <a:latin typeface="Microsoft Sans Serif"/>
                <a:cs typeface="Microsoft Sans Serif"/>
              </a:rPr>
              <a:t> </a:t>
            </a:r>
            <a:r>
              <a:rPr sz="4350" spc="25" dirty="0">
                <a:latin typeface="Microsoft Sans Serif"/>
                <a:cs typeface="Microsoft Sans Serif"/>
              </a:rPr>
              <a:t>ja,</a:t>
            </a:r>
            <a:r>
              <a:rPr sz="4350" spc="-5" dirty="0">
                <a:latin typeface="Microsoft Sans Serif"/>
                <a:cs typeface="Microsoft Sans Serif"/>
              </a:rPr>
              <a:t> </a:t>
            </a:r>
            <a:r>
              <a:rPr sz="4350" spc="75" dirty="0">
                <a:latin typeface="Microsoft Sans Serif"/>
                <a:cs typeface="Microsoft Sans Serif"/>
              </a:rPr>
              <a:t>jle,</a:t>
            </a:r>
            <a:r>
              <a:rPr sz="4350" spc="-5" dirty="0">
                <a:latin typeface="Microsoft Sans Serif"/>
                <a:cs typeface="Microsoft Sans Serif"/>
              </a:rPr>
              <a:t> </a:t>
            </a:r>
            <a:r>
              <a:rPr sz="4350" spc="1060" dirty="0">
                <a:latin typeface="Microsoft Sans Serif"/>
                <a:cs typeface="Microsoft Sans Serif"/>
              </a:rPr>
              <a:t>…</a:t>
            </a:r>
            <a:endParaRPr sz="43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34091" y="6526803"/>
            <a:ext cx="2636520" cy="15125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4350" spc="60" dirty="0">
                <a:latin typeface="Lucida Sans Unicode"/>
                <a:cs typeface="Lucida Sans Unicode"/>
              </a:rPr>
              <a:t>Стек</a:t>
            </a:r>
            <a:endParaRPr sz="43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4350" spc="125" dirty="0">
                <a:latin typeface="Microsoft Sans Serif"/>
                <a:cs typeface="Microsoft Sans Serif"/>
              </a:rPr>
              <a:t>push,</a:t>
            </a:r>
            <a:r>
              <a:rPr sz="4350" spc="-70" dirty="0">
                <a:latin typeface="Microsoft Sans Serif"/>
                <a:cs typeface="Microsoft Sans Serif"/>
              </a:rPr>
              <a:t> </a:t>
            </a:r>
            <a:r>
              <a:rPr sz="4350" spc="285" dirty="0">
                <a:latin typeface="Microsoft Sans Serif"/>
                <a:cs typeface="Microsoft Sans Serif"/>
              </a:rPr>
              <a:t>pop</a:t>
            </a:r>
            <a:endParaRPr sz="43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40602" y="3275343"/>
            <a:ext cx="2516505" cy="15125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4350" spc="-45" dirty="0">
                <a:latin typeface="Lucida Sans Unicode"/>
                <a:cs typeface="Lucida Sans Unicode"/>
              </a:rPr>
              <a:t>Регистры</a:t>
            </a:r>
            <a:endParaRPr sz="43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4350" spc="220" dirty="0">
                <a:latin typeface="Microsoft Sans Serif"/>
                <a:cs typeface="Microsoft Sans Serif"/>
              </a:rPr>
              <a:t>mov</a:t>
            </a:r>
            <a:endParaRPr sz="43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8642" y="832090"/>
            <a:ext cx="512699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25" dirty="0"/>
              <a:t>A</a:t>
            </a:r>
            <a:r>
              <a:rPr spc="-615" dirty="0"/>
              <a:t>T</a:t>
            </a:r>
            <a:r>
              <a:rPr spc="-575" dirty="0"/>
              <a:t>&amp;</a:t>
            </a:r>
            <a:r>
              <a:rPr spc="-85" dirty="0"/>
              <a:t>T</a:t>
            </a:r>
            <a:r>
              <a:rPr spc="-800" dirty="0"/>
              <a:t> </a:t>
            </a:r>
            <a:r>
              <a:rPr spc="-105" dirty="0"/>
              <a:t>v</a:t>
            </a:r>
            <a:r>
              <a:rPr spc="-365" dirty="0"/>
              <a:t>s</a:t>
            </a:r>
            <a:r>
              <a:rPr spc="-800" dirty="0"/>
              <a:t> </a:t>
            </a:r>
            <a:r>
              <a:rPr spc="120" dirty="0"/>
              <a:t>I</a:t>
            </a:r>
            <a:r>
              <a:rPr spc="-170" dirty="0"/>
              <a:t>n</a:t>
            </a:r>
            <a:r>
              <a:rPr spc="100" dirty="0"/>
              <a:t>t</a:t>
            </a:r>
            <a:r>
              <a:rPr spc="15" dirty="0"/>
              <a:t>e</a:t>
            </a:r>
            <a:r>
              <a:rPr spc="20" dirty="0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81021"/>
            <a:ext cx="7301230" cy="5679760"/>
          </a:xfrm>
          <a:prstGeom prst="rect">
            <a:avLst/>
          </a:prstGeom>
        </p:spPr>
        <p:txBody>
          <a:bodyPr vert="horz" wrap="square" lIns="0" tIns="33147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10"/>
              </a:spcBef>
              <a:buChar char="•"/>
              <a:tabLst>
                <a:tab pos="473075" algn="l"/>
                <a:tab pos="473709" algn="l"/>
              </a:tabLst>
            </a:pPr>
            <a:r>
              <a:rPr sz="4400" spc="229" dirty="0">
                <a:latin typeface="Arial" panose="020B0604020202020204" pitchFamily="34" charset="0"/>
                <a:cs typeface="Arial" panose="020B0604020202020204" pitchFamily="34" charset="0"/>
              </a:rPr>
              <a:t>objdump</a:t>
            </a:r>
            <a:r>
              <a:rPr sz="44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50" dirty="0">
                <a:latin typeface="Arial" panose="020B0604020202020204" pitchFamily="34" charset="0"/>
                <a:cs typeface="Arial" panose="020B0604020202020204" pitchFamily="34" charset="0"/>
              </a:rPr>
              <a:t>-M</a:t>
            </a:r>
            <a:r>
              <a:rPr sz="44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45" dirty="0">
                <a:latin typeface="Arial" panose="020B0604020202020204" pitchFamily="34" charset="0"/>
                <a:cs typeface="Arial" panose="020B0604020202020204" pitchFamily="34" charset="0"/>
              </a:rPr>
              <a:t>intel</a:t>
            </a:r>
            <a:r>
              <a:rPr sz="44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955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20"/>
              </a:spcBef>
              <a:buChar char="•"/>
              <a:tabLst>
                <a:tab pos="473075" algn="l"/>
                <a:tab pos="473709" algn="l"/>
              </a:tabLst>
            </a:pPr>
            <a:r>
              <a:rPr sz="4400" spc="280" dirty="0">
                <a:latin typeface="Arial" panose="020B0604020202020204" pitchFamily="34" charset="0"/>
                <a:cs typeface="Arial" panose="020B0604020202020204" pitchFamily="34" charset="0"/>
              </a:rPr>
              <a:t>gcc</a:t>
            </a:r>
            <a:r>
              <a:rPr sz="44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75" dirty="0">
                <a:latin typeface="Arial" panose="020B0604020202020204" pitchFamily="34" charset="0"/>
                <a:cs typeface="Arial" panose="020B0604020202020204" pitchFamily="34" charset="0"/>
              </a:rPr>
              <a:t>-masm=intel</a:t>
            </a:r>
            <a:r>
              <a:rPr sz="4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955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15"/>
              </a:spcBef>
              <a:buChar char="•"/>
              <a:tabLst>
                <a:tab pos="473075" algn="l"/>
                <a:tab pos="473709" algn="l"/>
              </a:tabLst>
            </a:pPr>
            <a:r>
              <a:rPr sz="4400" spc="225" dirty="0">
                <a:latin typeface="Arial" panose="020B0604020202020204" pitchFamily="34" charset="0"/>
                <a:cs typeface="Arial" panose="020B0604020202020204" pitchFamily="34" charset="0"/>
              </a:rPr>
              <a:t>gdb: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34085" lvl="1" indent="-461645">
              <a:lnSpc>
                <a:spcPct val="100000"/>
              </a:lnSpc>
              <a:spcBef>
                <a:spcPts val="2515"/>
              </a:spcBef>
              <a:buChar char="•"/>
              <a:tabLst>
                <a:tab pos="933450" algn="l"/>
                <a:tab pos="934719" algn="l"/>
              </a:tabLst>
            </a:pPr>
            <a:r>
              <a:rPr sz="4400" spc="90" dirty="0"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70" dirty="0">
                <a:latin typeface="Arial" panose="020B0604020202020204" pitchFamily="34" charset="0"/>
                <a:cs typeface="Arial" panose="020B0604020202020204" pitchFamily="34" charset="0"/>
              </a:rPr>
              <a:t>disassembly-flavor</a:t>
            </a:r>
            <a:r>
              <a:rPr sz="44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45" dirty="0">
                <a:latin typeface="Arial" panose="020B0604020202020204" pitchFamily="34" charset="0"/>
                <a:cs typeface="Arial" panose="020B0604020202020204" pitchFamily="34" charset="0"/>
              </a:rPr>
              <a:t>intel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4400" u="heavy" spc="-9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Сравнени</a:t>
            </a:r>
            <a:r>
              <a:rPr sz="4400" u="heavy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е</a:t>
            </a:r>
            <a:r>
              <a:rPr sz="4400" u="heavy" spc="-204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</a:t>
            </a:r>
            <a:r>
              <a:rPr sz="4400" u="heavy" spc="-10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си</a:t>
            </a:r>
            <a:r>
              <a:rPr sz="4400" u="heavy" spc="-27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н</a:t>
            </a:r>
            <a:r>
              <a:rPr sz="4400" u="heavy" spc="2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та</a:t>
            </a:r>
            <a:r>
              <a:rPr sz="4400" u="heavy" spc="4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к</a:t>
            </a:r>
            <a:r>
              <a:rPr sz="4400" u="heavy" spc="-10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си</a:t>
            </a:r>
            <a:r>
              <a:rPr sz="4400" u="heavy" spc="-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са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56277" y="2409077"/>
            <a:ext cx="7743462" cy="24344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49034" y="5293278"/>
            <a:ext cx="7841679" cy="18192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1925" y="7848391"/>
            <a:ext cx="7814196" cy="17391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0026" y="821620"/>
            <a:ext cx="1173988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0" dirty="0"/>
              <a:t>Гд</a:t>
            </a:r>
            <a:r>
              <a:rPr spc="45" dirty="0"/>
              <a:t>е</a:t>
            </a:r>
            <a:r>
              <a:rPr spc="-795" dirty="0"/>
              <a:t> </a:t>
            </a:r>
            <a:r>
              <a:rPr spc="-229" dirty="0"/>
              <a:t>почитат</a:t>
            </a:r>
            <a:r>
              <a:rPr spc="-20" dirty="0"/>
              <a:t>ь</a:t>
            </a:r>
            <a:r>
              <a:rPr spc="-795" dirty="0"/>
              <a:t> </a:t>
            </a:r>
            <a:r>
              <a:rPr spc="-15" dirty="0"/>
              <a:t>и</a:t>
            </a:r>
            <a:r>
              <a:rPr spc="-800" dirty="0"/>
              <a:t> </a:t>
            </a:r>
            <a:r>
              <a:rPr spc="-220" dirty="0"/>
              <a:t>попробовать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81021"/>
            <a:ext cx="4860978" cy="2132635"/>
          </a:xfrm>
          <a:prstGeom prst="rect">
            <a:avLst/>
          </a:prstGeom>
        </p:spPr>
        <p:txBody>
          <a:bodyPr vert="horz" wrap="square" lIns="0" tIns="33147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10"/>
              </a:spcBef>
              <a:buChar char="•"/>
              <a:tabLst>
                <a:tab pos="473075" algn="l"/>
                <a:tab pos="473709" algn="l"/>
              </a:tabLst>
            </a:pPr>
            <a:r>
              <a:rPr sz="4800" spc="22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godbolt</a:t>
            </a:r>
            <a:r>
              <a:rPr sz="4800" spc="3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.</a:t>
            </a:r>
            <a:r>
              <a:rPr sz="4800" spc="22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o</a:t>
            </a:r>
            <a:r>
              <a:rPr sz="4800" spc="7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r</a:t>
            </a:r>
            <a:r>
              <a:rPr sz="4800" spc="28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g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20"/>
              </a:spcBef>
              <a:buChar char="•"/>
              <a:tabLst>
                <a:tab pos="473075" algn="l"/>
                <a:tab pos="473709" algn="l"/>
              </a:tabLst>
            </a:pPr>
            <a:r>
              <a:rPr sz="4800" spc="229" dirty="0">
                <a:latin typeface="Arial" panose="020B0604020202020204" pitchFamily="34" charset="0"/>
                <a:cs typeface="Arial" panose="020B0604020202020204" pitchFamily="34" charset="0"/>
              </a:rPr>
              <a:t>objdump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54040" y="821620"/>
            <a:ext cx="839660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40" dirty="0"/>
              <a:t>Ка</a:t>
            </a:r>
            <a:r>
              <a:rPr spc="470" dirty="0"/>
              <a:t>к</a:t>
            </a:r>
            <a:r>
              <a:rPr spc="-800" dirty="0"/>
              <a:t> </a:t>
            </a:r>
            <a:r>
              <a:rPr spc="-225" dirty="0"/>
              <a:t>писат</a:t>
            </a:r>
            <a:r>
              <a:rPr spc="-15" dirty="0"/>
              <a:t>ь</a:t>
            </a:r>
            <a:r>
              <a:rPr spc="-795" dirty="0"/>
              <a:t> </a:t>
            </a:r>
            <a:r>
              <a:rPr spc="-170" dirty="0"/>
              <a:t>н</a:t>
            </a:r>
            <a:r>
              <a:rPr spc="35" dirty="0"/>
              <a:t>а</a:t>
            </a:r>
            <a:r>
              <a:rPr spc="-795" dirty="0"/>
              <a:t> </a:t>
            </a:r>
            <a:r>
              <a:rPr spc="-225" dirty="0"/>
              <a:t>асме</a:t>
            </a:r>
            <a:r>
              <a:rPr spc="-535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78514"/>
            <a:ext cx="17485995" cy="5033429"/>
          </a:xfrm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5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4800" spc="-45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480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4800" spc="-229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4800" spc="-365" dirty="0">
                <a:latin typeface="Arial" panose="020B0604020202020204" pitchFamily="34" charset="0"/>
                <a:cs typeface="Arial" panose="020B0604020202020204" pitchFamily="34" charset="0"/>
              </a:rPr>
              <a:t>г</a:t>
            </a:r>
            <a:r>
              <a:rPr sz="480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4800" spc="1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4800" spc="-170" dirty="0">
                <a:latin typeface="Arial" panose="020B0604020202020204" pitchFamily="34" charset="0"/>
                <a:cs typeface="Arial" panose="020B0604020202020204" pitchFamily="34" charset="0"/>
              </a:rPr>
              <a:t>мм</a:t>
            </a:r>
            <a:r>
              <a:rPr sz="4800" spc="-12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130" dirty="0"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1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4800" spc="-95" dirty="0">
                <a:latin typeface="Arial" panose="020B0604020202020204" pitchFamily="34" charset="0"/>
                <a:cs typeface="Arial" panose="020B0604020202020204" pitchFamily="34" charset="0"/>
              </a:rPr>
              <a:t>сме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dirty="0">
                <a:latin typeface="Arial" panose="020B0604020202020204" pitchFamily="34" charset="0"/>
                <a:cs typeface="Arial" panose="020B0604020202020204" pitchFamily="34" charset="0"/>
              </a:rPr>
              <a:t>ста</a:t>
            </a:r>
            <a:r>
              <a:rPr sz="480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4800" spc="10" dirty="0">
                <a:latin typeface="Arial" panose="020B0604020202020204" pitchFamily="34" charset="0"/>
                <a:cs typeface="Arial" panose="020B0604020202020204" pitchFamily="34" charset="0"/>
              </a:rPr>
              <a:t>те</a:t>
            </a:r>
            <a:r>
              <a:rPr sz="480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75" dirty="0">
                <a:latin typeface="Arial" panose="020B0604020202020204" pitchFamily="34" charset="0"/>
                <a:cs typeface="Arial" panose="020B0604020202020204" pitchFamily="34" charset="0"/>
              </a:rPr>
              <a:t>па</a:t>
            </a:r>
            <a:r>
              <a:rPr sz="4800" spc="-70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4800" spc="5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34085" lvl="1" indent="-461645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933450" algn="l"/>
                <a:tab pos="934719" algn="l"/>
              </a:tabLst>
            </a:pPr>
            <a:r>
              <a:rPr sz="4800" spc="-25" dirty="0">
                <a:latin typeface="Arial" panose="020B0604020202020204" pitchFamily="34" charset="0"/>
                <a:cs typeface="Arial" panose="020B0604020202020204" pitchFamily="34" charset="0"/>
              </a:rPr>
              <a:t>Объявлен</a:t>
            </a:r>
            <a:r>
              <a:rPr sz="4800" spc="-2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480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155" dirty="0">
                <a:latin typeface="Arial" panose="020B0604020202020204" pitchFamily="34" charset="0"/>
                <a:cs typeface="Arial" panose="020B0604020202020204" pitchFamily="34" charset="0"/>
              </a:rPr>
              <a:t>глобально</a:t>
            </a:r>
            <a:r>
              <a:rPr sz="4800" spc="-165" dirty="0"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sz="480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275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480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480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480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4800" spc="-140" dirty="0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sz="4800" spc="-105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4800" spc="-275" dirty="0">
                <a:latin typeface="Arial" panose="020B0604020202020204" pitchFamily="34" charset="0"/>
                <a:cs typeface="Arial" panose="020B0604020202020204" pitchFamily="34" charset="0"/>
              </a:rPr>
              <a:t>нн</a:t>
            </a:r>
            <a:r>
              <a:rPr sz="4800" spc="-229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4800" spc="-170" dirty="0">
                <a:latin typeface="Arial" panose="020B0604020202020204" pitchFamily="34" charset="0"/>
                <a:cs typeface="Arial" panose="020B0604020202020204" pitchFamily="34" charset="0"/>
              </a:rPr>
              <a:t>й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b="1" spc="-160" dirty="0">
                <a:latin typeface="Arial" panose="020B0604020202020204" pitchFamily="34" charset="0"/>
                <a:cs typeface="Arial" panose="020B0604020202020204" pitchFamily="34" charset="0"/>
              </a:rPr>
              <a:t>_s</a:t>
            </a:r>
            <a:r>
              <a:rPr sz="4800" b="1" spc="-9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4800" b="1" spc="14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4800" b="1" spc="13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4800" b="1" spc="22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34085" lvl="1" indent="-461645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933450" algn="l"/>
                <a:tab pos="934719" algn="l"/>
              </a:tabLst>
            </a:pPr>
            <a:r>
              <a:rPr sz="4800" spc="-120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70" dirty="0">
                <a:latin typeface="Arial" panose="020B0604020202020204" pitchFamily="34" charset="0"/>
                <a:cs typeface="Arial" panose="020B0604020202020204" pitchFamily="34" charset="0"/>
              </a:rPr>
              <a:t>метки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b="1" spc="15" dirty="0">
                <a:latin typeface="Arial" panose="020B0604020202020204" pitchFamily="34" charset="0"/>
                <a:cs typeface="Arial" panose="020B0604020202020204" pitchFamily="34" charset="0"/>
              </a:rPr>
              <a:t>_start</a:t>
            </a:r>
            <a:r>
              <a:rPr sz="4800" b="1" spc="-3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45" dirty="0">
                <a:latin typeface="Arial" panose="020B0604020202020204" pitchFamily="34" charset="0"/>
                <a:cs typeface="Arial" panose="020B0604020202020204" pitchFamily="34" charset="0"/>
              </a:rPr>
              <a:t>(с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95" dirty="0">
                <a:latin typeface="Arial" panose="020B0604020202020204" pitchFamily="34" charset="0"/>
                <a:cs typeface="Arial" panose="020B0604020202020204" pitchFamily="34" charset="0"/>
              </a:rPr>
              <a:t>неё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45" dirty="0">
                <a:latin typeface="Arial" panose="020B0604020202020204" pitchFamily="34" charset="0"/>
                <a:cs typeface="Arial" panose="020B0604020202020204" pitchFamily="34" charset="0"/>
              </a:rPr>
              <a:t>начинается</a:t>
            </a:r>
            <a:r>
              <a:rPr sz="480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150" dirty="0">
                <a:latin typeface="Arial" panose="020B0604020202020204" pitchFamily="34" charset="0"/>
                <a:cs typeface="Arial" panose="020B0604020202020204" pitchFamily="34" charset="0"/>
              </a:rPr>
              <a:t>исполнение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195" dirty="0">
                <a:latin typeface="Arial" panose="020B0604020202020204" pitchFamily="34" charset="0"/>
                <a:cs typeface="Arial" panose="020B0604020202020204" pitchFamily="34" charset="0"/>
              </a:rPr>
              <a:t>программы)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34085" lvl="1" indent="-461645">
              <a:lnSpc>
                <a:spcPct val="100000"/>
              </a:lnSpc>
              <a:spcBef>
                <a:spcPts val="2555"/>
              </a:spcBef>
              <a:buFont typeface="Microsoft Sans Serif"/>
              <a:buChar char="•"/>
              <a:tabLst>
                <a:tab pos="933450" algn="l"/>
                <a:tab pos="934719" algn="l"/>
              </a:tabLst>
            </a:pPr>
            <a:r>
              <a:rPr sz="4800" spc="250" dirty="0"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sz="4800" spc="260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4800" spc="90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480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480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4800" spc="-260" dirty="0">
                <a:latin typeface="Arial" panose="020B0604020202020204" pitchFamily="34" charset="0"/>
                <a:cs typeface="Arial" panose="020B0604020202020204" pitchFamily="34" charset="0"/>
              </a:rPr>
              <a:t>ш</a:t>
            </a:r>
            <a:r>
              <a:rPr sz="480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4800" spc="-275" dirty="0"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sz="4800" spc="-17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480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275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480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4800" spc="-229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4800" spc="-365" dirty="0">
                <a:latin typeface="Arial" panose="020B0604020202020204" pitchFamily="34" charset="0"/>
                <a:cs typeface="Arial" panose="020B0604020202020204" pitchFamily="34" charset="0"/>
              </a:rPr>
              <a:t>г</a:t>
            </a:r>
            <a:r>
              <a:rPr sz="4800" spc="-29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sz="4800" spc="1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4800" spc="-160" dirty="0">
                <a:latin typeface="Arial" panose="020B0604020202020204" pitchFamily="34" charset="0"/>
                <a:cs typeface="Arial" panose="020B0604020202020204" pitchFamily="34" charset="0"/>
              </a:rPr>
              <a:t>мм</a:t>
            </a:r>
            <a:r>
              <a:rPr sz="4800" spc="-155" dirty="0">
                <a:latin typeface="Arial" panose="020B0604020202020204" pitchFamily="34" charset="0"/>
                <a:cs typeface="Arial" panose="020B0604020202020204" pitchFamily="34" charset="0"/>
              </a:rPr>
              <a:t>ы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45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275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4800" spc="-229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4800" spc="-254" dirty="0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sz="4800" spc="-210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4800" spc="-365" dirty="0">
                <a:latin typeface="Arial" panose="020B0604020202020204" pitchFamily="34" charset="0"/>
                <a:cs typeface="Arial" panose="020B0604020202020204" pitchFamily="34" charset="0"/>
              </a:rPr>
              <a:t>щ</a:t>
            </a:r>
            <a:r>
              <a:rPr sz="4800" spc="-25" dirty="0">
                <a:latin typeface="Arial" panose="020B0604020202020204" pitchFamily="34" charset="0"/>
                <a:cs typeface="Arial" panose="020B0604020202020204" pitchFamily="34" charset="0"/>
              </a:rPr>
              <a:t>ь</a:t>
            </a:r>
            <a:r>
              <a:rPr sz="4800" spc="-140" dirty="0">
                <a:latin typeface="Arial" panose="020B0604020202020204" pitchFamily="34" charset="0"/>
                <a:cs typeface="Arial" panose="020B0604020202020204" pitchFamily="34" charset="0"/>
              </a:rPr>
              <a:t>ю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105" dirty="0">
                <a:latin typeface="Arial" panose="020B0604020202020204" pitchFamily="34" charset="0"/>
                <a:cs typeface="Arial" panose="020B0604020202020204" pitchFamily="34" charset="0"/>
              </a:rPr>
              <a:t>си</a:t>
            </a:r>
            <a:r>
              <a:rPr sz="4800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4800" spc="-5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4800" spc="-229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4800" spc="-55" dirty="0">
                <a:latin typeface="Arial" panose="020B0604020202020204" pitchFamily="34" charset="0"/>
                <a:cs typeface="Arial" panose="020B0604020202020204" pitchFamily="34" charset="0"/>
              </a:rPr>
              <a:t>л</a:t>
            </a:r>
            <a:r>
              <a:rPr sz="4800" spc="1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48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8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4800" spc="135" dirty="0">
                <a:latin typeface="Arial" panose="020B0604020202020204" pitchFamily="34" charset="0"/>
                <a:cs typeface="Arial" panose="020B0604020202020204" pitchFamily="34" charset="0"/>
              </a:rPr>
              <a:t>xit.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43405" y="821637"/>
            <a:ext cx="400494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10" dirty="0"/>
              <a:t>Регистры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3499" y="3829997"/>
            <a:ext cx="3230460" cy="28525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2256" y="2005851"/>
            <a:ext cx="11129954" cy="89241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68607" y="821637"/>
            <a:ext cx="315468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Секции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78514"/>
            <a:ext cx="13536930" cy="4811189"/>
          </a:xfrm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50"/>
              </a:spcBef>
              <a:buChar char="•"/>
              <a:tabLst>
                <a:tab pos="473075" algn="l"/>
                <a:tab pos="473709" algn="l"/>
              </a:tabLst>
            </a:pPr>
            <a:r>
              <a:rPr sz="4400" b="1" spc="120" dirty="0">
                <a:latin typeface="Arial" panose="020B0604020202020204" pitchFamily="34" charset="0"/>
                <a:cs typeface="Arial" panose="020B0604020202020204" pitchFamily="34" charset="0"/>
              </a:rPr>
              <a:t>.text</a:t>
            </a:r>
            <a:r>
              <a:rPr sz="4400" b="1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44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145" dirty="0">
                <a:latin typeface="Arial" panose="020B0604020202020204" pitchFamily="34" charset="0"/>
                <a:cs typeface="Arial" panose="020B0604020202020204" pitchFamily="34" charset="0"/>
              </a:rPr>
              <a:t>код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marR="5080" indent="-461009">
              <a:lnSpc>
                <a:spcPct val="111700"/>
              </a:lnSpc>
              <a:spcBef>
                <a:spcPts val="2000"/>
              </a:spcBef>
              <a:buChar char="•"/>
              <a:tabLst>
                <a:tab pos="473075" algn="l"/>
                <a:tab pos="473709" algn="l"/>
              </a:tabLst>
            </a:pPr>
            <a:r>
              <a:rPr sz="4400" b="1" spc="35" dirty="0">
                <a:latin typeface="Arial" panose="020B0604020202020204" pitchFamily="34" charset="0"/>
                <a:cs typeface="Arial" panose="020B0604020202020204" pitchFamily="34" charset="0"/>
              </a:rPr>
              <a:t>.bss</a:t>
            </a:r>
            <a:r>
              <a:rPr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5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4400" spc="-120" dirty="0">
                <a:latin typeface="Arial" panose="020B0604020202020204" pitchFamily="34" charset="0"/>
                <a:cs typeface="Arial" panose="020B0604020202020204" pitchFamily="34" charset="0"/>
              </a:rPr>
              <a:t>глобальные</a:t>
            </a:r>
            <a:r>
              <a:rPr sz="4400" spc="-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17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4400" spc="-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25" dirty="0">
                <a:latin typeface="Arial" panose="020B0604020202020204" pitchFamily="34" charset="0"/>
                <a:cs typeface="Arial" panose="020B0604020202020204" pitchFamily="34" charset="0"/>
              </a:rPr>
              <a:t>статические</a:t>
            </a:r>
            <a:r>
              <a:rPr sz="4400" spc="-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125" dirty="0">
                <a:latin typeface="Arial" panose="020B0604020202020204" pitchFamily="34" charset="0"/>
                <a:cs typeface="Arial" panose="020B0604020202020204" pitchFamily="34" charset="0"/>
              </a:rPr>
              <a:t>переменные,</a:t>
            </a:r>
            <a:r>
              <a:rPr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95" dirty="0">
                <a:latin typeface="Arial" panose="020B0604020202020204" pitchFamily="34" charset="0"/>
                <a:cs typeface="Arial" panose="020B0604020202020204" pitchFamily="34" charset="0"/>
              </a:rPr>
              <a:t>которые </a:t>
            </a:r>
            <a:r>
              <a:rPr sz="4400" spc="-12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155" dirty="0">
                <a:latin typeface="Arial" panose="020B0604020202020204" pitchFamily="34" charset="0"/>
                <a:cs typeface="Arial" panose="020B0604020202020204" pitchFamily="34" charset="0"/>
              </a:rPr>
              <a:t>проинициализированы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135" dirty="0">
                <a:latin typeface="Arial" panose="020B0604020202020204" pitchFamily="34" charset="0"/>
                <a:cs typeface="Arial" panose="020B0604020202020204" pitchFamily="34" charset="0"/>
              </a:rPr>
              <a:t>нулём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130" dirty="0">
                <a:latin typeface="Arial" panose="020B0604020202020204" pitchFamily="34" charset="0"/>
                <a:cs typeface="Arial" panose="020B0604020202020204" pitchFamily="34" charset="0"/>
              </a:rPr>
              <a:t>или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70" dirty="0">
                <a:latin typeface="Arial" panose="020B0604020202020204" pitchFamily="34" charset="0"/>
                <a:cs typeface="Arial" panose="020B0604020202020204" pitchFamily="34" charset="0"/>
              </a:rPr>
              <a:t>никак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75"/>
              </a:spcBef>
              <a:buChar char="•"/>
              <a:tabLst>
                <a:tab pos="473075" algn="l"/>
                <a:tab pos="473709" algn="l"/>
              </a:tabLst>
            </a:pPr>
            <a:r>
              <a:rPr sz="4400" b="1" spc="85" dirty="0">
                <a:latin typeface="Arial" panose="020B0604020202020204" pitchFamily="34" charset="0"/>
                <a:cs typeface="Arial" panose="020B0604020202020204" pitchFamily="34" charset="0"/>
              </a:rPr>
              <a:t>.data</a:t>
            </a:r>
            <a:r>
              <a:rPr sz="44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44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5" dirty="0">
                <a:latin typeface="Arial" panose="020B0604020202020204" pitchFamily="34" charset="0"/>
                <a:cs typeface="Arial" panose="020B0604020202020204" pitchFamily="34" charset="0"/>
              </a:rPr>
              <a:t>всё</a:t>
            </a:r>
            <a:r>
              <a:rPr sz="4400" spc="-2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90" dirty="0">
                <a:latin typeface="Arial" panose="020B0604020202020204" pitchFamily="34" charset="0"/>
                <a:cs typeface="Arial" panose="020B0604020202020204" pitchFamily="34" charset="0"/>
              </a:rPr>
              <a:t>остальное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sz="4400" b="1" spc="8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4400" b="1" spc="4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4400" b="1" spc="204" dirty="0">
                <a:latin typeface="Arial" panose="020B0604020202020204" pitchFamily="34" charset="0"/>
                <a:cs typeface="Arial" panose="020B0604020202020204" pitchFamily="34" charset="0"/>
              </a:rPr>
              <a:t>oda</a:t>
            </a:r>
            <a:r>
              <a:rPr sz="4400" b="1" spc="114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4400" b="1" spc="-6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440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44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100" dirty="0">
                <a:latin typeface="Arial" panose="020B0604020202020204" pitchFamily="34" charset="0"/>
                <a:cs typeface="Arial" panose="020B0604020202020204" pitchFamily="34" charset="0"/>
              </a:rPr>
              <a:t>то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5" dirty="0">
                <a:latin typeface="Arial" panose="020B0604020202020204" pitchFamily="34" charset="0"/>
                <a:cs typeface="Arial" panose="020B0604020202020204" pitchFamily="34" charset="0"/>
              </a:rPr>
              <a:t>же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15" dirty="0">
                <a:latin typeface="Arial" panose="020B0604020202020204" pitchFamily="34" charset="0"/>
                <a:cs typeface="Arial" panose="020B0604020202020204" pitchFamily="34" charset="0"/>
              </a:rPr>
              <a:t>са</a:t>
            </a:r>
            <a:r>
              <a:rPr sz="4400" spc="-254" dirty="0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sz="4400" spc="-210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4400" spc="-5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4400" spc="1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44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250" dirty="0">
                <a:latin typeface="Arial" panose="020B0604020202020204" pitchFamily="34" charset="0"/>
                <a:cs typeface="Arial" panose="020B0604020202020204" pitchFamily="34" charset="0"/>
              </a:rPr>
              <a:t>но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275" dirty="0"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sz="440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4400" spc="-17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4400" spc="-55" dirty="0">
                <a:latin typeface="Arial" panose="020B0604020202020204" pitchFamily="34" charset="0"/>
                <a:cs typeface="Arial" panose="020B0604020202020204" pitchFamily="34" charset="0"/>
              </a:rPr>
              <a:t>зме</a:t>
            </a:r>
            <a:r>
              <a:rPr sz="4400" spc="-275" dirty="0"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sz="4400" spc="190" dirty="0">
                <a:latin typeface="Arial" panose="020B0604020202020204" pitchFamily="34" charset="0"/>
                <a:cs typeface="Arial" panose="020B0604020202020204" pitchFamily="34" charset="0"/>
              </a:rPr>
              <a:t>я</a:t>
            </a:r>
            <a:r>
              <a:rPr sz="440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4400" spc="-254" dirty="0"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sz="4400" spc="-210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440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2778" y="821637"/>
            <a:ext cx="462661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85" dirty="0"/>
              <a:t>Сравнения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54457" y="3492823"/>
            <a:ext cx="12347575" cy="119712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477520" algn="l"/>
                <a:tab pos="7684770" algn="l"/>
              </a:tabLst>
            </a:pPr>
            <a:r>
              <a:rPr sz="3600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	сраниваем значения </a:t>
            </a:r>
            <a:r>
              <a:rPr sz="3600" dirty="0" err="1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регистра</a:t>
            </a:r>
            <a:r>
              <a:rPr sz="3600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5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</a:t>
            </a:r>
            <a:r>
              <a:rPr lang="en-US" sz="3600" spc="-5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sz="3600" spc="-40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переменной</a:t>
            </a:r>
            <a:r>
              <a:rPr sz="3600" spc="-35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n2</a:t>
            </a:r>
            <a:endParaRPr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  <a:tabLst>
                <a:tab pos="477520" algn="l"/>
                <a:tab pos="6057265" algn="l"/>
              </a:tabLst>
            </a:pPr>
            <a:r>
              <a:rPr sz="3600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	если значения не </a:t>
            </a:r>
            <a:r>
              <a:rPr sz="3600" dirty="0" err="1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равны</a:t>
            </a:r>
            <a:r>
              <a:rPr sz="3600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3600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 err="1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переходим</a:t>
            </a:r>
            <a:r>
              <a:rPr sz="3600" spc="-35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</a:t>
            </a:r>
            <a:r>
              <a:rPr sz="3600" spc="-35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метке</a:t>
            </a:r>
            <a:r>
              <a:rPr sz="3600" spc="-30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dirty="0">
                <a:solidFill>
                  <a:srgbClr val="0171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not_equal</a:t>
            </a:r>
            <a:endParaRPr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6272" y="8876662"/>
            <a:ext cx="154559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10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u="heavy" spc="29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cmp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21CC57-B296-4576-8BD2-A61069F66140}"/>
              </a:ext>
            </a:extLst>
          </p:cNvPr>
          <p:cNvSpPr txBox="1"/>
          <p:nvPr/>
        </p:nvSpPr>
        <p:spPr>
          <a:xfrm>
            <a:off x="2355851" y="3492823"/>
            <a:ext cx="3810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	</a:t>
            </a:r>
            <a:r>
              <a:rPr lang="en-US" sz="3600" dirty="0" err="1"/>
              <a:t>cmp</a:t>
            </a:r>
            <a:r>
              <a:rPr lang="en-US" sz="3600" dirty="0"/>
              <a:t> al, n2 </a:t>
            </a:r>
          </a:p>
          <a:p>
            <a:r>
              <a:rPr lang="en-US" sz="3600" dirty="0"/>
              <a:t>	</a:t>
            </a:r>
            <a:r>
              <a:rPr lang="en-US" sz="3600" dirty="0" err="1"/>
              <a:t>jne</a:t>
            </a:r>
            <a:r>
              <a:rPr lang="en-US" sz="3600" dirty="0"/>
              <a:t> </a:t>
            </a:r>
            <a:r>
              <a:rPr lang="en-US" sz="3600" dirty="0" err="1"/>
              <a:t>not_equal</a:t>
            </a:r>
            <a:endParaRPr lang="en-US" sz="3600" dirty="0"/>
          </a:p>
          <a:p>
            <a:r>
              <a:rPr lang="en-US" sz="3600" dirty="0"/>
              <a:t>	mov </a:t>
            </a:r>
            <a:r>
              <a:rPr lang="en-US" sz="3600" dirty="0" err="1"/>
              <a:t>eax</a:t>
            </a:r>
            <a:r>
              <a:rPr lang="en-US" sz="3600" dirty="0"/>
              <a:t>, 0</a:t>
            </a:r>
          </a:p>
          <a:p>
            <a:r>
              <a:rPr lang="en-US" sz="3600" dirty="0"/>
              <a:t>	</a:t>
            </a:r>
            <a:r>
              <a:rPr lang="en-US" sz="3600" dirty="0" err="1"/>
              <a:t>jmp</a:t>
            </a:r>
            <a:r>
              <a:rPr lang="en-US" sz="3600" dirty="0"/>
              <a:t> equal</a:t>
            </a:r>
          </a:p>
          <a:p>
            <a:r>
              <a:rPr lang="en-US" sz="3600" dirty="0" err="1"/>
              <a:t>not_equal</a:t>
            </a:r>
            <a:r>
              <a:rPr lang="en-US" sz="3600" dirty="0"/>
              <a:t>:</a:t>
            </a:r>
          </a:p>
          <a:p>
            <a:r>
              <a:rPr lang="en-US" sz="3600" dirty="0"/>
              <a:t>	mov </a:t>
            </a:r>
            <a:r>
              <a:rPr lang="en-US" sz="3600" dirty="0" err="1"/>
              <a:t>eax</a:t>
            </a:r>
            <a:r>
              <a:rPr lang="en-US" sz="3600" dirty="0"/>
              <a:t>, 1</a:t>
            </a:r>
          </a:p>
          <a:p>
            <a:r>
              <a:rPr lang="en-US" sz="3600" dirty="0"/>
              <a:t>equal: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68017" y="821620"/>
            <a:ext cx="996823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5" dirty="0"/>
              <a:t>Регист</a:t>
            </a:r>
            <a:r>
              <a:rPr spc="50" dirty="0"/>
              <a:t>р</a:t>
            </a:r>
            <a:r>
              <a:rPr spc="-800" dirty="0"/>
              <a:t> </a:t>
            </a:r>
            <a:r>
              <a:rPr spc="-215" dirty="0"/>
              <a:t>флаго</a:t>
            </a:r>
            <a:r>
              <a:rPr spc="-5" dirty="0"/>
              <a:t>в</a:t>
            </a:r>
            <a:r>
              <a:rPr spc="-795" dirty="0"/>
              <a:t> </a:t>
            </a:r>
            <a:r>
              <a:rPr spc="-585" dirty="0"/>
              <a:t>EF</a:t>
            </a:r>
            <a:r>
              <a:rPr spc="-545" dirty="0"/>
              <a:t>L</a:t>
            </a:r>
            <a:r>
              <a:rPr spc="-475" dirty="0"/>
              <a:t>A</a:t>
            </a:r>
            <a:r>
              <a:rPr spc="-215" dirty="0"/>
              <a:t>G</a:t>
            </a:r>
            <a:r>
              <a:rPr spc="-17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5313" y="2400192"/>
            <a:ext cx="9479280" cy="65970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158750" algn="just">
              <a:lnSpc>
                <a:spcPct val="100800"/>
              </a:lnSpc>
              <a:spcBef>
                <a:spcPts val="75"/>
              </a:spcBef>
            </a:pPr>
            <a:r>
              <a:rPr sz="2250" b="1" spc="-5" dirty="0">
                <a:latin typeface="Verdana"/>
                <a:cs typeface="Verdana"/>
              </a:rPr>
              <a:t>Carry flag </a:t>
            </a:r>
            <a:r>
              <a:rPr sz="2250" spc="-5" dirty="0">
                <a:latin typeface="Verdana"/>
                <a:cs typeface="Verdana"/>
              </a:rPr>
              <a:t>— Set if an arithmetic operation generates a carry or </a:t>
            </a:r>
            <a:r>
              <a:rPr sz="2250" spc="-78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a borrow out of the most-significant bit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of the result; cleared</a:t>
            </a:r>
            <a:endParaRPr sz="2250">
              <a:latin typeface="Verdana"/>
              <a:cs typeface="Verdana"/>
            </a:endParaRPr>
          </a:p>
          <a:p>
            <a:pPr marL="12700" marR="5080" algn="just">
              <a:lnSpc>
                <a:spcPct val="109400"/>
              </a:lnSpc>
              <a:spcBef>
                <a:spcPts val="229"/>
              </a:spcBef>
            </a:pPr>
            <a:r>
              <a:rPr sz="2250" spc="-5" dirty="0">
                <a:latin typeface="Verdana"/>
                <a:cs typeface="Verdana"/>
              </a:rPr>
              <a:t>otherwise. This flag indicates an overflow condition for unsigned- 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integer arithmetic. It is also used in multiple-precision arithmetic. </a:t>
            </a:r>
            <a:r>
              <a:rPr sz="2250" spc="-780" dirty="0">
                <a:latin typeface="Verdana"/>
                <a:cs typeface="Verdana"/>
              </a:rPr>
              <a:t> </a:t>
            </a:r>
            <a:r>
              <a:rPr sz="2250" b="1" spc="-5" dirty="0">
                <a:latin typeface="Verdana"/>
                <a:cs typeface="Verdana"/>
              </a:rPr>
              <a:t>Parity flag </a:t>
            </a:r>
            <a:r>
              <a:rPr sz="2250" spc="-5" dirty="0">
                <a:latin typeface="Verdana"/>
                <a:cs typeface="Verdana"/>
              </a:rPr>
              <a:t>—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Set if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the least-significant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10" dirty="0">
                <a:latin typeface="Verdana"/>
                <a:cs typeface="Verdana"/>
              </a:rPr>
              <a:t>byte</a:t>
            </a:r>
            <a:r>
              <a:rPr sz="2250" spc="-5" dirty="0">
                <a:latin typeface="Verdana"/>
                <a:cs typeface="Verdana"/>
              </a:rPr>
              <a:t> of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the result</a:t>
            </a:r>
            <a:endParaRPr sz="225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20"/>
              </a:spcBef>
            </a:pPr>
            <a:r>
              <a:rPr sz="2250" spc="-5" dirty="0">
                <a:latin typeface="Verdana"/>
                <a:cs typeface="Verdana"/>
              </a:rPr>
              <a:t>contains</a:t>
            </a:r>
            <a:r>
              <a:rPr sz="2250" spc="-1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an even number of 1 bits; cleared otherwise.</a:t>
            </a:r>
            <a:endParaRPr sz="2250">
              <a:latin typeface="Verdana"/>
              <a:cs typeface="Verdana"/>
            </a:endParaRPr>
          </a:p>
          <a:p>
            <a:pPr marL="12700" marR="74930">
              <a:lnSpc>
                <a:spcPct val="100800"/>
              </a:lnSpc>
              <a:spcBef>
                <a:spcPts val="465"/>
              </a:spcBef>
            </a:pPr>
            <a:r>
              <a:rPr sz="2250" b="1" spc="-5" dirty="0">
                <a:latin typeface="Verdana"/>
                <a:cs typeface="Verdana"/>
              </a:rPr>
              <a:t>Adjust</a:t>
            </a:r>
            <a:r>
              <a:rPr sz="2250" b="1" spc="25" dirty="0">
                <a:latin typeface="Verdana"/>
                <a:cs typeface="Verdana"/>
              </a:rPr>
              <a:t> </a:t>
            </a:r>
            <a:r>
              <a:rPr sz="2250" b="1" spc="-5" dirty="0">
                <a:latin typeface="Verdana"/>
                <a:cs typeface="Verdana"/>
              </a:rPr>
              <a:t>flag</a:t>
            </a:r>
            <a:r>
              <a:rPr sz="2250" b="1" spc="3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—</a:t>
            </a:r>
            <a:r>
              <a:rPr sz="2250" spc="3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Set</a:t>
            </a:r>
            <a:r>
              <a:rPr sz="2250" spc="3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if</a:t>
            </a:r>
            <a:r>
              <a:rPr sz="2250" spc="3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an</a:t>
            </a:r>
            <a:r>
              <a:rPr sz="2250" spc="3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arithmetic</a:t>
            </a:r>
            <a:r>
              <a:rPr sz="2250" spc="3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operation</a:t>
            </a:r>
            <a:r>
              <a:rPr sz="2250" spc="3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generates</a:t>
            </a:r>
            <a:r>
              <a:rPr sz="2250" spc="3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a</a:t>
            </a:r>
            <a:r>
              <a:rPr sz="2250" spc="3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carry 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or a borrow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out of bit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3 of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the result; cleared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otherwise. This flag </a:t>
            </a:r>
            <a:r>
              <a:rPr sz="2250" spc="-775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is</a:t>
            </a:r>
            <a:r>
              <a:rPr sz="2250" spc="-1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used in binary-coded decimal (BCD) arithmetic.</a:t>
            </a:r>
            <a:endParaRPr sz="2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250" b="1" spc="-5" dirty="0">
                <a:latin typeface="Verdana"/>
                <a:cs typeface="Verdana"/>
              </a:rPr>
              <a:t>Zero flag</a:t>
            </a:r>
            <a:r>
              <a:rPr sz="2250" b="1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— Set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if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the result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is zero;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cleared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otherwise.</a:t>
            </a:r>
            <a:endParaRPr sz="2250">
              <a:latin typeface="Verdana"/>
              <a:cs typeface="Verdana"/>
            </a:endParaRPr>
          </a:p>
          <a:p>
            <a:pPr marL="12700" marR="438150" algn="just">
              <a:lnSpc>
                <a:spcPct val="100800"/>
              </a:lnSpc>
              <a:spcBef>
                <a:spcPts val="465"/>
              </a:spcBef>
            </a:pPr>
            <a:r>
              <a:rPr sz="2250" b="1" spc="-5" dirty="0">
                <a:latin typeface="Verdana"/>
                <a:cs typeface="Verdana"/>
              </a:rPr>
              <a:t>Sign flag </a:t>
            </a:r>
            <a:r>
              <a:rPr sz="2250" spc="-5" dirty="0">
                <a:latin typeface="Verdana"/>
                <a:cs typeface="Verdana"/>
              </a:rPr>
              <a:t>— Set equal to the most-significant bit of the result, </a:t>
            </a:r>
            <a:r>
              <a:rPr sz="2250" spc="-78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which is the sign bit of a signed integer. (0 indicates a positive </a:t>
            </a:r>
            <a:r>
              <a:rPr sz="2250" spc="-78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value</a:t>
            </a:r>
            <a:r>
              <a:rPr sz="2250" spc="-1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and 1 indicates a negative value.)</a:t>
            </a:r>
            <a:endParaRPr sz="2250">
              <a:latin typeface="Verdana"/>
              <a:cs typeface="Verdana"/>
            </a:endParaRPr>
          </a:p>
          <a:p>
            <a:pPr marL="12700" marR="261620">
              <a:lnSpc>
                <a:spcPct val="100800"/>
              </a:lnSpc>
              <a:spcBef>
                <a:spcPts val="465"/>
              </a:spcBef>
            </a:pPr>
            <a:r>
              <a:rPr sz="2250" b="1" spc="-5" dirty="0">
                <a:latin typeface="Verdana"/>
                <a:cs typeface="Verdana"/>
              </a:rPr>
              <a:t>Overflow flag </a:t>
            </a:r>
            <a:r>
              <a:rPr sz="2250" spc="-5" dirty="0">
                <a:latin typeface="Verdana"/>
                <a:cs typeface="Verdana"/>
              </a:rPr>
              <a:t>—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Set if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the integer result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is too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large a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positive </a:t>
            </a:r>
            <a:r>
              <a:rPr sz="2250" spc="-78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number or too small a negative number (excluding the sign-bit) </a:t>
            </a:r>
            <a:r>
              <a:rPr sz="2250" spc="-78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to fit in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the destination operand;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cleared otherwise.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This flag 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indicates an overflow condition for signed-integer (two’s </a:t>
            </a:r>
            <a:r>
              <a:rPr sz="225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complement)</a:t>
            </a:r>
            <a:r>
              <a:rPr sz="2250" spc="-10" dirty="0">
                <a:latin typeface="Verdana"/>
                <a:cs typeface="Verdana"/>
              </a:rPr>
              <a:t> </a:t>
            </a:r>
            <a:r>
              <a:rPr sz="2250" spc="-5" dirty="0">
                <a:latin typeface="Verdana"/>
                <a:cs typeface="Verdana"/>
              </a:rPr>
              <a:t>arithmetic.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5313" y="9563208"/>
            <a:ext cx="3251200" cy="539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29235" indent="-216535">
              <a:lnSpc>
                <a:spcPct val="100000"/>
              </a:lnSpc>
              <a:spcBef>
                <a:spcPts val="120"/>
              </a:spcBef>
              <a:buChar char="•"/>
              <a:tabLst>
                <a:tab pos="229235" algn="l"/>
              </a:tabLst>
            </a:pPr>
            <a:r>
              <a:rPr sz="3350" u="heavy" spc="2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2"/>
              </a:rPr>
              <a:t>FLAGS-register</a:t>
            </a:r>
            <a:endParaRPr sz="3350" dirty="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6877" y="2150021"/>
            <a:ext cx="9441114" cy="79421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16FA-06FC-47A1-A82B-7A6A37726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655" y="821620"/>
            <a:ext cx="9080995" cy="2123658"/>
          </a:xfrm>
        </p:spPr>
        <p:txBody>
          <a:bodyPr/>
          <a:lstStyle/>
          <a:p>
            <a:r>
              <a:rPr lang="ru-RU" dirty="0"/>
              <a:t>Условные переходы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1A6AA-363C-48D8-90FC-450FF37DF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2731761"/>
            <a:ext cx="17951555" cy="7755969"/>
          </a:xfrm>
        </p:spPr>
        <p:txBody>
          <a:bodyPr/>
          <a:lstStyle/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jz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  label 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/* </a:t>
            </a:r>
            <a:r>
              <a:rPr lang="ru-RU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переход, если равно (нуль),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ZF == 1 */</a:t>
            </a: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jnz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 label  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ru-RU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переход, если не равно (не нуль),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ZF == 0 */</a:t>
            </a: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jc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  label  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ru-RU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переход, если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CF == 1 */</a:t>
            </a: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jnc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 label  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ru-RU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переход, если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CF == 0 */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jo      label  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ru-RU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переход, если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== 1 */</a:t>
            </a: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jno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 label  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ru-RU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переход, если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== 0 */</a:t>
            </a: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jg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  label  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ru-RU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переход, если больше для знаковых чисел */</a:t>
            </a: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jge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 label  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ru-RU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переход, если &gt;= для знаковых чисел */</a:t>
            </a: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jl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  label  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ru-RU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переход, если &lt; для знаковых чисел */</a:t>
            </a: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jle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 label  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ru-RU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переход, если &lt;= для знаковых чисел */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ja      label  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ru-RU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переход, если &gt; для беззнаковых чисел */</a:t>
            </a: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jae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 label  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ru-RU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переход, если &gt;= (беззнаковый) */</a:t>
            </a: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jb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  label  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ru-RU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переход, если &lt; (беззнаковый) */</a:t>
            </a: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jbe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    label   </a:t>
            </a:r>
            <a:r>
              <a:rPr lang="en-US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</a:t>
            </a:r>
            <a:r>
              <a:rPr lang="ru-RU" sz="3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переход, если &lt;= (беззнаковый) */</a:t>
            </a:r>
          </a:p>
        </p:txBody>
      </p:sp>
    </p:spTree>
    <p:extLst>
      <p:ext uri="{BB962C8B-B14F-4D97-AF65-F5344CB8AC3E}">
        <p14:creationId xmlns:p14="http://schemas.microsoft.com/office/powerpoint/2010/main" val="2715120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D9C1-4101-41C9-9C8C-402F6F253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frame</a:t>
            </a:r>
            <a:endParaRPr lang="ru-RU" dirty="0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3C7F3E73-4537-464C-AA0E-3FEB46ACD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14" y="3599897"/>
            <a:ext cx="8295072" cy="4930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5E8CF7-F20D-4ED4-97C7-4A6E9CECD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2049" y="2263775"/>
            <a:ext cx="6334994" cy="23622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B8D0AB-849A-4FAD-8B16-2068C9613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1250" y="6170371"/>
            <a:ext cx="7163196" cy="220667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5517EF-0B58-4A47-8D41-642390D41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1250" y="9370827"/>
            <a:ext cx="7281432" cy="12952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24B624F-35AF-4487-A348-C3B5401673DC}"/>
              </a:ext>
            </a:extLst>
          </p:cNvPr>
          <p:cNvSpPr txBox="1"/>
          <p:nvPr/>
        </p:nvSpPr>
        <p:spPr>
          <a:xfrm>
            <a:off x="11694048" y="8337689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*код функции*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7E0EBA7-E377-497C-96D3-B6F2682478C9}"/>
              </a:ext>
            </a:extLst>
          </p:cNvPr>
          <p:cNvSpPr/>
          <p:nvPr/>
        </p:nvSpPr>
        <p:spPr>
          <a:xfrm>
            <a:off x="9463272" y="3890075"/>
            <a:ext cx="858599" cy="2510725"/>
          </a:xfrm>
          <a:custGeom>
            <a:avLst/>
            <a:gdLst>
              <a:gd name="connsiteX0" fmla="*/ 858599 w 858599"/>
              <a:gd name="connsiteY0" fmla="*/ 0 h 2510725"/>
              <a:gd name="connsiteX1" fmla="*/ 6192 w 858599"/>
              <a:gd name="connsiteY1" fmla="*/ 1162372 h 2510725"/>
              <a:gd name="connsiteX2" fmla="*/ 486640 w 858599"/>
              <a:gd name="connsiteY2" fmla="*/ 2510725 h 251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8599" h="2510725">
                <a:moveTo>
                  <a:pt x="858599" y="0"/>
                </a:moveTo>
                <a:cubicBezTo>
                  <a:pt x="463392" y="371959"/>
                  <a:pt x="68185" y="743918"/>
                  <a:pt x="6192" y="1162372"/>
                </a:cubicBezTo>
                <a:cubicBezTo>
                  <a:pt x="-55801" y="1580826"/>
                  <a:pt x="365237" y="2319579"/>
                  <a:pt x="486640" y="2510725"/>
                </a:cubicBezTo>
              </a:path>
            </a:pathLst>
          </a:custGeom>
          <a:noFill/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DBC527-F17C-456F-9156-01B1394644F1}"/>
              </a:ext>
            </a:extLst>
          </p:cNvPr>
          <p:cNvSpPr txBox="1"/>
          <p:nvPr/>
        </p:nvSpPr>
        <p:spPr>
          <a:xfrm>
            <a:off x="16418147" y="2724844"/>
            <a:ext cx="28541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Второй аргумент</a:t>
            </a:r>
          </a:p>
          <a:p>
            <a:pPr algn="ctr"/>
            <a:r>
              <a:rPr lang="ru-RU" sz="2800" dirty="0"/>
              <a:t>Первый аргумент</a:t>
            </a:r>
          </a:p>
          <a:p>
            <a:pPr algn="ctr"/>
            <a:r>
              <a:rPr lang="ru-RU" sz="2800" dirty="0"/>
              <a:t>Вызов функции</a:t>
            </a:r>
          </a:p>
          <a:p>
            <a:pPr algn="ctr"/>
            <a:r>
              <a:rPr lang="ru-RU" sz="2800" dirty="0"/>
              <a:t>Возвращаемое значение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27CD67-65E6-4BA3-A1BD-EC7645BB2A6C}"/>
              </a:ext>
            </a:extLst>
          </p:cNvPr>
          <p:cNvSpPr/>
          <p:nvPr/>
        </p:nvSpPr>
        <p:spPr>
          <a:xfrm>
            <a:off x="10052049" y="2724845"/>
            <a:ext cx="9220201" cy="5143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81A542-45F6-42ED-BBB5-0FC4B7E4E429}"/>
              </a:ext>
            </a:extLst>
          </p:cNvPr>
          <p:cNvSpPr/>
          <p:nvPr/>
        </p:nvSpPr>
        <p:spPr>
          <a:xfrm>
            <a:off x="10061089" y="3239147"/>
            <a:ext cx="9220201" cy="360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20AFB4-59E4-4750-9FB8-5D010C2AA5B3}"/>
              </a:ext>
            </a:extLst>
          </p:cNvPr>
          <p:cNvSpPr/>
          <p:nvPr/>
        </p:nvSpPr>
        <p:spPr>
          <a:xfrm>
            <a:off x="10061089" y="3599897"/>
            <a:ext cx="9220201" cy="5143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0950AC-E202-4AC6-9BE9-C5EC29F03821}"/>
              </a:ext>
            </a:extLst>
          </p:cNvPr>
          <p:cNvSpPr/>
          <p:nvPr/>
        </p:nvSpPr>
        <p:spPr>
          <a:xfrm>
            <a:off x="10061089" y="4102785"/>
            <a:ext cx="9220201" cy="8688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BD31A8-78EC-4BF4-92AC-C6A7A002A1D4}"/>
              </a:ext>
            </a:extLst>
          </p:cNvPr>
          <p:cNvSpPr/>
          <p:nvPr/>
        </p:nvSpPr>
        <p:spPr>
          <a:xfrm>
            <a:off x="9941250" y="6613024"/>
            <a:ext cx="9940600" cy="8688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AE0EA72-51DF-4038-89DC-170ED5C00914}"/>
              </a:ext>
            </a:extLst>
          </p:cNvPr>
          <p:cNvSpPr/>
          <p:nvPr/>
        </p:nvSpPr>
        <p:spPr>
          <a:xfrm>
            <a:off x="9941250" y="8980165"/>
            <a:ext cx="9940600" cy="8444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9704A0-A2A7-4F9A-99DD-4E5CA1BBE3E5}"/>
              </a:ext>
            </a:extLst>
          </p:cNvPr>
          <p:cNvSpPr/>
          <p:nvPr/>
        </p:nvSpPr>
        <p:spPr>
          <a:xfrm>
            <a:off x="9941250" y="9819438"/>
            <a:ext cx="9940600" cy="8688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58D764-490B-4C66-AD70-B46C2827018D}"/>
              </a:ext>
            </a:extLst>
          </p:cNvPr>
          <p:cNvSpPr txBox="1"/>
          <p:nvPr/>
        </p:nvSpPr>
        <p:spPr>
          <a:xfrm>
            <a:off x="17085181" y="6773493"/>
            <a:ext cx="2779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Пролог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1DBD64-8A34-4777-BF90-758274C9CB94}"/>
              </a:ext>
            </a:extLst>
          </p:cNvPr>
          <p:cNvSpPr txBox="1"/>
          <p:nvPr/>
        </p:nvSpPr>
        <p:spPr>
          <a:xfrm>
            <a:off x="17222682" y="8868856"/>
            <a:ext cx="26422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Возвращаемое значение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D993CE-EF87-4B43-96EF-7204CB529F57}"/>
              </a:ext>
            </a:extLst>
          </p:cNvPr>
          <p:cNvSpPr txBox="1"/>
          <p:nvPr/>
        </p:nvSpPr>
        <p:spPr>
          <a:xfrm flipH="1">
            <a:off x="725169" y="10225926"/>
            <a:ext cx="3611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hlinkClick r:id="rId6"/>
              </a:rPr>
              <a:t>Пример</a:t>
            </a:r>
            <a:endParaRPr lang="ru-RU" sz="3200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5194A12-23F3-4560-8C74-527DC60E8A1F}"/>
              </a:ext>
            </a:extLst>
          </p:cNvPr>
          <p:cNvSpPr/>
          <p:nvPr/>
        </p:nvSpPr>
        <p:spPr>
          <a:xfrm>
            <a:off x="8956571" y="4432515"/>
            <a:ext cx="2341693" cy="6059838"/>
          </a:xfrm>
          <a:custGeom>
            <a:avLst/>
            <a:gdLst>
              <a:gd name="connsiteX0" fmla="*/ 2341693 w 2341693"/>
              <a:gd name="connsiteY0" fmla="*/ 6059838 h 6059838"/>
              <a:gd name="connsiteX1" fmla="*/ 16948 w 2341693"/>
              <a:gd name="connsiteY1" fmla="*/ 2107770 h 6059838"/>
              <a:gd name="connsiteX2" fmla="*/ 1334304 w 2341693"/>
              <a:gd name="connsiteY2" fmla="*/ 0 h 605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1693" h="6059838">
                <a:moveTo>
                  <a:pt x="2341693" y="6059838"/>
                </a:moveTo>
                <a:cubicBezTo>
                  <a:pt x="1263269" y="4588790"/>
                  <a:pt x="184846" y="3117743"/>
                  <a:pt x="16948" y="2107770"/>
                </a:cubicBezTo>
                <a:cubicBezTo>
                  <a:pt x="-150950" y="1097797"/>
                  <a:pt x="975260" y="297051"/>
                  <a:pt x="1334304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00878DE-5275-4ADF-AAD9-968EE8488EDD}"/>
              </a:ext>
            </a:extLst>
          </p:cNvPr>
          <p:cNvCxnSpPr/>
          <p:nvPr/>
        </p:nvCxnSpPr>
        <p:spPr>
          <a:xfrm flipH="1">
            <a:off x="9823014" y="3890075"/>
            <a:ext cx="498857" cy="5424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7E03513-46CE-4D6C-BB19-9BA20F4F298F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9787015" y="4432515"/>
            <a:ext cx="503860" cy="4836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7E6666D-BE29-4B78-B949-43114AF8FD68}"/>
              </a:ext>
            </a:extLst>
          </p:cNvPr>
          <p:cNvCxnSpPr>
            <a:cxnSpLocks/>
          </p:cNvCxnSpPr>
          <p:nvPr/>
        </p:nvCxnSpPr>
        <p:spPr>
          <a:xfrm>
            <a:off x="9671050" y="5892402"/>
            <a:ext cx="270200" cy="57539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5160C27-B865-476C-94BA-463FD4217F71}"/>
              </a:ext>
            </a:extLst>
          </p:cNvPr>
          <p:cNvCxnSpPr>
            <a:cxnSpLocks/>
          </p:cNvCxnSpPr>
          <p:nvPr/>
        </p:nvCxnSpPr>
        <p:spPr>
          <a:xfrm flipH="1" flipV="1">
            <a:off x="10791848" y="9819438"/>
            <a:ext cx="499350" cy="6988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2CB44B2B-B7A4-4BBE-B8FB-4DBE0B7FA7EE}"/>
              </a:ext>
            </a:extLst>
          </p:cNvPr>
          <p:cNvSpPr/>
          <p:nvPr/>
        </p:nvSpPr>
        <p:spPr>
          <a:xfrm>
            <a:off x="9941250" y="6170371"/>
            <a:ext cx="9940600" cy="45178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2F05395-89C7-42F2-B9A8-537F0EA8B5FF}"/>
              </a:ext>
            </a:extLst>
          </p:cNvPr>
          <p:cNvSpPr/>
          <p:nvPr/>
        </p:nvSpPr>
        <p:spPr>
          <a:xfrm>
            <a:off x="10061089" y="2263775"/>
            <a:ext cx="9211161" cy="270783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E8759B-74C8-41E9-A267-2588E426EB4D}"/>
              </a:ext>
            </a:extLst>
          </p:cNvPr>
          <p:cNvSpPr txBox="1"/>
          <p:nvPr/>
        </p:nvSpPr>
        <p:spPr>
          <a:xfrm>
            <a:off x="17900107" y="9964316"/>
            <a:ext cx="1258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Эпилог</a:t>
            </a:r>
          </a:p>
        </p:txBody>
      </p:sp>
    </p:spTree>
    <p:extLst>
      <p:ext uri="{BB962C8B-B14F-4D97-AF65-F5344CB8AC3E}">
        <p14:creationId xmlns:p14="http://schemas.microsoft.com/office/powerpoint/2010/main" val="4204110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7722" y="832090"/>
            <a:ext cx="796925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" dirty="0"/>
              <a:t>C</a:t>
            </a:r>
            <a:r>
              <a:rPr spc="-95" dirty="0"/>
              <a:t>a</a:t>
            </a:r>
            <a:r>
              <a:rPr spc="-190" dirty="0"/>
              <a:t>ll</a:t>
            </a:r>
            <a:r>
              <a:rPr spc="-185" dirty="0"/>
              <a:t>i</a:t>
            </a:r>
            <a:r>
              <a:rPr spc="-170" dirty="0"/>
              <a:t>n</a:t>
            </a:r>
            <a:r>
              <a:rPr spc="185" dirty="0"/>
              <a:t>g</a:t>
            </a:r>
            <a:r>
              <a:rPr spc="-800" dirty="0"/>
              <a:t> </a:t>
            </a:r>
            <a:r>
              <a:rPr spc="-45" dirty="0"/>
              <a:t>c</a:t>
            </a:r>
            <a:r>
              <a:rPr spc="-160" dirty="0"/>
              <a:t>o</a:t>
            </a:r>
            <a:r>
              <a:rPr spc="-254" dirty="0"/>
              <a:t>n</a:t>
            </a:r>
            <a:r>
              <a:rPr spc="-250" dirty="0"/>
              <a:t>v</a:t>
            </a:r>
            <a:r>
              <a:rPr spc="15" dirty="0"/>
              <a:t>e</a:t>
            </a:r>
            <a:r>
              <a:rPr spc="-170" dirty="0"/>
              <a:t>n</a:t>
            </a:r>
            <a:r>
              <a:rPr spc="100" dirty="0"/>
              <a:t>t</a:t>
            </a:r>
            <a:r>
              <a:rPr spc="-185" dirty="0"/>
              <a:t>i</a:t>
            </a:r>
            <a:r>
              <a:rPr spc="-160" dirty="0"/>
              <a:t>o</a:t>
            </a:r>
            <a:r>
              <a:rPr spc="-170" dirty="0"/>
              <a:t>n</a:t>
            </a:r>
            <a:r>
              <a:rPr spc="-36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0450" y="7135975"/>
            <a:ext cx="8353425" cy="4040850"/>
          </a:xfrm>
          <a:prstGeom prst="rect">
            <a:avLst/>
          </a:prstGeom>
        </p:spPr>
        <p:txBody>
          <a:bodyPr vert="horz" wrap="square" lIns="0" tIns="33401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30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45" dirty="0">
                <a:latin typeface="Lucida Sans Unicode"/>
                <a:cs typeface="Lucida Sans Unicode"/>
              </a:rPr>
              <a:t>Разные</a:t>
            </a:r>
            <a:r>
              <a:rPr sz="3950" spc="-215" dirty="0">
                <a:latin typeface="Lucida Sans Unicode"/>
                <a:cs typeface="Lucida Sans Unicode"/>
              </a:rPr>
              <a:t> </a:t>
            </a:r>
            <a:r>
              <a:rPr sz="3950" spc="-85" dirty="0">
                <a:latin typeface="Lucida Sans Unicode"/>
                <a:cs typeface="Lucida Sans Unicode"/>
              </a:rPr>
              <a:t>виды</a:t>
            </a:r>
            <a:r>
              <a:rPr sz="3950" spc="-215" dirty="0">
                <a:latin typeface="Lucida Sans Unicode"/>
                <a:cs typeface="Lucida Sans Unicode"/>
              </a:rPr>
              <a:t> </a:t>
            </a:r>
            <a:r>
              <a:rPr sz="3950" u="heavy" spc="1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2"/>
              </a:rPr>
              <a:t>calling</a:t>
            </a:r>
            <a:r>
              <a:rPr sz="3950" u="heavy" spc="-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3950" u="heavy" spc="14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2"/>
              </a:rPr>
              <a:t>conventions</a:t>
            </a:r>
            <a:endParaRPr sz="3950" dirty="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u="heavy" spc="65" dirty="0" err="1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SystemV</a:t>
            </a:r>
            <a:r>
              <a:rPr sz="3950" u="heavy" spc="-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3950" u="heavy" spc="-5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ABI</a:t>
            </a:r>
            <a:endParaRPr lang="en-US" sz="3950" u="heavy" spc="-50" dirty="0">
              <a:uFill>
                <a:solidFill>
                  <a:srgbClr val="000000"/>
                </a:solidFill>
              </a:uFill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Char char="•"/>
              <a:tabLst>
                <a:tab pos="473075" algn="l"/>
                <a:tab pos="473709" algn="l"/>
              </a:tabLst>
            </a:pPr>
            <a:r>
              <a:rPr lang="en-US" sz="4000" dirty="0">
                <a:solidFill>
                  <a:srgbClr val="202122"/>
                </a:solidFill>
                <a:latin typeface="Arial" panose="020B0604020202020204" pitchFamily="34" charset="0"/>
              </a:rPr>
              <a:t>T</a:t>
            </a:r>
            <a:r>
              <a:rPr lang="en-US" sz="4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he stack is additionally 16-byte aligned just before the call instruction is called.</a:t>
            </a:r>
            <a:endParaRPr sz="395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58161" y="1759719"/>
            <a:ext cx="8221595" cy="94115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84450" y="2322807"/>
            <a:ext cx="6047606" cy="48131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479" y="832090"/>
            <a:ext cx="511746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" dirty="0"/>
              <a:t>gd</a:t>
            </a:r>
            <a:r>
              <a:rPr spc="190" dirty="0"/>
              <a:t>b</a:t>
            </a:r>
            <a:r>
              <a:rPr spc="-800" dirty="0"/>
              <a:t> </a:t>
            </a:r>
            <a:r>
              <a:rPr spc="-85" dirty="0"/>
              <a:t>f</a:t>
            </a:r>
            <a:r>
              <a:rPr spc="50" dirty="0"/>
              <a:t>e</a:t>
            </a:r>
            <a:r>
              <a:rPr spc="-160" dirty="0"/>
              <a:t>a</a:t>
            </a:r>
            <a:r>
              <a:rPr spc="-40" dirty="0"/>
              <a:t>tu</a:t>
            </a:r>
            <a:r>
              <a:rPr spc="-135" dirty="0"/>
              <a:t>r</a:t>
            </a:r>
            <a:r>
              <a:rPr spc="50" dirty="0"/>
              <a:t>e</a:t>
            </a:r>
            <a:r>
              <a:rPr spc="-36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81021"/>
            <a:ext cx="12252378" cy="6356868"/>
          </a:xfrm>
          <a:prstGeom prst="rect">
            <a:avLst/>
          </a:prstGeom>
        </p:spPr>
        <p:txBody>
          <a:bodyPr vert="horz" wrap="square" lIns="0" tIns="33147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10"/>
              </a:spcBef>
              <a:buChar char="•"/>
              <a:tabLst>
                <a:tab pos="473075" algn="l"/>
                <a:tab pos="473709" algn="l"/>
              </a:tabLst>
            </a:pPr>
            <a:r>
              <a:rPr sz="4400" spc="85" dirty="0">
                <a:latin typeface="Arial" panose="020B0604020202020204" pitchFamily="34" charset="0"/>
                <a:cs typeface="Arial" panose="020B0604020202020204" pitchFamily="34" charset="0"/>
              </a:rPr>
              <a:t>i(nfo)</a:t>
            </a:r>
            <a:r>
              <a:rPr sz="4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95" dirty="0">
                <a:latin typeface="Arial" panose="020B0604020202020204" pitchFamily="34" charset="0"/>
                <a:cs typeface="Arial" panose="020B0604020202020204" pitchFamily="34" charset="0"/>
              </a:rPr>
              <a:t>r(egister)</a:t>
            </a:r>
            <a:r>
              <a:rPr sz="44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25" dirty="0">
                <a:latin typeface="Arial" panose="020B0604020202020204" pitchFamily="34" charset="0"/>
                <a:cs typeface="Arial" panose="020B0604020202020204" pitchFamily="34" charset="0"/>
              </a:rPr>
              <a:t>(rax)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20"/>
              </a:spcBef>
              <a:buChar char="•"/>
              <a:tabLst>
                <a:tab pos="473075" algn="l"/>
                <a:tab pos="473709" algn="l"/>
              </a:tabLst>
            </a:pPr>
            <a:r>
              <a:rPr sz="4400" spc="28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4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80" dirty="0">
                <a:latin typeface="Arial" panose="020B0604020202020204" pitchFamily="34" charset="0"/>
                <a:cs typeface="Arial" panose="020B0604020202020204" pitchFamily="34" charset="0"/>
              </a:rPr>
              <a:t>$eflags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15"/>
              </a:spcBef>
              <a:buChar char="•"/>
              <a:tabLst>
                <a:tab pos="473075" algn="l"/>
                <a:tab pos="473709" algn="l"/>
              </a:tabLst>
            </a:pPr>
            <a:r>
              <a:rPr sz="4400" spc="11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sz="44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210" dirty="0">
                <a:latin typeface="Arial" panose="020B0604020202020204" pitchFamily="34" charset="0"/>
                <a:cs typeface="Arial" panose="020B0604020202020204" pitchFamily="34" charset="0"/>
              </a:rPr>
              <a:t>/nfu</a:t>
            </a:r>
            <a:r>
              <a:rPr sz="44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70" dirty="0" err="1">
                <a:latin typeface="Arial" panose="020B0604020202020204" pitchFamily="34" charset="0"/>
                <a:cs typeface="Arial" panose="020B0604020202020204" pitchFamily="34" charset="0"/>
              </a:rPr>
              <a:t>addr</a:t>
            </a:r>
            <a:r>
              <a:rPr sz="44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5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4400" spc="-50" dirty="0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sz="4400" spc="-5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44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85" dirty="0">
                <a:latin typeface="Arial" panose="020B0604020202020204" pitchFamily="34" charset="0"/>
                <a:cs typeface="Arial" panose="020B0604020202020204" pitchFamily="34" charset="0"/>
              </a:rPr>
              <a:t>x/3uh</a:t>
            </a:r>
            <a:r>
              <a:rPr sz="44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90" dirty="0">
                <a:latin typeface="Arial" panose="020B0604020202020204" pitchFamily="34" charset="0"/>
                <a:cs typeface="Arial" panose="020B0604020202020204" pitchFamily="34" charset="0"/>
              </a:rPr>
              <a:t>0x54320)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Char char="•"/>
              <a:tabLst>
                <a:tab pos="473075" algn="l"/>
                <a:tab pos="473709" algn="l"/>
              </a:tabLst>
            </a:pPr>
            <a:r>
              <a:rPr sz="4400" spc="145" dirty="0">
                <a:latin typeface="Arial" panose="020B0604020202020204" pitchFamily="34" charset="0"/>
                <a:cs typeface="Arial" panose="020B0604020202020204" pitchFamily="34" charset="0"/>
              </a:rPr>
              <a:t>~/.</a:t>
            </a:r>
            <a:r>
              <a:rPr sz="4400" spc="145" dirty="0" err="1">
                <a:latin typeface="Arial" panose="020B0604020202020204" pitchFamily="34" charset="0"/>
                <a:cs typeface="Arial" panose="020B0604020202020204" pitchFamily="34" charset="0"/>
              </a:rPr>
              <a:t>gdbinit</a:t>
            </a:r>
            <a:r>
              <a:rPr lang="ru-RU" sz="4400" spc="-35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4400" spc="-35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настройки </a:t>
            </a:r>
            <a:r>
              <a:rPr lang="en-US" sz="4400" spc="-35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gdb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Char char="•"/>
              <a:tabLst>
                <a:tab pos="473075" algn="l"/>
                <a:tab pos="473709" algn="l"/>
              </a:tabLst>
            </a:pPr>
            <a:r>
              <a:rPr sz="4400" spc="90" dirty="0"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70" dirty="0">
                <a:latin typeface="Arial" panose="020B0604020202020204" pitchFamily="34" charset="0"/>
                <a:cs typeface="Arial" panose="020B0604020202020204" pitchFamily="34" charset="0"/>
              </a:rPr>
              <a:t>disassembly-flavor</a:t>
            </a:r>
            <a:r>
              <a:rPr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45" dirty="0">
                <a:latin typeface="Arial" panose="020B0604020202020204" pitchFamily="34" charset="0"/>
                <a:cs typeface="Arial" panose="020B0604020202020204" pitchFamily="34" charset="0"/>
              </a:rPr>
              <a:t>intel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Microsoft Sans Serif"/>
              <a:buChar char="•"/>
            </a:pPr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ru-RU" sz="4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Форматы чтения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0043A-4182-432D-97C9-86239BCF3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8051" y="1004276"/>
            <a:ext cx="4127995" cy="1081405"/>
          </a:xfrm>
        </p:spPr>
        <p:txBody>
          <a:bodyPr/>
          <a:lstStyle/>
          <a:p>
            <a:r>
              <a:rPr lang="en-US" dirty="0" err="1"/>
              <a:t>Intrinsics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8DB66-4535-49EB-893A-1C003ADDD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3" y="3281021"/>
            <a:ext cx="10423578" cy="3211854"/>
          </a:xfrm>
        </p:spPr>
        <p:txBody>
          <a:bodyPr/>
          <a:lstStyle/>
          <a:p>
            <a:r>
              <a:rPr lang="pt-BR" sz="4400" b="1" u="sng" dirty="0"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__m256 r1 = _mm256_load_ps(a + i);</a:t>
            </a:r>
          </a:p>
          <a:p>
            <a:r>
              <a:rPr lang="pt-BR" sz="4400" b="1" u="sng" dirty="0"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__m256 r2 = _mm256_load_ps(b + i);</a:t>
            </a:r>
          </a:p>
          <a:p>
            <a:r>
              <a:rPr lang="pt-BR" sz="4400" b="1" u="sng" dirty="0"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__m256 r3 = _mm256_add_ps(r1, r2);</a:t>
            </a:r>
            <a:endParaRPr lang="en-US" sz="4400" b="1" u="sng" dirty="0">
              <a:latin typeface="Arial" panose="020B0604020202020204" pitchFamily="34" charset="0"/>
              <a:cs typeface="Arial" panose="020B0604020202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4400" dirty="0">
              <a:solidFill>
                <a:srgbClr val="800080"/>
              </a:solidFill>
              <a:latin typeface="Arial" panose="020B0604020202020204" pitchFamily="34" charset="0"/>
              <a:cs typeface="Arial" panose="020B0604020202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4400" dirty="0">
              <a:solidFill>
                <a:srgbClr val="800080"/>
              </a:solidFill>
              <a:latin typeface="Arial" panose="020B0604020202020204" pitchFamily="34" charset="0"/>
              <a:cs typeface="Arial" panose="020B0604020202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4400" dirty="0">
              <a:solidFill>
                <a:srgbClr val="800080"/>
              </a:solidFill>
              <a:latin typeface="Arial" panose="020B0604020202020204" pitchFamily="34" charset="0"/>
              <a:cs typeface="Arial" panose="020B0604020202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4400" dirty="0">
              <a:solidFill>
                <a:srgbClr val="800080"/>
              </a:solidFill>
              <a:latin typeface="Arial" panose="020B0604020202020204" pitchFamily="34" charset="0"/>
              <a:cs typeface="Arial" panose="020B0604020202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4400" dirty="0">
              <a:solidFill>
                <a:srgbClr val="800080"/>
              </a:solidFill>
              <a:latin typeface="Arial" panose="020B0604020202020204" pitchFamily="34" charset="0"/>
              <a:cs typeface="Arial" panose="020B0604020202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ru-RU" sz="4400" dirty="0">
                <a:solidFill>
                  <a:srgbClr val="80008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Гайд по </a:t>
            </a:r>
            <a:r>
              <a:rPr lang="ru-RU" sz="4400" dirty="0" err="1">
                <a:solidFill>
                  <a:srgbClr val="80008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интринсикам</a:t>
            </a:r>
            <a:endParaRPr lang="ru-RU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127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54" dirty="0"/>
              <a:t>Чт</a:t>
            </a:r>
            <a:r>
              <a:rPr spc="-45" dirty="0"/>
              <a:t>о</a:t>
            </a:r>
            <a:r>
              <a:rPr spc="-800" dirty="0"/>
              <a:t> </a:t>
            </a:r>
            <a:r>
              <a:rPr spc="-215" dirty="0"/>
              <a:t>посмотреть</a:t>
            </a:r>
            <a:r>
              <a:rPr spc="-535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81021"/>
            <a:ext cx="10347378" cy="2799484"/>
          </a:xfrm>
          <a:prstGeom prst="rect">
            <a:avLst/>
          </a:prstGeom>
        </p:spPr>
        <p:txBody>
          <a:bodyPr vert="horz" wrap="square" lIns="0" tIns="33147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10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12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2"/>
              </a:rPr>
              <a:t>Intel</a:t>
            </a:r>
            <a:r>
              <a:rPr sz="3950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3950" spc="16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2"/>
              </a:rPr>
              <a:t>Architecture</a:t>
            </a:r>
            <a:r>
              <a:rPr sz="3950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3950" spc="6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2"/>
              </a:rPr>
              <a:t>Manual</a:t>
            </a:r>
            <a:r>
              <a:rPr sz="3950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3950" spc="-9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2"/>
              </a:rPr>
              <a:t>vol.1</a:t>
            </a:r>
            <a:endParaRPr sz="3950" dirty="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20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12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Intel</a:t>
            </a:r>
            <a:r>
              <a:rPr sz="3950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3950" spc="16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Architecture</a:t>
            </a:r>
            <a:r>
              <a:rPr sz="3950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3950" spc="6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Manual</a:t>
            </a:r>
            <a:r>
              <a:rPr lang="en-US" sz="3950" spc="6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 vol. 2</a:t>
            </a:r>
            <a:endParaRPr sz="3950" dirty="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1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8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4"/>
              </a:rPr>
              <a:t>nasm</a:t>
            </a:r>
            <a:r>
              <a:rPr sz="3950" spc="-4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sz="3950" spc="16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4"/>
              </a:rPr>
              <a:t>tutorial</a:t>
            </a:r>
            <a:endParaRPr sz="39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6F84-2470-49D2-B18C-6F4EA99AA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5651" y="1004276"/>
            <a:ext cx="4432795" cy="1081405"/>
          </a:xfrm>
        </p:spPr>
        <p:txBody>
          <a:bodyPr/>
          <a:lstStyle/>
          <a:p>
            <a:r>
              <a:rPr lang="en-US" dirty="0"/>
              <a:t>Pipelining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756462-7C82-4B28-934C-C5E8C5AE4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624" y="3063875"/>
            <a:ext cx="15620848" cy="3729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FBA1DD-90E1-4FE4-AA9E-976F1AC161C4}"/>
              </a:ext>
            </a:extLst>
          </p:cNvPr>
          <p:cNvSpPr txBox="1"/>
          <p:nvPr/>
        </p:nvSpPr>
        <p:spPr>
          <a:xfrm flipH="1">
            <a:off x="4680488" y="8428356"/>
            <a:ext cx="6727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i486 pipeline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365548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A6791-09DF-4E0E-A346-4E47A72DB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2AA43C-2BF2-4A2E-AC17-821908B72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044" y="2149475"/>
            <a:ext cx="15254011" cy="857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082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C0352-E0D8-4249-8745-CE39C99AD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A082DE1-2E37-4C32-8090-9725FEAB6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3281021"/>
            <a:ext cx="17951555" cy="6483350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DEE14-32A3-469C-B4E1-6D3AD56D9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48" y="153540"/>
            <a:ext cx="11277601" cy="52804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CCF0AD-D078-4D63-911A-CC2FA5CC8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449" y="5438774"/>
            <a:ext cx="11277600" cy="542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259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2E12F-D476-49AC-A09B-A2EE558C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851" y="701675"/>
            <a:ext cx="12496800" cy="2123658"/>
          </a:xfrm>
        </p:spPr>
        <p:txBody>
          <a:bodyPr/>
          <a:lstStyle/>
          <a:p>
            <a:pPr algn="ctr"/>
            <a:r>
              <a:rPr lang="en-US" dirty="0"/>
              <a:t>Pipeline stall/bubble</a:t>
            </a:r>
            <a:br>
              <a:rPr lang="ru-RU" dirty="0"/>
            </a:br>
            <a:r>
              <a:rPr lang="en-US" dirty="0"/>
              <a:t>(</a:t>
            </a:r>
            <a:r>
              <a:rPr lang="ru-RU" dirty="0"/>
              <a:t>простой </a:t>
            </a:r>
            <a:r>
              <a:rPr lang="ru-RU" dirty="0" err="1"/>
              <a:t>конвеера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D75A4-6275-4CFF-9330-E0D9081ED1EF}"/>
              </a:ext>
            </a:extLst>
          </p:cNvPr>
          <p:cNvSpPr txBox="1"/>
          <p:nvPr/>
        </p:nvSpPr>
        <p:spPr>
          <a:xfrm>
            <a:off x="8299450" y="3902075"/>
            <a:ext cx="2438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/>
              <a:t>xor</a:t>
            </a:r>
            <a:r>
              <a:rPr lang="en-US" sz="4800" dirty="0"/>
              <a:t> a, b</a:t>
            </a:r>
          </a:p>
          <a:p>
            <a:r>
              <a:rPr lang="en-US" sz="4800" dirty="0" err="1"/>
              <a:t>xor</a:t>
            </a:r>
            <a:r>
              <a:rPr lang="en-US" sz="4800" dirty="0"/>
              <a:t> b, a</a:t>
            </a:r>
          </a:p>
          <a:p>
            <a:r>
              <a:rPr lang="en-US" sz="4800" dirty="0" err="1"/>
              <a:t>xor</a:t>
            </a:r>
            <a:r>
              <a:rPr lang="en-US" sz="4800" dirty="0"/>
              <a:t> a, b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458706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90C3-5D82-4E63-B148-471456480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851" y="662078"/>
            <a:ext cx="3518395" cy="1081405"/>
          </a:xfrm>
        </p:spPr>
        <p:txBody>
          <a:bodyPr/>
          <a:lstStyle/>
          <a:p>
            <a:r>
              <a:rPr lang="en-US" dirty="0"/>
              <a:t>Bypass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3E4B3-58B9-456D-A58E-6D08DBB0E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CB255F-87E2-44E6-B6F6-EF6BECC17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367" y="1903025"/>
            <a:ext cx="12155365" cy="490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68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C77B8-285E-40B5-8E2B-42F5B3634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Bypass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702AB-3D6D-4604-98BC-5957A8A2D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DD7B9D-D13A-436C-8FA6-0A7253F20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765" y="3299479"/>
            <a:ext cx="16220570" cy="585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29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6B342-E9BD-4C4E-8E65-323B0B69D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654" y="483150"/>
            <a:ext cx="7036789" cy="2123658"/>
          </a:xfrm>
        </p:spPr>
        <p:txBody>
          <a:bodyPr/>
          <a:lstStyle/>
          <a:p>
            <a:r>
              <a:rPr lang="en-US" dirty="0"/>
              <a:t>Simple dynamic branch predictor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BEAEE-EA85-4431-A058-7BA9E1B89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429713-9DB2-466F-A316-045C794CE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476" y="3281021"/>
            <a:ext cx="12083148" cy="78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46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E587C-E52A-4C72-ABDB-061B28F91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751" y="1004276"/>
            <a:ext cx="4356595" cy="1081405"/>
          </a:xfrm>
        </p:spPr>
        <p:txBody>
          <a:bodyPr/>
          <a:lstStyle/>
          <a:p>
            <a:r>
              <a:rPr lang="en-US" dirty="0"/>
              <a:t>Branches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6953-5CAA-44AE-8B4E-6175B8535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3281021"/>
            <a:ext cx="17951555" cy="7386638"/>
          </a:xfrm>
        </p:spPr>
        <p:txBody>
          <a:bodyPr/>
          <a:lstStyle/>
          <a:p>
            <a:r>
              <a:rPr lang="en-US" sz="4000" dirty="0"/>
              <a:t>__</a:t>
            </a:r>
            <a:r>
              <a:rPr lang="en-US" sz="4000" dirty="0" err="1"/>
              <a:t>builtin_expect</a:t>
            </a:r>
            <a:r>
              <a:rPr lang="en-US" sz="4000" dirty="0"/>
              <a:t>(long expr, long expected) – </a:t>
            </a:r>
            <a:r>
              <a:rPr lang="ru-RU" sz="4000" dirty="0"/>
              <a:t>выполнится ли условие – </a:t>
            </a:r>
            <a:r>
              <a:rPr lang="en-US" sz="4000" dirty="0"/>
              <a:t>expected = 0 – </a:t>
            </a:r>
            <a:r>
              <a:rPr lang="ru-RU" sz="4000" dirty="0"/>
              <a:t>не выполнится</a:t>
            </a:r>
            <a:endParaRPr lang="en-US" sz="4000" dirty="0"/>
          </a:p>
          <a:p>
            <a:r>
              <a:rPr lang="en-US" sz="4000" dirty="0">
                <a:hlinkClick r:id="rId2"/>
              </a:rPr>
              <a:t>[[likely]] / [[unlikely]]</a:t>
            </a:r>
            <a:endParaRPr lang="en-US" sz="4000" dirty="0"/>
          </a:p>
          <a:p>
            <a:r>
              <a:rPr lang="en-US" sz="4000" dirty="0"/>
              <a:t> </a:t>
            </a:r>
            <a:r>
              <a:rPr lang="en-US" sz="4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4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4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4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(__</a:t>
            </a:r>
            <a:r>
              <a:rPr lang="en-US" sz="4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builtin_expect</a:t>
            </a:r>
            <a:r>
              <a:rPr lang="en-US" sz="4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(b(</a:t>
            </a:r>
            <a:r>
              <a:rPr lang="en-US" sz="4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4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4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4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4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sz="4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4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4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4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main true"</a:t>
            </a:r>
            <a:r>
              <a:rPr lang="en-US" sz="4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4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4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4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en-US" sz="4000" dirty="0"/>
          </a:p>
          <a:p>
            <a:r>
              <a:rPr lang="ru-RU" sz="4000" dirty="0"/>
              <a:t>Необходимо включить оптимизации хотя бы </a:t>
            </a:r>
            <a:r>
              <a:rPr lang="en-US" sz="4000" dirty="0">
                <a:hlinkClick r:id="rId3"/>
              </a:rPr>
              <a:t>–O1</a:t>
            </a:r>
            <a:endParaRPr lang="en-US" sz="4000" dirty="0"/>
          </a:p>
          <a:p>
            <a:r>
              <a:rPr lang="ru-RU" sz="4000" dirty="0">
                <a:hlinkClick r:id="rId4"/>
              </a:rPr>
              <a:t>Статья на </a:t>
            </a:r>
            <a:r>
              <a:rPr lang="ru-RU" sz="4000" dirty="0" err="1">
                <a:hlinkClick r:id="rId4"/>
              </a:rPr>
              <a:t>хабре</a:t>
            </a:r>
            <a:endParaRPr lang="en-US" sz="4000" dirty="0"/>
          </a:p>
          <a:p>
            <a:r>
              <a:rPr lang="ru-RU" sz="4000" dirty="0">
                <a:hlinkClick r:id="rId5"/>
              </a:rPr>
              <a:t>Перформанс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988058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7D498-26BC-4315-AD5D-526774A3C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units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64BFD-2FAB-4CB9-97DA-7655CCB8D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F045D7-5363-40F9-B108-DE0C1E79C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0" y="2374509"/>
            <a:ext cx="13944600" cy="811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4002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E90F3-4B3C-4C2F-BEFF-C5D8AC7B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Hazards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76FD-CE71-4C81-BA41-20C464420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3292475"/>
            <a:ext cx="17951555" cy="6483350"/>
          </a:xfrm>
        </p:spPr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CBD61-4E96-41D9-95D0-1FA6CC71E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51" y="2769802"/>
            <a:ext cx="11468776" cy="727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72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F959E-EFFB-43B6-9EA2-B86E8CF17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655" y="821620"/>
            <a:ext cx="9614395" cy="2123658"/>
          </a:xfrm>
        </p:spPr>
        <p:txBody>
          <a:bodyPr/>
          <a:lstStyle/>
          <a:p>
            <a:r>
              <a:rPr lang="en-US" dirty="0" err="1"/>
              <a:t>Tamasulo’s</a:t>
            </a:r>
            <a:r>
              <a:rPr lang="en-US" dirty="0"/>
              <a:t> algorithm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A57FC-99B5-44CD-9285-350D1F115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5DBFD9-E899-4FF3-8B02-FD1569080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650" y="2214483"/>
            <a:ext cx="12278407" cy="861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0317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AF53-68B7-4B7D-B01F-B7D3DEBD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655" y="821620"/>
            <a:ext cx="9080995" cy="1061829"/>
          </a:xfrm>
        </p:spPr>
        <p:txBody>
          <a:bodyPr/>
          <a:lstStyle/>
          <a:p>
            <a:r>
              <a:rPr lang="en-US" dirty="0"/>
              <a:t>Reservation stations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102F5-19B8-43BA-BFD1-8A1A44171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CF243F-6267-4B51-A05C-C7165DF8F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880" y="2835275"/>
            <a:ext cx="8624340" cy="790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6447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AF53-68B7-4B7D-B01F-B7D3DEBD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655" y="821620"/>
            <a:ext cx="9080995" cy="1061829"/>
          </a:xfrm>
        </p:spPr>
        <p:txBody>
          <a:bodyPr/>
          <a:lstStyle/>
          <a:p>
            <a:r>
              <a:rPr lang="en-US" dirty="0"/>
              <a:t>Reservation stations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102F5-19B8-43BA-BFD1-8A1A44171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51CF44-0764-4F2A-8D59-9BE540198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265" y="3063875"/>
            <a:ext cx="8177570" cy="765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93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AF53-68B7-4B7D-B01F-B7D3DEBD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655" y="821620"/>
            <a:ext cx="9080995" cy="1061829"/>
          </a:xfrm>
        </p:spPr>
        <p:txBody>
          <a:bodyPr/>
          <a:lstStyle/>
          <a:p>
            <a:r>
              <a:rPr lang="en-US" dirty="0"/>
              <a:t>Reservation stations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102F5-19B8-43BA-BFD1-8A1A44171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6F6436-CEF2-4203-A764-AB2C9EFA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552" y="2682875"/>
            <a:ext cx="9080995" cy="827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3597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1772-3E73-4D70-BFA5-12224ACFB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3051" y="854075"/>
            <a:ext cx="7937995" cy="1081405"/>
          </a:xfrm>
        </p:spPr>
        <p:txBody>
          <a:bodyPr/>
          <a:lstStyle/>
          <a:p>
            <a:r>
              <a:rPr lang="en-US" dirty="0"/>
              <a:t>Common Data Bus 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F266F-AEAE-4B3D-96BC-942FBBF25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8187F6-F737-4CA5-B49A-DC2178666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885" y="3140075"/>
            <a:ext cx="7582330" cy="758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691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1772-3E73-4D70-BFA5-12224ACFB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3051" y="854075"/>
            <a:ext cx="7937995" cy="1081405"/>
          </a:xfrm>
        </p:spPr>
        <p:txBody>
          <a:bodyPr/>
          <a:lstStyle/>
          <a:p>
            <a:r>
              <a:rPr lang="en-US" dirty="0"/>
              <a:t>Common Data Bus 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F266F-AEAE-4B3D-96BC-942FBBF25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9DF3B7-5B61-454F-9DAC-E088E4340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942" y="2682875"/>
            <a:ext cx="8106215" cy="789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9327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3092B-A683-4585-8FD5-9541B3FD6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151" y="854075"/>
            <a:ext cx="2527795" cy="1081405"/>
          </a:xfrm>
        </p:spPr>
        <p:txBody>
          <a:bodyPr/>
          <a:lstStyle/>
          <a:p>
            <a:r>
              <a:rPr lang="en-US" dirty="0"/>
              <a:t>Tags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63201-65F5-4A81-99F7-CCD52CE12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FEEA7-E745-4F02-8CFA-B1022C39C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645" y="2225675"/>
            <a:ext cx="8996810" cy="859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256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3092B-A683-4585-8FD5-9541B3FD6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151" y="854075"/>
            <a:ext cx="2527795" cy="1081405"/>
          </a:xfrm>
        </p:spPr>
        <p:txBody>
          <a:bodyPr/>
          <a:lstStyle/>
          <a:p>
            <a:r>
              <a:rPr lang="en-US" dirty="0"/>
              <a:t>Tags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63201-65F5-4A81-99F7-CCD52CE12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47968-BB08-40D4-A25B-E442E6226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689" y="2682875"/>
            <a:ext cx="12030722" cy="797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382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3092B-A683-4585-8FD5-9541B3FD6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151" y="854075"/>
            <a:ext cx="2527795" cy="1081405"/>
          </a:xfrm>
        </p:spPr>
        <p:txBody>
          <a:bodyPr/>
          <a:lstStyle/>
          <a:p>
            <a:r>
              <a:rPr lang="en-US" dirty="0"/>
              <a:t>Tags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63201-65F5-4A81-99F7-CCD52CE12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D3B41-1823-419D-B7EC-04968D195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057" y="3052557"/>
            <a:ext cx="11163986" cy="736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440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3092B-A683-4585-8FD5-9541B3FD6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151" y="854075"/>
            <a:ext cx="2527795" cy="1081405"/>
          </a:xfrm>
        </p:spPr>
        <p:txBody>
          <a:bodyPr/>
          <a:lstStyle/>
          <a:p>
            <a:r>
              <a:rPr lang="en-US" dirty="0"/>
              <a:t>Tags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63201-65F5-4A81-99F7-CCD52CE12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9FCF76-C238-4096-BE13-FE719E0CC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686" y="2995127"/>
            <a:ext cx="11684727" cy="743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81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8F961-9CDE-4F80-A9BE-A54975EE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2C7D9-6A58-45D3-ABEE-FB4BE9E14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4760" y="3992682"/>
            <a:ext cx="14614578" cy="166199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3600" b="0" i="0" u="none" strike="noStrike" baseline="0" dirty="0">
                <a:latin typeface="YandexSansText-Light"/>
              </a:rPr>
              <a:t>Сохранение семантики (RAW, WAR, WAW) благодаря </a:t>
            </a:r>
            <a:r>
              <a:rPr lang="en-US" sz="3600" b="0" i="0" u="none" strike="noStrike" baseline="0" dirty="0">
                <a:latin typeface="YandexSansText-Light"/>
              </a:rPr>
              <a:t>register renaming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3600" b="0" i="0" u="none" strike="noStrike" baseline="0" dirty="0">
                <a:latin typeface="YandexSansText-Light"/>
              </a:rPr>
              <a:t>Обработка исключений - с помощью ROB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3600" b="0" i="0" u="none" strike="noStrike" baseline="0" dirty="0">
                <a:latin typeface="YandexSansText-Light"/>
              </a:rPr>
              <a:t>Спекулятивное выполнение - с помощью </a:t>
            </a:r>
            <a:r>
              <a:rPr lang="en-US" sz="3600" b="0" i="0" u="none" strike="noStrike" baseline="0" dirty="0">
                <a:latin typeface="YandexSansText-Light"/>
              </a:rPr>
              <a:t>ROB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2517612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117E-6C0B-4511-88C4-B716656B8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655" y="821620"/>
            <a:ext cx="5499595" cy="1081405"/>
          </a:xfrm>
        </p:spPr>
        <p:txBody>
          <a:bodyPr/>
          <a:lstStyle/>
          <a:p>
            <a:r>
              <a:rPr lang="en-US" dirty="0"/>
              <a:t>Out-of-order</a:t>
            </a:r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0D91EEC-D6AD-401E-AE94-7C76917DA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3430" y="2225675"/>
            <a:ext cx="8377238" cy="8594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4100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1DCD-73A8-43A4-BEDC-3BC3D8950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6449" y="854075"/>
            <a:ext cx="13411200" cy="1061829"/>
          </a:xfrm>
        </p:spPr>
        <p:txBody>
          <a:bodyPr/>
          <a:lstStyle/>
          <a:p>
            <a:r>
              <a:rPr lang="en-US" dirty="0"/>
              <a:t>Out-of-order + Hyper-Threading</a:t>
            </a:r>
            <a:endParaRPr lang="ru-RU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5C7E5800-E9A0-485A-BFAC-DBE325FF0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49" y="1936945"/>
            <a:ext cx="10515600" cy="8859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017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0191-BB43-4416-A1D7-8F62B52E4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4C261-62F8-4662-9C46-F98D0F32E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000FF0-7343-4207-BD63-430D0FEA4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850" y="287967"/>
            <a:ext cx="9428397" cy="1073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550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1CF4-FE3F-4B5A-9E09-8045AB062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451" y="777875"/>
            <a:ext cx="6109195" cy="1081405"/>
          </a:xfrm>
        </p:spPr>
        <p:txBody>
          <a:bodyPr/>
          <a:lstStyle/>
          <a:p>
            <a:r>
              <a:rPr lang="ru-RU" dirty="0"/>
              <a:t>Прерывания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EAF25-5A83-41BA-96CA-AD03BDA4B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B8559-F7A6-4984-9064-238C0BD5B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509" y="2378075"/>
            <a:ext cx="16829078" cy="760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569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B94AA-4D4C-4D4C-A7D8-973BED96D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9451" y="777875"/>
            <a:ext cx="4585195" cy="1081405"/>
          </a:xfrm>
        </p:spPr>
        <p:txBody>
          <a:bodyPr/>
          <a:lstStyle/>
          <a:p>
            <a:r>
              <a:rPr lang="ru-RU" dirty="0"/>
              <a:t>Примеры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99323-524D-44EE-AB14-BD4FDEED6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A95B4-6DF9-4D14-AB55-7AE160E73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9280"/>
            <a:ext cx="11187546" cy="6184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921599-38E1-4D42-85E4-165C978A9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650" y="6037868"/>
            <a:ext cx="12194892" cy="489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8882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C8DAD-7B7E-466D-9685-BAB1B3719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251" y="777875"/>
            <a:ext cx="10833595" cy="2123658"/>
          </a:xfrm>
        </p:spPr>
        <p:txBody>
          <a:bodyPr/>
          <a:lstStyle/>
          <a:p>
            <a:r>
              <a:rPr lang="en-US" dirty="0"/>
              <a:t>Floating Point Exceptions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4DFA3-5B4D-4C4B-B0F2-1F608DCB6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2F580A-29B2-4DFB-8C77-2AB7F4454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423" y="3281021"/>
            <a:ext cx="14977250" cy="593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697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1DC3F-3A76-4680-B7F1-E743E3C19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655" y="821620"/>
            <a:ext cx="8090395" cy="2123658"/>
          </a:xfrm>
        </p:spPr>
        <p:txBody>
          <a:bodyPr/>
          <a:lstStyle/>
          <a:p>
            <a:r>
              <a:rPr lang="ru-RU" dirty="0"/>
              <a:t>Типы прерываний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5AF7A-7B9D-41DA-866D-E84B41655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70F497-3BB4-4926-9747-79687E9DC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528" y="2945278"/>
            <a:ext cx="15831044" cy="623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420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DDB9-E6BD-4896-A780-B8B195A74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551" y="483150"/>
            <a:ext cx="10604995" cy="2123658"/>
          </a:xfrm>
        </p:spPr>
        <p:txBody>
          <a:bodyPr/>
          <a:lstStyle/>
          <a:p>
            <a:r>
              <a:rPr lang="ru-RU" dirty="0"/>
              <a:t>Обработка прерываний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E455A-E362-47F2-93EC-3B9B2FB02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5829D7-BC9C-48EA-80AF-FF1351D7E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019" y="1920875"/>
            <a:ext cx="16740057" cy="799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439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E0D09-23CD-44A0-B42C-2048EB2C5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551" y="320675"/>
            <a:ext cx="11366995" cy="2123658"/>
          </a:xfrm>
        </p:spPr>
        <p:txBody>
          <a:bodyPr/>
          <a:lstStyle/>
          <a:p>
            <a:r>
              <a:rPr lang="ru-RU" dirty="0"/>
              <a:t>Обработчик прерываний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163F2-72BA-41D2-B289-4EB0E1991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3B9E9E-6B70-4071-9F4D-EB6F88DC2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372" y="2225675"/>
            <a:ext cx="15493351" cy="77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1369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71D78-76F6-4CF2-BFEA-57BFB269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51" y="701675"/>
            <a:ext cx="11214595" cy="2123658"/>
          </a:xfrm>
        </p:spPr>
        <p:txBody>
          <a:bodyPr/>
          <a:lstStyle/>
          <a:p>
            <a:r>
              <a:rPr lang="ru-RU" dirty="0"/>
              <a:t>Синхронное прерывание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C30D7-72DD-4ECC-871B-0B1BE6EDD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23DBED-B0BE-4B8B-B4FA-A24801767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46" y="2682875"/>
            <a:ext cx="16507407" cy="677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098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AEB84-9E5E-44F1-9346-FBBBA164C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почитать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CF72B-67F5-41C2-A7D0-D3F2EB694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3281021"/>
            <a:ext cx="17951555" cy="553998"/>
          </a:xfrm>
        </p:spPr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Intel Skylake</a:t>
            </a:r>
            <a:endParaRPr lang="ru-RU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69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</TotalTime>
  <Words>921</Words>
  <Application>Microsoft Office PowerPoint</Application>
  <PresentationFormat>Custom</PresentationFormat>
  <Paragraphs>165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Calibri</vt:lpstr>
      <vt:lpstr>Consolas</vt:lpstr>
      <vt:lpstr>Lucida Sans Unicode</vt:lpstr>
      <vt:lpstr>Microsoft Sans Serif</vt:lpstr>
      <vt:lpstr>Verdana</vt:lpstr>
      <vt:lpstr>YandexSansText-Light</vt:lpstr>
      <vt:lpstr>Office Theme</vt:lpstr>
      <vt:lpstr>АКОС 4 Ассемблер и память. Начало</vt:lpstr>
      <vt:lpstr>Стадии изучения ассемблера</vt:lpstr>
      <vt:lpstr>Организация памяти процесса</vt:lpstr>
      <vt:lpstr>Как посмотреть код</vt:lpstr>
      <vt:lpstr>Основные инструкции</vt:lpstr>
      <vt:lpstr>AT&amp;T vs Intel</vt:lpstr>
      <vt:lpstr>Где почитать и попробовать</vt:lpstr>
      <vt:lpstr>Как писать на асме?</vt:lpstr>
      <vt:lpstr>Регистры</vt:lpstr>
      <vt:lpstr>Секции</vt:lpstr>
      <vt:lpstr>Сравнения</vt:lpstr>
      <vt:lpstr>Регистр флагов EFLAGS</vt:lpstr>
      <vt:lpstr>Условные переходы</vt:lpstr>
      <vt:lpstr>Stack frame</vt:lpstr>
      <vt:lpstr>Calling conventions</vt:lpstr>
      <vt:lpstr>gdb features</vt:lpstr>
      <vt:lpstr>Intrinsics</vt:lpstr>
      <vt:lpstr>Что посмотреть?</vt:lpstr>
      <vt:lpstr>Pipelining</vt:lpstr>
      <vt:lpstr>Pipelining</vt:lpstr>
      <vt:lpstr>PowerPoint Presentation</vt:lpstr>
      <vt:lpstr>Pipeline stall/bubble (простой конвеера)</vt:lpstr>
      <vt:lpstr>Bypass</vt:lpstr>
      <vt:lpstr>Bypass</vt:lpstr>
      <vt:lpstr>Simple dynamic branch predictor</vt:lpstr>
      <vt:lpstr>Branches</vt:lpstr>
      <vt:lpstr>Execution units</vt:lpstr>
      <vt:lpstr>Hazards</vt:lpstr>
      <vt:lpstr>Tamasulo’s algorithm</vt:lpstr>
      <vt:lpstr>Reservation stations</vt:lpstr>
      <vt:lpstr>Reservation stations</vt:lpstr>
      <vt:lpstr>Reservation stations</vt:lpstr>
      <vt:lpstr>Common Data Bus </vt:lpstr>
      <vt:lpstr>Common Data Bus </vt:lpstr>
      <vt:lpstr>Tags</vt:lpstr>
      <vt:lpstr>Tags</vt:lpstr>
      <vt:lpstr>Tags</vt:lpstr>
      <vt:lpstr>Tags</vt:lpstr>
      <vt:lpstr>Итого</vt:lpstr>
      <vt:lpstr>Out-of-order</vt:lpstr>
      <vt:lpstr>Out-of-order + Hyper-Threading</vt:lpstr>
      <vt:lpstr>PowerPoint Presentation</vt:lpstr>
      <vt:lpstr>Прерывания</vt:lpstr>
      <vt:lpstr>Примеры</vt:lpstr>
      <vt:lpstr>Floating Point Exceptions</vt:lpstr>
      <vt:lpstr>Типы прерываний</vt:lpstr>
      <vt:lpstr>Обработка прерываний</vt:lpstr>
      <vt:lpstr>Обработчик прерываний</vt:lpstr>
      <vt:lpstr>Синхронное прерывание</vt:lpstr>
      <vt:lpstr>Что почитать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caos_4</dc:title>
  <dc:creator>Konstantin Dragun</dc:creator>
  <cp:lastModifiedBy>Konstantin Dragun</cp:lastModifiedBy>
  <cp:revision>25</cp:revision>
  <dcterms:created xsi:type="dcterms:W3CDTF">2024-10-03T18:46:02Z</dcterms:created>
  <dcterms:modified xsi:type="dcterms:W3CDTF">2025-10-04T21:52:24Z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2023-09-27T00:00:00Z</vt:filetime>
  </property>
  <property fmtid="{D5CDD505-2E9C-101B-9397-08002B2CF9AE}" pid="3" name="Creator">
    <vt:lpwstr>Keynote</vt:lpwstr>
  </property>
  <property fmtid="{D5CDD505-2E9C-101B-9397-08002B2CF9AE}" pid="4" name="LastSaved">
    <vt:filetime>2024-10-03T00:00:00Z</vt:filetime>
  </property>
</Properties>
</file>